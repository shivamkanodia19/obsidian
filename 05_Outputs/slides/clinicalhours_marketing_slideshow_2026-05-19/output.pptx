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4c7e1901c0448a" /><Relationship Type="http://schemas.openxmlformats.org/officeDocument/2006/relationships/extended-properties" Target="/docProps/app.xml" Id="R5b3f255dbc09492f" /><Relationship Type="http://schemas.openxmlformats.org/officeDocument/2006/relationships/officeDocument" Target="/ppt/presentation.xml" Id="R131c9344dde747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fba30c9acc4952"/>
  </p:sldMasterIdLst>
  <p:notesMasterIdLst>
    <p:notesMasterId xmlns:r="http://schemas.openxmlformats.org/officeDocument/2006/relationships" r:id="R713fb75af9eb4e09"/>
  </p:notesMasterIdLst>
  <p:sldIdLst>
    <p:sldId xmlns:r="http://schemas.openxmlformats.org/officeDocument/2006/relationships" id="256" r:id="Rb714dbe3158f4ede"/>
    <p:sldId xmlns:r="http://schemas.openxmlformats.org/officeDocument/2006/relationships" id="257" r:id="R7e7db3638a7c4b5b"/>
    <p:sldId xmlns:r="http://schemas.openxmlformats.org/officeDocument/2006/relationships" id="258" r:id="R038196fd6c744a72"/>
    <p:sldId xmlns:r="http://schemas.openxmlformats.org/officeDocument/2006/relationships" id="259" r:id="R22de4d90ab134b3d"/>
    <p:sldId xmlns:r="http://schemas.openxmlformats.org/officeDocument/2006/relationships" id="260" r:id="Re378b08cba564dd2"/>
  </p:sldIdLst>
  <p:sldSz cx="10287000" cy="1828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ba30c9acc4952" /><Relationship Type="http://schemas.openxmlformats.org/officeDocument/2006/relationships/theme" Target="/ppt/theme/theme1.xml" Id="R877c706dcf52492d" /><Relationship Type="http://schemas.openxmlformats.org/officeDocument/2006/relationships/notesMaster" Target="/ppt/notesMasters/notesMaster1.xml" Id="R713fb75af9eb4e09" /><Relationship Type="http://schemas.openxmlformats.org/officeDocument/2006/relationships/presProps" Target="/ppt/presProps.xml" Id="R14bbf4ec1b504183" /><Relationship Type="http://schemas.openxmlformats.org/officeDocument/2006/relationships/viewProps" Target="/ppt/viewProps.xml" Id="R0881074a95b047ad" /><Relationship Type="http://schemas.openxmlformats.org/officeDocument/2006/relationships/tableStyles" Target="/ppt/tableStyles.xml" Id="Rb43efe6089fc40eb" /><Relationship Type="http://schemas.openxmlformats.org/officeDocument/2006/relationships/slide" Target="/ppt/slides/slide1.xml" Id="Rb714dbe3158f4ede" /><Relationship Type="http://schemas.openxmlformats.org/officeDocument/2006/relationships/slide" Target="/ppt/slides/slide2.xml" Id="R7e7db3638a7c4b5b" /><Relationship Type="http://schemas.openxmlformats.org/officeDocument/2006/relationships/slide" Target="/ppt/slides/slide3.xml" Id="R038196fd6c744a72" /><Relationship Type="http://schemas.openxmlformats.org/officeDocument/2006/relationships/slide" Target="/ppt/slides/slide4.xml" Id="R22de4d90ab134b3d" /><Relationship Type="http://schemas.openxmlformats.org/officeDocument/2006/relationships/slide" Target="/ppt/slides/slide5.xml" Id="Re378b08cba564d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a862bb505564a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3dc107076f4f96" /><Relationship Type="http://schemas.openxmlformats.org/officeDocument/2006/relationships/notesMaster" Target="/ppt/notesMasters/notesMaster1.xml" Id="R482d942285584b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879d87944e4512" /><Relationship Type="http://schemas.openxmlformats.org/officeDocument/2006/relationships/notesMaster" Target="/ppt/notesMasters/notesMaster1.xml" Id="R6ee2f466ef0b44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b0660d44934102" /><Relationship Type="http://schemas.openxmlformats.org/officeDocument/2006/relationships/notesMaster" Target="/ppt/notesMasters/notesMaster1.xml" Id="R18aa7c89745848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d96fa53fc148c2" /><Relationship Type="http://schemas.openxmlformats.org/officeDocument/2006/relationships/notesMaster" Target="/ppt/notesMasters/notesMaster1.xml" Id="R6cbdbff86e7849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8291c923de45c4" /><Relationship Type="http://schemas.openxmlformats.org/officeDocument/2006/relationships/notesMaster" Target="/ppt/notesMasters/notesMaster1.xml" Id="Rf2174f49801441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Pain slide for the student discovery lane. Keep the copy broad, recognizable, and calmer than a fear-based 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 brief and retention strategy, both dated 2026-05-18</a:t>
            </a:r>
          </a:p>
          <a:p xmlns:a="http://schemas.openxmlformats.org/drawingml/2006/main">
            <a:r>
              <a:t>- Capture: home/clinicalhours_home_mobile_430x932_live.png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Discovery slide. The map is the payoff, so the screenshot needs to dominate the lower half.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spec: clinicalhours_tiktok_student_bright_v3bright5_deck_spec.json</a:t>
            </a:r>
          </a:p>
          <a:p xmlns:a="http://schemas.openxmlformats.org/drawingml/2006/main">
            <a:r>
              <a:t>- Capture: derived/clinicalhours_map_focus_v1.png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Simplification slide. The dashboard and featured card should make the product feel like a real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spec: clinicalhours_tiktok_student_bright_v3bright5_deck_spec.json</a:t>
            </a:r>
          </a:p>
          <a:p xmlns:a="http://schemas.openxmlformats.org/drawingml/2006/main">
            <a:r>
              <a:t>- Captures: derived/clinicalhours_dashboard_preview_landscape_v1.png and auth/clinicalhours_dashboard_featured_card_auth_live_v3.png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Direction slide. Show that opportunities and hour logging belong in the same account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spec: clinicalhours_tiktok_student_bright_v3bright5_deck_spec.json</a:t>
            </a:r>
          </a:p>
          <a:p xmlns:a="http://schemas.openxmlformats.org/drawingml/2006/main">
            <a:r>
              <a:t>- Captures: derived/clinicalhours_account_overview_band_v1.png, derived/clinicalhours_journal_cta_focus_v2.png, auth/clinicalhours_dashboard_featured_card_auth_live_v3.png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Activation slide. The CTA should stay low-pressure and reversible.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spec: clinicalhours_tiktok_student_bright_v3bright5_deck_spec.json</a:t>
            </a:r>
          </a:p>
          <a:p xmlns:a="http://schemas.openxmlformats.org/drawingml/2006/main">
            <a:r>
              <a:t>- Capture: derived/clinicalhours_auth_signin_tall_focus_v1.png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594e45a534ae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A4FAC1C-F90D-44FC-89E7-071FC552FB3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9349C47-AE42-42FA-A51B-75437B778E7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A6CE40-BDD1-4346-87BA-BB79260C2BA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753F89-CCAE-4942-9CAB-533EA21E302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62A40F-5A4A-46C5-B0D6-18381D850FA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b7371d373c0438b" /><Relationship Type="http://schemas.openxmlformats.org/officeDocument/2006/relationships/slideLayout" Target="/ppt/slideLayouts/slideLayout2.xml" Id="Rc2818b09205b42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AE2EC1-4F64-48A0-80B7-D85F451DD0E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818b09205b42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fce44ce9f045c9" /><Relationship Type="http://schemas.openxmlformats.org/officeDocument/2006/relationships/image" Target="/ppt/media/image.png" Id="R032eaee8c97c403a" /><Relationship Type="http://schemas.openxmlformats.org/officeDocument/2006/relationships/notesSlide" Target="/ppt/notesSlides/notesSlide1.xml" Id="R265cb623fbd941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5cb78c3b5948d3" /><Relationship Type="http://schemas.openxmlformats.org/officeDocument/2006/relationships/image" Target="/ppt/media/image2.png" Id="R4dd0c2556d72494c" /><Relationship Type="http://schemas.openxmlformats.org/officeDocument/2006/relationships/notesSlide" Target="/ppt/notesSlides/notesSlide2.xml" Id="Rd5ebb06a252a42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38b944b8c64999" /><Relationship Type="http://schemas.openxmlformats.org/officeDocument/2006/relationships/image" Target="/ppt/media/image3.png" Id="Rec4e81545a284a51" /><Relationship Type="http://schemas.openxmlformats.org/officeDocument/2006/relationships/image" Target="/ppt/media/image4.png" Id="Rc68a46e33ec04d6e" /><Relationship Type="http://schemas.openxmlformats.org/officeDocument/2006/relationships/notesSlide" Target="/ppt/notesSlides/notesSlide3.xml" Id="R328ec78d6bc640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7b2778009244fc" /><Relationship Type="http://schemas.openxmlformats.org/officeDocument/2006/relationships/image" Target="/ppt/media/image5.png" Id="R35a5bda8c965428f" /><Relationship Type="http://schemas.openxmlformats.org/officeDocument/2006/relationships/image" Target="/ppt/media/image6.png" Id="R9aebdc8a6fc045ba" /><Relationship Type="http://schemas.openxmlformats.org/officeDocument/2006/relationships/image" Target="/ppt/media/image7.png" Id="R7bcd91f5ce544030" /><Relationship Type="http://schemas.openxmlformats.org/officeDocument/2006/relationships/notesSlide" Target="/ppt/notesSlides/notesSlide4.xml" Id="Re678c2e8baf74f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6fbee2cfa84158" /><Relationship Type="http://schemas.openxmlformats.org/officeDocument/2006/relationships/image" Target="/ppt/media/image8.png" Id="Rdd8ddfa4ba3e41f0" /><Relationship Type="http://schemas.openxmlformats.org/officeDocument/2006/relationships/notesSlide" Target="/ppt/notesSlides/notesSlide5.xml" Id="Rc03e3ebdb37744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62A40F-5A4A-46C5-B0D6-18381D850F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9C6EE-B4F9-441B-8A8A-61D08D1F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13335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D9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708C3-98A7-45F7-AAB9-97845D9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9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D89FA-1647-405A-B246-2FC329B6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19225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FA8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FDCDB-5926-48D3-BB7D-E9F83B77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57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59D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DB60F-9DCB-436F-A833-61C2F303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4A3DF-E024-47A2-8F76-617F456C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CCD4D-0340-4BBF-9717-959F0D06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20D0A-75D4-4680-8691-A48F7EF0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C L I N I C A L H O U R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355F7-4720-4F41-BA0A-03F43684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503032-4FD2-4252-8C09-E4709C10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9175C-F20B-4D19-85CA-465AD993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4D14A-F20D-49B6-8664-DC14780A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100C6-D7E4-4E5E-B4C6-E60109B6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9B912-0AC1-4CC5-8EFA-073DE73C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84E40-7D34-46D6-9D17-05E5054E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A2B"/>
                </a:solidFill>
              </a:defRPr>
            </a:pPr>
            <a:r>
              <a:rPr sz="975" b="1">
                <a:solidFill>
                  <a:srgbClr val="121A2B"/>
                </a:solidFill>
              </a:rPr>
              <a:t>01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2CC13-C023-42AD-B123-E98842A6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C7C19-30F0-4222-8B3C-1AC13185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43AA7-B9F1-4A66-B19F-27A194C5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737D71-516E-4024-9F53-4E41CD6E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A2B"/>
                </a:solidFill>
              </a:defRPr>
            </a:pPr>
            <a:r>
              <a:rPr sz="1200" b="1">
                <a:solidFill>
                  <a:srgbClr val="121A2B"/>
                </a:solidFill>
              </a:rPr>
              <a:t>01 FRICTION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C2535B-2FC9-4332-BE43-580C8752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637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Finding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clinical hours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still feels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random.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D0A5D-63F8-484F-9333-F3C9FC79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3420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84BD5-A627-4F0B-BF9F-41FAE115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53300"/>
            <a:ext cx="5334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Too many students still piece it together from tabs,</a:t>
            </a:r>
          </a:p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school docs, screenshots, and whatever clinic site</a:t>
            </a:r>
          </a:p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they can find.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E13A8-E3B6-44ED-B939-24B6F6D8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4000500" cy="115443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eaee8c97c403a"/>
          <a:srcRect xmlns:a="http://schemas.openxmlformats.org/drawingml/2006/main" l="14489" t="0" r="144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91175" y="2400300"/>
            <a:ext cx="3676650" cy="11220450"/>
          </a:xfrm>
          <a:prstGeom xmlns:a="http://schemas.openxmlformats.org/drawingml/2006/main" prst="round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08737C-B855-49A0-B569-70F6A1EB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0"/>
            <a:ext cx="2171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0D3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90EB2-F340-4489-868B-BC570144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37285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C30"/>
                </a:solidFill>
              </a:defRPr>
            </a:pPr>
            <a:r>
              <a:rPr sz="1350" b="1">
                <a:solidFill>
                  <a:srgbClr val="D85C30"/>
                </a:solidFill>
              </a:rPr>
              <a:t>random clinic sites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8550DC-F861-446E-BA4A-44DAE708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44375"/>
            <a:ext cx="2133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820EA8-2A9D-414C-A1A1-4E5C81F1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277725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CF6"/>
                </a:solidFill>
              </a:defRPr>
            </a:pPr>
            <a:r>
              <a:rPr sz="1350" b="1">
                <a:solidFill>
                  <a:srgbClr val="315CF6"/>
                </a:solidFill>
              </a:rPr>
              <a:t>tabs everywhere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761A1C-1A7A-43E4-B0EC-E7DD795F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144375"/>
            <a:ext cx="1695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E6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A0FB7-FB8C-4323-A5A2-BF827608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277725"/>
            <a:ext cx="1276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69"/>
                </a:solidFill>
              </a:defRPr>
            </a:pPr>
            <a:r>
              <a:rPr sz="1350" b="1">
                <a:solidFill>
                  <a:srgbClr val="159A69"/>
                </a:solidFill>
              </a:rPr>
              <a:t>school docs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51A5B-467B-4556-8E0C-44A6A138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C5F631-CFE3-411F-9954-53DD06F6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1826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700"/>
                </a:solidFill>
              </a:defRPr>
            </a:pPr>
            <a:r>
              <a:rPr sz="1350" b="1">
                <a:solidFill>
                  <a:srgbClr val="B77700"/>
                </a:solidFill>
              </a:rPr>
              <a:t>screenshots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600783-4C8C-4623-8154-F7821EC6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11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932A2D-E7E9-4CAA-89EB-0E930102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03997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E54"/>
                </a:solidFill>
              </a:defRPr>
            </a:pPr>
            <a:r>
              <a:rPr sz="1200" b="1">
                <a:solidFill>
                  <a:srgbClr val="1E2E54"/>
                </a:solidFill>
              </a:rPr>
              <a:t>PAIN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B62DB1-B9CB-4301-B181-99C0E11E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382875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A2B"/>
                </a:solidFill>
              </a:defRPr>
            </a:pPr>
            <a:r>
              <a:rPr sz="2100" b="1">
                <a:solidFill>
                  <a:srgbClr val="121A2B"/>
                </a:solidFill>
              </a:rPr>
              <a:t>No single place to</a:t>
            </a:r>
          </a:p>
          <a:p xmlns:a="http://schemas.openxmlformats.org/drawingml/2006/main">
            <a:pPr algn="l">
              <a:defRPr sz="2100" b="1">
                <a:solidFill>
                  <a:srgbClr val="121A2B"/>
                </a:solidFill>
              </a:defRPr>
            </a:pPr>
            <a:r>
              <a:rPr sz="2100" b="1">
                <a:solidFill>
                  <a:srgbClr val="121A2B"/>
                </a:solidFill>
              </a:rPr>
              <a:t>start.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BEE246-C9A5-4022-8149-8E41AE43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430500"/>
            <a:ext cx="29146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328368-8959-4913-90A8-A7279F0B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65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E54"/>
                </a:solidFill>
              </a:defRPr>
            </a:pPr>
            <a:r>
              <a:rPr sz="1200" b="1">
                <a:solidFill>
                  <a:srgbClr val="1E2E54"/>
                </a:solidFill>
              </a:rPr>
              <a:t>NEED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6396A8-B0FE-4DE3-AB9C-90E914B6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002000"/>
            <a:ext cx="238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A2B"/>
                </a:solidFill>
              </a:defRPr>
            </a:pPr>
            <a:r>
              <a:rPr sz="1950" b="1">
                <a:solidFill>
                  <a:srgbClr val="121A2B"/>
                </a:solidFill>
              </a:rPr>
              <a:t>Something that feels</a:t>
            </a:r>
          </a:p>
          <a:p xmlns:a="http://schemas.openxmlformats.org/drawingml/2006/main">
            <a:pPr algn="l">
              <a:defRPr sz="1950" b="1">
                <a:solidFill>
                  <a:srgbClr val="121A2B"/>
                </a:solidFill>
              </a:defRPr>
            </a:pPr>
            <a:r>
              <a:rPr sz="1950" b="1">
                <a:solidFill>
                  <a:srgbClr val="121A2B"/>
                </a:solidFill>
              </a:rPr>
              <a:t>obvious in one swipe.</a:t>
            </a:r>
          </a:p>
        </p:txBody>
      </p:sp>
    </p:spTree>
    <p:extLst>
      <p:ext uri="{BB962C8B-B14F-4D97-AF65-F5344CB8AC3E}">
        <p14:creationId xmlns:p14="http://schemas.microsoft.com/office/powerpoint/2010/main" val="1415222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62A40F-5A4A-46C5-B0D6-18381D850F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3008C-86C0-4EF0-B3FC-224211A6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13335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D9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FAAF1-E26D-4027-B22A-4411514A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9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D4A74-9F24-4891-97B5-77555D5C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14859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801AA-F526-41BD-A80E-39B89DCB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73E94-7A79-47CF-A63D-4F2E20F7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C97B6-11BB-4696-BF39-3C84F14A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6FED1-D460-4A77-B833-61CF42B3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02A6E-DD77-4A56-8F9F-91773457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C L I N I C A L H O U R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348AC-16CA-446F-9DC0-747DBB24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A771B-3E8A-4D57-A203-70A7F350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024D5-4025-4813-ADE7-32592591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E7819-39DA-4E46-B613-C3766693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5ACA7-109A-4E88-B3B6-8766C0DC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6F9CC-A34D-41D9-8A45-4B0A7DB5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4144C-3F8D-451B-A84F-9DE1E998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A2B"/>
                </a:solidFill>
              </a:defRPr>
            </a:pPr>
            <a:r>
              <a:rPr sz="975" b="1">
                <a:solidFill>
                  <a:srgbClr val="121A2B"/>
                </a:solidFill>
              </a:rPr>
              <a:t>02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040A4-D549-4D5A-AF89-9F4C62CD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B344D-2ECD-4769-B68E-75A42C19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46D86-8788-48CE-9EB3-92FF1914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EF313-E925-40B8-AABD-CBF04AFC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A2B"/>
                </a:solidFill>
              </a:defRPr>
            </a:pPr>
            <a:r>
              <a:rPr sz="1200" b="1">
                <a:solidFill>
                  <a:srgbClr val="121A2B"/>
                </a:solidFill>
              </a:rPr>
              <a:t>02 DISCOVERY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D8685-97AF-4D1E-A0A9-E34073A4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44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9,512 openings.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One map.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1DA51-7C94-43E7-889B-CCA220A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A6F90-F3A9-43DD-8E12-4ED040DD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533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The best student proof is the national map: one screen that</a:t>
            </a:r>
          </a:p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instantly makes the search feel bigger and easier.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2E757-8F07-46DC-8066-4504476E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4905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D36D87-903E-4441-8256-1A93C3F0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562850"/>
            <a:ext cx="4486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MAP-FIRST  BETTER THAN HUNTING PAGE BY PAGE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AB384-D1B1-4F05-8F80-01E62169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191500"/>
            <a:ext cx="9525000" cy="8305800"/>
          </a:xfrm>
          <a:prstGeom xmlns:a="http://schemas.openxmlformats.org/drawingml/2006/main" prst="roundRect">
            <a:avLst>
              <a:gd name="adj" fmla="val 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0c2556d72494c"/>
          <a:srcRect xmlns:a="http://schemas.openxmlformats.org/drawingml/2006/main" l="0" t="4774" r="0" b="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8334375"/>
            <a:ext cx="9239250" cy="802005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333763-2B88-4ED5-A1D4-6CDE25EE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772400"/>
            <a:ext cx="2686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30A489-08AC-4A2E-A01D-7E819C27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001000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F1A030-EFCC-4EEF-AC88-C14FE478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439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819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A2B"/>
                </a:solidFill>
              </a:defRPr>
            </a:pPr>
            <a:r>
              <a:rPr sz="1650" b="1">
                <a:solidFill>
                  <a:srgbClr val="121A2B"/>
                </a:solidFill>
              </a:rPr>
              <a:t>Control filters prove this</a:t>
            </a:r>
          </a:p>
          <a:p xmlns:a="http://schemas.openxmlformats.org/drawingml/2006/main">
            <a:pPr algn="l">
              <a:defRPr sz="1650" b="1">
                <a:solidFill>
                  <a:srgbClr val="121A2B"/>
                </a:solidFill>
              </a:defRPr>
            </a:pPr>
            <a:r>
              <a:rPr sz="1650" b="1">
                <a:solidFill>
                  <a:srgbClr val="121A2B"/>
                </a:solidFill>
              </a:rPr>
              <a:t>is a real search flow.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7A5846-CAC5-4569-A9CB-3B6F4226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001750"/>
            <a:ext cx="266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19C91-0E00-4C38-9C9D-79DBD5A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303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82D34C-C9DC-4945-89A1-38437086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573250"/>
            <a:ext cx="2133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95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A2B"/>
                </a:solidFill>
              </a:defRPr>
            </a:pPr>
            <a:r>
              <a:rPr sz="1650" b="1">
                <a:solidFill>
                  <a:srgbClr val="121A2B"/>
                </a:solidFill>
              </a:rPr>
              <a:t>Big colored clusters</a:t>
            </a:r>
          </a:p>
          <a:p xmlns:a="http://schemas.openxmlformats.org/drawingml/2006/main">
            <a:pPr algn="l">
              <a:defRPr sz="1650" b="1">
                <a:solidFill>
                  <a:srgbClr val="121A2B"/>
                </a:solidFill>
              </a:defRPr>
            </a:pPr>
            <a:r>
              <a:rPr sz="1650" b="1">
                <a:solidFill>
                  <a:srgbClr val="121A2B"/>
                </a:solidFill>
              </a:rPr>
              <a:t>create instant visual</a:t>
            </a:r>
          </a:p>
          <a:p xmlns:a="http://schemas.openxmlformats.org/drawingml/2006/main">
            <a:pPr algn="l">
              <a:defRPr sz="1650" b="1">
                <a:solidFill>
                  <a:srgbClr val="121A2B"/>
                </a:solidFill>
              </a:defRPr>
            </a:pPr>
            <a:r>
              <a:rPr sz="1650" b="1">
                <a:solidFill>
                  <a:srgbClr val="121A2B"/>
                </a:solidFill>
              </a:rPr>
              <a:t>payoff in-feed.</a:t>
            </a:r>
          </a:p>
        </p:txBody>
      </p:sp>
    </p:spTree>
    <p:extLst>
      <p:ext uri="{BB962C8B-B14F-4D97-AF65-F5344CB8AC3E}">
        <p14:creationId xmlns:p14="http://schemas.microsoft.com/office/powerpoint/2010/main" val="1458065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62A40F-5A4A-46C5-B0D6-18381D850F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51BED-226C-499F-B51F-74250B88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13335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D9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71C3F-E813-4FAB-AD7A-52FC8326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9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BB2A7-7780-4CF6-97C5-F21009F8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59D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6B0DF-B8AE-47F5-904A-1D50AEBF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1571625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FA8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3142C-4F8F-489C-A50B-4E4782E6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63E0F-996B-43B7-A7C1-74ABD210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9A90D-8A01-4DA4-A2AE-0285614C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80229-4C10-4B8D-AEEA-0E8F25A5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C L I N I C A L H O U R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D0033-1309-45BD-A224-2A654488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2263B-24B5-475E-AAF1-2FE24DF8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63A9A-C09C-44BB-81C9-71D9DB0E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6C5CD-FCE6-49D7-BDB2-FC27797E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E99E5-FEFA-471E-A7E6-58DF6E6A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E2DB4-E781-4292-8D9E-138A9102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12078-8F78-4509-BD3B-5AA66535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A2B"/>
                </a:solidFill>
              </a:defRPr>
            </a:pPr>
            <a:r>
              <a:rPr sz="975" b="1">
                <a:solidFill>
                  <a:srgbClr val="121A2B"/>
                </a:solidFill>
              </a:rPr>
              <a:t>03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07872-2BAF-4022-93A9-F6B1CF9A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DDFEB-1C22-4325-BC29-DF60EF52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058E4-439D-4212-9D86-27C80DB3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D9260C-B1F6-4C78-9E61-6A516330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A2B"/>
                </a:solidFill>
              </a:defRPr>
            </a:pPr>
            <a:r>
              <a:rPr sz="1200" b="1">
                <a:solidFill>
                  <a:srgbClr val="121A2B"/>
                </a:solidFill>
              </a:rPr>
              <a:t>03 SIMPLIFICATION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00042-5FAA-4F03-9DD9-55447484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994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See the clinic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before you click.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9A347-5B94-42A8-A218-E353912C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6036D-5D2C-4D68-A92A-1338ED82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5334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Preview-style proof feels useful fast: a featured clinic card</a:t>
            </a:r>
          </a:p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plus a real dashboard view beats another abstract promise.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CE1603-8C91-47D2-AC86-127D07D0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91650"/>
            <a:ext cx="3238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234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80E0E-9B21-49ED-9FD3-ABD62797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202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9C8FF"/>
                </a:solidFill>
              </a:defRPr>
            </a:pPr>
            <a:r>
              <a:rPr sz="1200" b="1">
                <a:solidFill>
                  <a:srgbClr val="89C8FF"/>
                </a:solidFill>
              </a:rPr>
              <a:t>WHY THIS WORKS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60CD3-0C44-4F1C-AD6C-EB3E25CA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963150"/>
            <a:ext cx="2705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It answers "what happens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next?" without forcing a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login yet.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778DA-55E7-4E7C-A04B-E357C321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8934450"/>
            <a:ext cx="6038850" cy="5676900"/>
          </a:xfrm>
          <a:prstGeom xmlns:a="http://schemas.openxmlformats.org/drawingml/2006/main" prst="roundRect">
            <a:avLst>
              <a:gd name="adj" fmla="val 13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e81545a284a51"/>
          <a:srcRect xmlns:a="http://schemas.openxmlformats.org/drawingml/2006/main" l="4507" t="0" r="4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7125" y="9115425"/>
            <a:ext cx="5676900" cy="5314950"/>
          </a:xfrm>
          <a:prstGeom xmlns:a="http://schemas.openxmlformats.org/drawingml/2006/main" prst="round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66F0A-DD3A-4407-84F7-B825A761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630150"/>
            <a:ext cx="8382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a46e33ec04d6e"/>
          <a:srcRect xmlns:a="http://schemas.openxmlformats.org/drawingml/2006/main" l="21332" t="0" r="21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2782550"/>
            <a:ext cx="8077200" cy="1219200"/>
          </a:xfrm>
          <a:prstGeom xmlns:a="http://schemas.openxmlformats.org/drawingml/2006/main" prst="round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2E3D2-B941-4568-97FF-C3F169E3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0"/>
            <a:ext cx="19240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76779-C62B-4D6F-8E2A-167B7255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087600"/>
            <a:ext cx="1504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CF6"/>
                </a:solidFill>
              </a:defRPr>
            </a:pPr>
            <a:r>
              <a:rPr sz="1350" b="1">
                <a:solidFill>
                  <a:srgbClr val="315CF6"/>
                </a:solidFill>
              </a:rPr>
              <a:t>featured clinic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A1E83A-A690-4731-B213-A3822A0B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0"/>
            <a:ext cx="11620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1D4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5DB9CA-8A74-4274-AB63-B199A3F4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08760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C30"/>
                </a:solidFill>
              </a:defRPr>
            </a:pPr>
            <a:r>
              <a:rPr sz="1350" b="1">
                <a:solidFill>
                  <a:srgbClr val="D85C30"/>
                </a:solidFill>
              </a:rPr>
              <a:t>location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E206A4-48FC-455A-914F-61461405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954250"/>
            <a:ext cx="2724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3E6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C198F7-A41F-4563-964E-9D67F616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08760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69"/>
                </a:solidFill>
              </a:defRPr>
            </a:pPr>
            <a:r>
              <a:rPr sz="1350" b="1">
                <a:solidFill>
                  <a:srgbClr val="159A69"/>
                </a:solidFill>
              </a:rPr>
              <a:t>accepting volunteers</a:t>
            </a:r>
          </a:p>
        </p:txBody>
      </p:sp>
    </p:spTree>
    <p:extLst>
      <p:ext uri="{BB962C8B-B14F-4D97-AF65-F5344CB8AC3E}">
        <p14:creationId xmlns:p14="http://schemas.microsoft.com/office/powerpoint/2010/main" val="932879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62A40F-5A4A-46C5-B0D6-18381D850F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CFCA5-650C-453C-9CDE-252BC61F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13335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D9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E94C2-84D5-413C-ACE3-8B3FA1BA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9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BED25-2464-4EAC-AAD7-B5A4AA43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1239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0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7AF08-FA79-4FBD-B622-5475B58D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B0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18FFE-87BB-4E4A-8AB9-20E81C9F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C99D2-1717-4F4F-8B2B-44F69704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38F03-F183-429B-AD94-45A741DB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1C055-5059-4FBB-A13D-14DCBDE0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C L I N I C A L H O U R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654C4-025B-4FC8-AA94-4D35EEEE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F6399-7A77-4808-B30B-2F9A0AAF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62B1E-1931-45C1-9047-356F6231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D34AC-81E5-48AF-BBA3-3B80B499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F55D7-F2C1-4991-9F32-4C5328A3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BBA52-EF93-45EF-B09F-8C966279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D8634-DB3B-4259-91C1-8C9EE889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A2B"/>
                </a:solidFill>
              </a:defRPr>
            </a:pPr>
            <a:r>
              <a:rPr sz="975" b="1">
                <a:solidFill>
                  <a:srgbClr val="121A2B"/>
                </a:solidFill>
              </a:rPr>
              <a:t>04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9C191-5FD7-4BA7-B862-8FC62773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3969C-5322-4197-8ECD-87B2BD86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ECFD2-FBF2-4E24-A8EB-485346FD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C5022-5C9C-4683-A3E2-B6FB033D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A2B"/>
                </a:solidFill>
              </a:defRPr>
            </a:pPr>
            <a:r>
              <a:rPr sz="1200" b="1">
                <a:solidFill>
                  <a:srgbClr val="121A2B"/>
                </a:solidFill>
              </a:rPr>
              <a:t>04 DIRECTION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4F327-B277-4165-8078-03E45671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Search, save,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track, log.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4953C-AE90-4126-946B-9FEFD3E7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9B4D6-7A15-4A34-B5FD-2C3F9641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5334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The account should feel like the next step after discovery,</a:t>
            </a:r>
          </a:p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not a second system you have to learn from scratch.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EED651-DC36-4BE7-A875-CD17702D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86750"/>
            <a:ext cx="9105900" cy="742950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5bda8c965428f"/>
          <a:srcRect xmlns:a="http://schemas.openxmlformats.org/drawingml/2006/main" l="0" t="13747" r="0" b="137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8477250"/>
            <a:ext cx="8763000" cy="2019300"/>
          </a:xfrm>
          <a:prstGeom xmlns:a="http://schemas.openxmlformats.org/drawingml/2006/main" prst="round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819B3-FDF1-4FB1-83EB-7E1584C9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0"/>
            <a:ext cx="1181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36BBF5-A645-4C08-A92A-3213735D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0012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A2B"/>
                </a:solidFill>
              </a:defRPr>
            </a:pPr>
            <a:r>
              <a:rPr sz="1050" b="1">
                <a:solidFill>
                  <a:srgbClr val="121A2B"/>
                </a:solidFill>
              </a:rPr>
              <a:t>OVERVIEWS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bdc8a6fc045ba"/>
          <a:srcRect xmlns:a="http://schemas.openxmlformats.org/drawingml/2006/main" l="0" t="14860" r="0" b="148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877550"/>
            <a:ext cx="8763000" cy="2781300"/>
          </a:xfrm>
          <a:prstGeom xmlns:a="http://schemas.openxmlformats.org/drawingml/2006/main" prst="round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5D5FC6-A920-4487-8EEC-51CB799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239750"/>
            <a:ext cx="1200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298D58-BFB5-4EC6-AA70-BC0626DC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3350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A2B"/>
                </a:solidFill>
              </a:defRPr>
            </a:pPr>
            <a:r>
              <a:rPr sz="1050" b="1">
                <a:solidFill>
                  <a:srgbClr val="121A2B"/>
                </a:solidFill>
              </a:rPr>
              <a:t>LOG HOURS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d91f5ce544030"/>
          <a:srcRect xmlns:a="http://schemas.openxmlformats.org/drawingml/2006/main" l="11720" t="0" r="11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3811250"/>
            <a:ext cx="8763000" cy="990600"/>
          </a:xfrm>
          <a:prstGeom xmlns:a="http://schemas.openxmlformats.org/drawingml/2006/main" prst="round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21E5DC-EB8C-4403-A262-5D362CEB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192250"/>
            <a:ext cx="2000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59321-A63A-49C1-9A21-6C37FE04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A2B"/>
                </a:solidFill>
              </a:defRPr>
            </a:pPr>
            <a:r>
              <a:rPr sz="1050" b="1">
                <a:solidFill>
                  <a:srgbClr val="121A2B"/>
                </a:solidFill>
              </a:rPr>
              <a:t>SAVED OPPORTUNITIES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9482E4-3A08-43EC-A56C-A082328A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239000"/>
            <a:ext cx="252412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234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2D0F30-CAEB-4EA5-8126-9E225C3E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46760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9C8FF"/>
                </a:solidFill>
              </a:defRPr>
            </a:pPr>
            <a:r>
              <a:rPr sz="1200" b="1">
                <a:solidFill>
                  <a:srgbClr val="89C8FF"/>
                </a:solidFill>
              </a:rPr>
              <a:t>BETTER STORY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564230-C726-49D0-8646-170B52F7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810500"/>
            <a:ext cx="19907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One account for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opportunities and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hours.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1A3FB1-EFAF-4E6A-B181-C0957E8D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0"/>
            <a:ext cx="1733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C53539-D08D-4E1C-83D3-A408198C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23060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CF6"/>
                </a:solidFill>
              </a:defRPr>
            </a:pPr>
            <a:r>
              <a:rPr sz="1350" b="1">
                <a:solidFill>
                  <a:srgbClr val="315CF6"/>
                </a:solidFill>
              </a:rPr>
              <a:t>one account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7CFF12-9927-4213-8D0A-8A38AFAA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097250"/>
            <a:ext cx="1847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3E6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113AD0-F1C2-4A71-B8ED-A018FA14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2306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69"/>
                </a:solidFill>
              </a:defRPr>
            </a:pPr>
            <a:r>
              <a:rPr sz="1350" b="1">
                <a:solidFill>
                  <a:srgbClr val="159A69"/>
                </a:solidFill>
              </a:rPr>
              <a:t>hours journal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16F7F8-5475-40B9-8D10-4B0A804F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0972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1D4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B8EF19-F587-480D-824E-FFAC6038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2306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C30"/>
                </a:solidFill>
              </a:defRPr>
            </a:pPr>
            <a:r>
              <a:rPr sz="1350" b="1">
                <a:solidFill>
                  <a:srgbClr val="D85C30"/>
                </a:solidFill>
              </a:rPr>
              <a:t>applications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15281D-0384-494E-89AE-7574B9A7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35450"/>
            <a:ext cx="2781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FF2C8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CE9469-5788-4EAD-A495-E27778E6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06880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700"/>
                </a:solidFill>
              </a:defRPr>
            </a:pPr>
            <a:r>
              <a:rPr sz="1350" b="1">
                <a:solidFill>
                  <a:srgbClr val="B77700"/>
                </a:solidFill>
              </a:rPr>
              <a:t>next step feels obvious</a:t>
            </a:r>
          </a:p>
        </p:txBody>
      </p:sp>
    </p:spTree>
    <p:extLst>
      <p:ext uri="{BB962C8B-B14F-4D97-AF65-F5344CB8AC3E}">
        <p14:creationId xmlns:p14="http://schemas.microsoft.com/office/powerpoint/2010/main" val="1360904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62A40F-5A4A-46C5-B0D6-18381D850F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702E6-88D0-45CD-8916-56AE1AE3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133350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D9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4DC0B-B896-4362-A6A0-E75C4A09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9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07A7C-5AA8-4329-BE8F-BF9EAAAF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620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E53BF-2823-40DF-B00D-0EB27249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15240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A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A4ACB-B2C0-4A8A-A18B-F6A140AA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8CABE-7620-435D-9ABE-3E0F93A9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7E197-DE00-49D2-B1D1-14F98934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B70DD-2324-4210-B091-A6170766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C L I N I C A L H O U R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B5935-4598-4075-A4B6-6C8B30C9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E1C5F-4A9C-4910-8D6E-06C59817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F6E34-9897-46DF-8F79-5D8AB094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07580-FAD6-4ECC-9D04-B22DEA18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EEC1E-7AD8-4B2C-821E-654F4A39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204C8-AD5D-4EA7-AD76-251C51A2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53220-CF8D-4E31-BA29-3A52762F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A2B"/>
                </a:solidFill>
              </a:defRPr>
            </a:pPr>
            <a:r>
              <a:rPr sz="975" b="1">
                <a:solidFill>
                  <a:srgbClr val="121A2B"/>
                </a:solidFill>
              </a:rPr>
              <a:t>05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3D3D0-82C4-4078-98B5-1E02A4F3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0CBBE-685B-480E-AD2B-12D74E96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B44AF-D1F7-4CF1-B1C1-61F59217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64FF6-E7D3-4FD6-A470-B29CBB03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A2B"/>
                </a:solidFill>
              </a:defRPr>
            </a:pPr>
            <a:r>
              <a:rPr sz="1200" b="1">
                <a:solidFill>
                  <a:srgbClr val="121A2B"/>
                </a:solidFill>
              </a:rPr>
              <a:t>05 ACTIVATION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2FCBD-B529-44B2-AF00-D9D2E8B2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5334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Browse as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guest. Sign in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when ready.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0DBF7-8F5B-4581-B22D-5CA479E8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88523-3BBD-42EA-A3C5-6D8DEEF9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5334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That is a better close for cold traffic: let people explore first,</a:t>
            </a:r>
          </a:p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then create an account when saving progress actually feels valuable.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10756-BDE7-47DB-A3D5-454ED65B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86900"/>
            <a:ext cx="447675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6EC68-CDB7-4392-B65B-3306F754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71550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E54"/>
                </a:solidFill>
              </a:defRPr>
            </a:pPr>
            <a:r>
              <a:rPr sz="1200" b="1">
                <a:solidFill>
                  <a:srgbClr val="1E2E54"/>
                </a:solidFill>
              </a:rPr>
              <a:t>CALM CLOSE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CDCB59-391B-46F1-8F27-D3A47B01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058400"/>
            <a:ext cx="39433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A2B"/>
                </a:solidFill>
              </a:defRPr>
            </a:pPr>
            <a:r>
              <a:rPr sz="2400" b="1">
                <a:solidFill>
                  <a:srgbClr val="121A2B"/>
                </a:solidFill>
              </a:rPr>
              <a:t>Start at</a:t>
            </a:r>
          </a:p>
          <a:p xmlns:a="http://schemas.openxmlformats.org/drawingml/2006/main">
            <a:pPr algn="l">
              <a:defRPr sz="2400" b="1">
                <a:solidFill>
                  <a:srgbClr val="121A2B"/>
                </a:solidFill>
              </a:defRPr>
            </a:pPr>
            <a:r>
              <a:rPr sz="2400" b="1">
                <a:solidFill>
                  <a:srgbClr val="121A2B"/>
                </a:solidFill>
              </a:rPr>
              <a:t>clinicalhours.org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516E11-1F81-4551-AE11-4218A8AA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791950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5A77"/>
                </a:solidFill>
              </a:defRPr>
            </a:pPr>
            <a:r>
              <a:rPr sz="1800" b="0">
                <a:solidFill>
                  <a:srgbClr val="495A77"/>
                </a:solidFill>
              </a:rPr>
              <a:t>Explore the map first. Make an</a:t>
            </a:r>
          </a:p>
          <a:p xmlns:a="http://schemas.openxmlformats.org/drawingml/2006/main">
            <a:pPr algn="l">
              <a:defRPr sz="1800" b="0">
                <a:solidFill>
                  <a:srgbClr val="495A77"/>
                </a:solidFill>
              </a:defRPr>
            </a:pPr>
            <a:r>
              <a:rPr sz="1800" b="0">
                <a:solidFill>
                  <a:srgbClr val="495A77"/>
                </a:solidFill>
              </a:rPr>
              <a:t>account when you want the search</a:t>
            </a:r>
          </a:p>
          <a:p xmlns:a="http://schemas.openxmlformats.org/drawingml/2006/main">
            <a:pPr algn="l">
              <a:defRPr sz="1800" b="0">
                <a:solidFill>
                  <a:srgbClr val="495A77"/>
                </a:solidFill>
              </a:defRPr>
            </a:pPr>
            <a:r>
              <a:rPr sz="1800" b="0">
                <a:solidFill>
                  <a:srgbClr val="495A77"/>
                </a:solidFill>
              </a:rPr>
              <a:t>and tracking in one place.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31AAC0-A174-4D19-AD4C-28CFE1F8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810500"/>
            <a:ext cx="4000500" cy="68580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ddfa4ba3e41f0"/>
          <a:srcRect xmlns:a="http://schemas.openxmlformats.org/drawingml/2006/main" l="0" t="4714" r="0" b="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0700" y="7981950"/>
            <a:ext cx="3657600" cy="6515100"/>
          </a:xfrm>
          <a:prstGeom xmlns:a="http://schemas.openxmlformats.org/drawingml/2006/main" prst="round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B2FB0E-5E98-400C-A742-71BED5AF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30300"/>
            <a:ext cx="2647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686523-AF5E-4BB8-A548-2808E197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0779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Browse opportunities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BFA3B6-55EA-4A51-9900-5E221243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83030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02320A-D97D-4731-BEC8-E16020AE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077950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1A2B"/>
                </a:solidFill>
              </a:defRPr>
            </a:pPr>
            <a:r>
              <a:rPr sz="1575" b="1">
                <a:solidFill>
                  <a:srgbClr val="121A2B"/>
                </a:solidFill>
              </a:rPr>
              <a:t>Sign in to save progress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81E29A-6BEB-47EE-957B-87ECA814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0"/>
            <a:ext cx="1981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3E6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D695A2-45DC-41DE-AB6B-783D3314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373350"/>
            <a:ext cx="1562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69"/>
                </a:solidFill>
              </a:defRPr>
            </a:pPr>
            <a:r>
              <a:rPr sz="1350" b="1">
                <a:solidFill>
                  <a:srgbClr val="159A69"/>
                </a:solidFill>
              </a:rPr>
              <a:t>browse as guest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41EB28-6B9F-4439-8C61-C0A50FD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2400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1E0CF2-EF3B-42C4-807B-6BF78DEE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37335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CF6"/>
                </a:solidFill>
              </a:defRPr>
            </a:pPr>
            <a:r>
              <a:rPr sz="1350" b="1">
                <a:solidFill>
                  <a:srgbClr val="315CF6"/>
                </a:solidFill>
              </a:rPr>
              <a:t>sign in later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C5391C-DBA1-4835-AC96-1466A071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240000"/>
            <a:ext cx="1828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1D4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7389C-5398-4E77-9050-F03F7081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37335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C30"/>
                </a:solidFill>
              </a:defRPr>
            </a:pPr>
            <a:r>
              <a:rPr sz="1350" b="1">
                <a:solidFill>
                  <a:srgbClr val="D85C30"/>
                </a:solidFill>
              </a:rPr>
              <a:t>lower friction</a:t>
            </a:r>
          </a:p>
        </p:txBody>
      </p:sp>
    </p:spTree>
    <p:extLst>
      <p:ext uri="{BB962C8B-B14F-4D97-AF65-F5344CB8AC3E}">
        <p14:creationId xmlns:p14="http://schemas.microsoft.com/office/powerpoint/2010/main" val="1205715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2026-05-20T01:21:54.4430000Z</dcterms:created>
  <dcterms:modified xsi:type="dcterms:W3CDTF">2026-05-20T01:21:54.4430000Z</dcterms:modified>
</coreProperties>
</file>