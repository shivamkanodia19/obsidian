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ade78152ea4e72" /><Relationship Type="http://schemas.openxmlformats.org/officeDocument/2006/relationships/extended-properties" Target="/docProps/app.xml" Id="R2b54bb879c844da2" /><Relationship Type="http://schemas.openxmlformats.org/officeDocument/2006/relationships/officeDocument" Target="/ppt/presentation.xml" Id="Re841cab1a9fa49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b4a6b8c42d4774"/>
  </p:sldMasterIdLst>
  <p:notesMasterIdLst>
    <p:notesMasterId xmlns:r="http://schemas.openxmlformats.org/officeDocument/2006/relationships" r:id="Rb47afaf65ffa42e1"/>
  </p:notesMasterIdLst>
  <p:sldIdLst>
    <p:sldId xmlns:r="http://schemas.openxmlformats.org/officeDocument/2006/relationships" id="256" r:id="R2d866c6a9ab24a70"/>
    <p:sldId xmlns:r="http://schemas.openxmlformats.org/officeDocument/2006/relationships" id="257" r:id="R71f8aac3258641e3"/>
    <p:sldId xmlns:r="http://schemas.openxmlformats.org/officeDocument/2006/relationships" id="258" r:id="Rf5c8717141ba4dbb"/>
    <p:sldId xmlns:r="http://schemas.openxmlformats.org/officeDocument/2006/relationships" id="259" r:id="R70171ff47f004e26"/>
    <p:sldId xmlns:r="http://schemas.openxmlformats.org/officeDocument/2006/relationships" id="260" r:id="Rd6658db3d2874e77"/>
  </p:sldIdLst>
  <p:sldSz cx="10287000" cy="1828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4a6b8c42d4774" /><Relationship Type="http://schemas.openxmlformats.org/officeDocument/2006/relationships/theme" Target="/ppt/theme/theme1.xml" Id="R14f1512801214692" /><Relationship Type="http://schemas.openxmlformats.org/officeDocument/2006/relationships/notesMaster" Target="/ppt/notesMasters/notesMaster1.xml" Id="Rb47afaf65ffa42e1" /><Relationship Type="http://schemas.openxmlformats.org/officeDocument/2006/relationships/presProps" Target="/ppt/presProps.xml" Id="R4c575ffc67e24e93" /><Relationship Type="http://schemas.openxmlformats.org/officeDocument/2006/relationships/viewProps" Target="/ppt/viewProps.xml" Id="R8f74ca6e1f614504" /><Relationship Type="http://schemas.openxmlformats.org/officeDocument/2006/relationships/tableStyles" Target="/ppt/tableStyles.xml" Id="R8f9ef66fd2ad47c1" /><Relationship Type="http://schemas.openxmlformats.org/officeDocument/2006/relationships/slide" Target="/ppt/slides/slide1.xml" Id="R2d866c6a9ab24a70" /><Relationship Type="http://schemas.openxmlformats.org/officeDocument/2006/relationships/slide" Target="/ppt/slides/slide2.xml" Id="R71f8aac3258641e3" /><Relationship Type="http://schemas.openxmlformats.org/officeDocument/2006/relationships/slide" Target="/ppt/slides/slide3.xml" Id="Rf5c8717141ba4dbb" /><Relationship Type="http://schemas.openxmlformats.org/officeDocument/2006/relationships/slide" Target="/ppt/slides/slide4.xml" Id="R70171ff47f004e26" /><Relationship Type="http://schemas.openxmlformats.org/officeDocument/2006/relationships/slide" Target="/ppt/slides/slide5.xml" Id="Rd6658db3d2874e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1d58008f6cd4a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8d246cd7f3428a" /><Relationship Type="http://schemas.openxmlformats.org/officeDocument/2006/relationships/notesMaster" Target="/ppt/notesMasters/notesMaster1.xml" Id="R64d64d41e2c444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1259d4d02a43ba" /><Relationship Type="http://schemas.openxmlformats.org/officeDocument/2006/relationships/notesMaster" Target="/ppt/notesMasters/notesMaster1.xml" Id="Re3d31f923e1243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6da3b3b7374b9e" /><Relationship Type="http://schemas.openxmlformats.org/officeDocument/2006/relationships/notesMaster" Target="/ppt/notesMasters/notesMaster1.xml" Id="R14e998ab86bf40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250cabc8cd484d" /><Relationship Type="http://schemas.openxmlformats.org/officeDocument/2006/relationships/notesMaster" Target="/ppt/notesMasters/notesMaster1.xml" Id="Rea02230c62ce4e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b8c1a3c6c14d3f" /><Relationship Type="http://schemas.openxmlformats.org/officeDocument/2006/relationships/notesMaster" Target="/ppt/notesMasters/notesMaster1.xml" Id="Ra47b9079054a44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Summer timing hook plus scattered search problem. Keep the copy direct and student-facing.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 brief: clinicalhours-tiktok-slideshow-research-master-brief-2026-05-18.md</a:t>
            </a:r>
          </a:p>
          <a:p xmlns:a="http://schemas.openxmlformats.org/drawingml/2006/main">
            <a:r>
              <a:t>- Copy audit: clinicalhours_tiktok_student_marketing_sequence_and_copy_audit_2026-05-19.md</a:t>
            </a:r>
          </a:p>
          <a:p xmlns:a="http://schemas.openxmlformats.org/drawingml/2006/main">
            <a:r>
              <a:t>- Proof asset: captures/derived/clinicalhours_map_tall_controls_focus_v1.png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discovery slide. Use the map as the payoff and keep the line concrete.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spec: clinicalhours_tiktok_student_bright_v3bright7_deck_spec.json</a:t>
            </a:r>
          </a:p>
          <a:p xmlns:a="http://schemas.openxmlformats.org/drawingml/2006/main">
            <a:r>
              <a:t>- Proof asset: captures/derived/clinicalhours_map_focus_v1.png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slide. Pair the dashboard context with the featured clinic card.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spec: clinicalhours_tiktok_student_bright_v3bright7_deck_spec.json</a:t>
            </a:r>
          </a:p>
          <a:p xmlns:a="http://schemas.openxmlformats.org/drawingml/2006/main">
            <a:r>
              <a:t>- Proof assets: captures/auth/clinicalhours_dashboard_hero_auth_live_v2.png and captures/auth/clinicalhours_dashboard_featured_card_auth_live_v3.png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Follow-through slide. Show that saved clinics and hours logging live in the same student account.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spec: clinicalhours_tiktok_student_bright_v3bright7_deck_spec.json</a:t>
            </a:r>
          </a:p>
          <a:p xmlns:a="http://schemas.openxmlformats.org/drawingml/2006/main">
            <a:r>
              <a:t>- Proof assets: captures/derived/clinicalhours_map_focus_v1.png, captures/derived/clinicalhours_journal_toolbar_focus_v1.png, captures/auth/clinicalhours_dashboard_featured_card_auth_live_v3.png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Low-friction CTA slide. The close should stay calm and reversible.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spec: clinicalhours_tiktok_student_bright_v3bright7_deck_spec.json</a:t>
            </a:r>
          </a:p>
          <a:p xmlns:a="http://schemas.openxmlformats.org/drawingml/2006/main">
            <a:r>
              <a:t>- Proof asset: captures/derived/clinicalhours_auth_actions_focus_v2.png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3080c9d15406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A791893-C8A6-4F3D-9A86-031121AD90B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899815B-D366-41CD-A51D-FBCAF302735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129CE9-4FFF-45A3-B0A5-D76ED30FB93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D022D0-B96B-47E9-BA2F-5B4E02F9177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FD1F8F-64ED-4E0B-B208-7DD1E8BEE77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60f9aeedfde4264" /><Relationship Type="http://schemas.openxmlformats.org/officeDocument/2006/relationships/slideLayout" Target="/ppt/slideLayouts/slideLayout2.xml" Id="R07b9ab8f936642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407754-016F-4E83-87F4-DAD554AA126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b9ab8f936642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309cceade4015" /><Relationship Type="http://schemas.openxmlformats.org/officeDocument/2006/relationships/image" Target="/ppt/media/image.png" Id="Ree06e31205a547b6" /><Relationship Type="http://schemas.openxmlformats.org/officeDocument/2006/relationships/notesSlide" Target="/ppt/notesSlides/notesSlide1.xml" Id="R14b9b10258154f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80529cf5464c38" /><Relationship Type="http://schemas.openxmlformats.org/officeDocument/2006/relationships/image" Target="/ppt/media/image2.png" Id="R172f94da7a3740ec" /><Relationship Type="http://schemas.openxmlformats.org/officeDocument/2006/relationships/notesSlide" Target="/ppt/notesSlides/notesSlide2.xml" Id="R5f43e202e435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f5a86f328d45c8" /><Relationship Type="http://schemas.openxmlformats.org/officeDocument/2006/relationships/image" Target="/ppt/media/image3.png" Id="Rfe91d6ed3b084fff" /><Relationship Type="http://schemas.openxmlformats.org/officeDocument/2006/relationships/image" Target="/ppt/media/image4.png" Id="Re7ff74b60e7e4ead" /><Relationship Type="http://schemas.openxmlformats.org/officeDocument/2006/relationships/notesSlide" Target="/ppt/notesSlides/notesSlide3.xml" Id="Rdb695bfedfb24e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334f9f48254f52" /><Relationship Type="http://schemas.openxmlformats.org/officeDocument/2006/relationships/image" Target="/ppt/media/image5.png" Id="R00e91b3990eb4339" /><Relationship Type="http://schemas.openxmlformats.org/officeDocument/2006/relationships/image" Target="/ppt/media/image6.png" Id="R6ac90246f751474c" /><Relationship Type="http://schemas.openxmlformats.org/officeDocument/2006/relationships/image" Target="/ppt/media/image7.png" Id="Ra8c021fb30c440a6" /><Relationship Type="http://schemas.openxmlformats.org/officeDocument/2006/relationships/notesSlide" Target="/ppt/notesSlides/notesSlide4.xml" Id="Rf6bb7ff35c7f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dde8cc91b34944" /><Relationship Type="http://schemas.openxmlformats.org/officeDocument/2006/relationships/image" Target="/ppt/media/image8.png" Id="R2c114ef6bc794872" /><Relationship Type="http://schemas.openxmlformats.org/officeDocument/2006/relationships/notesSlide" Target="/ppt/notesSlides/notesSlide5.xml" Id="Rd4587e5df8b949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FD1F8F-64ED-4E0B-B208-7DD1E8BEE7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0C8C3-17B9-4450-A16E-6E853079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131445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D9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3BF2E-BA7D-4FFF-9D09-0AAB00F3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3DB00-AB1E-49F2-B033-9C3FD00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287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FA8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1B417-2A88-4690-9C73-18EC974F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47775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59D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D2B56-EECA-4E7B-8045-BFBEEC40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73B47-2C6C-4A8B-A218-C727BFE3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28680-5F90-41ED-8B21-90B126A0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63E46-FBA6-420D-B8EE-1FE5CB67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C L I N I C A L H O U R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D9C4E-5061-45C9-B3AC-43E1A7CC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338D5-2E78-4DD4-8961-B37CF004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59F13-4CB4-4654-A334-A1CF060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61441-98AA-43EF-AFF7-4BFA46F2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E0B5B-73BA-474B-A25B-9C71BA18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13767-1012-4389-A8C1-75E954E6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621B2-ECE1-4929-806D-6471959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A2B"/>
                </a:solidFill>
              </a:defRPr>
            </a:pPr>
            <a:r>
              <a:rPr sz="975" b="1">
                <a:solidFill>
                  <a:srgbClr val="121A2B"/>
                </a:solidFill>
              </a:rPr>
              <a:t>01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47C08-EAC0-4757-807D-8BAC5200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4583A-870F-46A3-98E2-E158A1BD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66FCD-CF8D-48C3-8667-ABC2E1F5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2D27C-95E4-4469-AADC-AD8EE80E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B"/>
                </a:solidFill>
              </a:defRPr>
            </a:pPr>
            <a:r>
              <a:rPr sz="1200" b="1">
                <a:solidFill>
                  <a:srgbClr val="121A2B"/>
                </a:solidFill>
              </a:rPr>
              <a:t>01 SUMMER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D9FFB-C511-46BF-81CF-BECE7F63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4476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97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21A2B"/>
                </a:solidFill>
              </a:defRPr>
            </a:pPr>
            <a:r>
              <a:rPr sz="5550" b="1">
                <a:solidFill>
                  <a:srgbClr val="121A2B"/>
                </a:solidFill>
              </a:rPr>
              <a:t>Still looking for</a:t>
            </a:r>
          </a:p>
          <a:p xmlns:a="http://schemas.openxmlformats.org/drawingml/2006/main">
            <a:pPr algn="l">
              <a:defRPr sz="5550" b="1">
                <a:solidFill>
                  <a:srgbClr val="121A2B"/>
                </a:solidFill>
              </a:defRPr>
            </a:pPr>
            <a:r>
              <a:rPr sz="5550" b="1">
                <a:solidFill>
                  <a:srgbClr val="121A2B"/>
                </a:solidFill>
              </a:rPr>
              <a:t>Summer 2026</a:t>
            </a:r>
          </a:p>
          <a:p xmlns:a="http://schemas.openxmlformats.org/drawingml/2006/main">
            <a:pPr algn="l">
              <a:defRPr sz="5550" b="1">
                <a:solidFill>
                  <a:srgbClr val="121A2B"/>
                </a:solidFill>
              </a:defRPr>
            </a:pPr>
            <a:r>
              <a:rPr sz="5550" b="1">
                <a:solidFill>
                  <a:srgbClr val="121A2B"/>
                </a:solidFill>
              </a:rPr>
              <a:t>hours?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E748D-F783-4084-AA80-B9B26FD5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B79C4-1B41-4E9A-ABD5-CBC8919E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Tabs, school docs, screenshots, and random clinic pages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still pass for a search process.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4CB0F-8C68-45E6-826A-3A55FABE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4000500" cy="115443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6e31205a547b6"/>
          <a:srcRect xmlns:a="http://schemas.openxmlformats.org/drawingml/2006/main" l="7260" t="0" r="72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91175" y="2400300"/>
            <a:ext cx="3676650" cy="11220450"/>
          </a:xfrm>
          <a:prstGeom xmlns:a="http://schemas.openxmlformats.org/drawingml/2006/main" prst="round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36CD6-AEDE-4D7F-933A-16302981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96625"/>
            <a:ext cx="1733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0D3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A5D4D6-204E-4460-8270-029DCA61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229975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C30"/>
                </a:solidFill>
              </a:defRPr>
            </a:pPr>
            <a:r>
              <a:rPr sz="1350" b="1">
                <a:solidFill>
                  <a:srgbClr val="D85C30"/>
                </a:solidFill>
              </a:rPr>
              <a:t>summer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AAFD1-B461-4C0A-8DD2-E5842D68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0"/>
            <a:ext cx="2133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FED1A-8523-4D77-9D15-5C828CEA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13485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CF6"/>
                </a:solidFill>
              </a:defRPr>
            </a:pPr>
            <a:r>
              <a:rPr sz="1350" b="1">
                <a:solidFill>
                  <a:srgbClr val="315CF6"/>
                </a:solidFill>
              </a:rPr>
              <a:t>tabs everywhere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CF0A28-8DEA-4C8E-8310-F59BE1C0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001500"/>
            <a:ext cx="1695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3E6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F1E61-5643-4731-BA4F-1C5E7778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1348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69"/>
                </a:solidFill>
              </a:defRPr>
            </a:pPr>
            <a:r>
              <a:rPr sz="1350" b="1">
                <a:solidFill>
                  <a:srgbClr val="159A69"/>
                </a:solidFill>
              </a:rPr>
              <a:t>school docs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1BAE52-D430-4988-8615-E889A87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0637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04B25-3018-4F39-B432-F3E0F3B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039725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700"/>
                </a:solidFill>
              </a:defRPr>
            </a:pPr>
            <a:r>
              <a:rPr sz="1350" b="1">
                <a:solidFill>
                  <a:srgbClr val="B77700"/>
                </a:solidFill>
              </a:rPr>
              <a:t>random clinic pages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702F32-2ED4-4B11-9A9B-C910595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11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87BEDF-CE2A-49CB-96D6-98A0018D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039975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E54"/>
                </a:solidFill>
              </a:defRPr>
            </a:pPr>
            <a:r>
              <a:rPr sz="1200" b="1">
                <a:solidFill>
                  <a:srgbClr val="1E2E54"/>
                </a:solidFill>
              </a:rPr>
              <a:t>STILL SCATTERED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2B6C8A-E8EB-4AA7-81CB-47745F87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363825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A2B"/>
                </a:solidFill>
              </a:defRPr>
            </a:pPr>
            <a:r>
              <a:rPr sz="2100" b="1">
                <a:solidFill>
                  <a:srgbClr val="121A2B"/>
                </a:solidFill>
              </a:rPr>
              <a:t>No clear place to</a:t>
            </a:r>
          </a:p>
          <a:p xmlns:a="http://schemas.openxmlformats.org/drawingml/2006/main">
            <a:pPr algn="l">
              <a:defRPr sz="2100" b="1">
                <a:solidFill>
                  <a:srgbClr val="121A2B"/>
                </a:solidFill>
              </a:defRPr>
            </a:pPr>
            <a:r>
              <a:rPr sz="2100" b="1">
                <a:solidFill>
                  <a:srgbClr val="121A2B"/>
                </a:solidFill>
              </a:rPr>
              <a:t>start.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649BC8-1CCC-4652-9616-92CDAF57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430500"/>
            <a:ext cx="2914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73FCDD-6411-41E4-9FFB-8399EBBD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5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E54"/>
                </a:solidFill>
              </a:defRPr>
            </a:pPr>
            <a:r>
              <a:rPr sz="1200" b="1">
                <a:solidFill>
                  <a:srgbClr val="1E2E54"/>
                </a:solidFill>
              </a:rPr>
              <a:t>BETTER START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479975-712B-45B8-8C7A-42011BBC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9829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A2B"/>
                </a:solidFill>
              </a:defRPr>
            </a:pPr>
            <a:r>
              <a:rPr sz="2100" b="1">
                <a:solidFill>
                  <a:srgbClr val="121A2B"/>
                </a:solidFill>
              </a:rPr>
              <a:t>One map beats</a:t>
            </a:r>
          </a:p>
          <a:p xmlns:a="http://schemas.openxmlformats.org/drawingml/2006/main">
            <a:pPr algn="l">
              <a:defRPr sz="2100" b="1">
                <a:solidFill>
                  <a:srgbClr val="121A2B"/>
                </a:solidFill>
              </a:defRPr>
            </a:pPr>
            <a:r>
              <a:rPr sz="2100" b="1">
                <a:solidFill>
                  <a:srgbClr val="121A2B"/>
                </a:solidFill>
              </a:rPr>
              <a:t>ten tabs.</a:t>
            </a:r>
          </a:p>
        </p:txBody>
      </p:sp>
    </p:spTree>
    <p:extLst>
      <p:ext uri="{BB962C8B-B14F-4D97-AF65-F5344CB8AC3E}">
        <p14:creationId xmlns:p14="http://schemas.microsoft.com/office/powerpoint/2010/main" val="329179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FD1F8F-64ED-4E0B-B208-7DD1E8BEE7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00036-1BCB-41F4-BA14-02B3A4E6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131445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D9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8D07F-13E1-4D82-A358-FDFA774E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C3228-8B67-4C4F-B9C2-97A610E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14668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CEEEF-C0BA-47E3-AB00-AC558D48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0DC77-C4BE-414E-BD99-52430C5B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AC158-1585-4A90-A077-D07859A6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92871-7D3E-4304-9DBD-CAEDAB65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64FAE-46B1-4251-9FBF-4B9B0D78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C L I N I C A L H O U R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2A484-B255-48ED-8B3E-16FFE0F9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61764-3F3F-4D2B-A0D7-668AC3DF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62E88-0D7E-4DFD-A7DB-CEF6A13A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BC0D1-D3EC-4CC1-B2A6-555EC104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0A671-DD64-4ED6-8586-0D949E33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B6702-F9FF-4FF2-8871-61FDBA05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2920E-A995-4E1C-B77F-4EBE09F3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A2B"/>
                </a:solidFill>
              </a:defRPr>
            </a:pPr>
            <a:r>
              <a:rPr sz="975" b="1">
                <a:solidFill>
                  <a:srgbClr val="121A2B"/>
                </a:solidFill>
              </a:rPr>
              <a:t>02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F43B4-73D5-42C6-A303-A17926B4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BF52D-98E8-43CD-AF28-F72E817F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1BEC7-6246-4F6C-9344-8B017638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94C75-61AB-4721-8F2C-66A96C4E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B"/>
                </a:solidFill>
              </a:defRPr>
            </a:pPr>
            <a:r>
              <a:rPr sz="1200" b="1">
                <a:solidFill>
                  <a:srgbClr val="121A2B"/>
                </a:solidFill>
              </a:rPr>
              <a:t>02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AC8663-18D0-4CF2-BD60-A11A7FAF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44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9,512 openings.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One map.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2C04C-30C6-4FBE-891F-81A2662E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810FC-973A-49F2-894E-8657B241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533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If you want Summer 2026 hours, scanning one map beats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hunting page by page.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43FBA-E2F6-4CAA-8680-EB91680A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CAA24-DD2F-422D-B03E-B0871CBB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628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START YOUR SUMMER SEARCH HERE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B7E2F1-625F-40DE-97E1-4F590E01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191500"/>
            <a:ext cx="9525000" cy="8305800"/>
          </a:xfrm>
          <a:prstGeom xmlns:a="http://schemas.openxmlformats.org/drawingml/2006/main" prst="roundRect">
            <a:avLst>
              <a:gd name="adj" fmla="val 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f94da7a3740ec"/>
          <a:srcRect xmlns:a="http://schemas.openxmlformats.org/drawingml/2006/main" l="0" t="4774" r="0" b="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8334375"/>
            <a:ext cx="9239250" cy="802005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39FBED-E255-4ABF-BF8E-96DAA9BB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772400"/>
            <a:ext cx="2686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0BCB8-D786-4CC0-866E-7694F307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8324850"/>
            <a:ext cx="2152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819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A2B"/>
                </a:solidFill>
              </a:defRPr>
            </a:pPr>
            <a:r>
              <a:rPr sz="1650" b="1">
                <a:solidFill>
                  <a:srgbClr val="121A2B"/>
                </a:solidFill>
              </a:rPr>
              <a:t>Filter by type before you</a:t>
            </a:r>
          </a:p>
          <a:p xmlns:a="http://schemas.openxmlformats.org/drawingml/2006/main">
            <a:pPr algn="l">
              <a:defRPr sz="1650" b="1">
                <a:solidFill>
                  <a:srgbClr val="121A2B"/>
                </a:solidFill>
              </a:defRPr>
            </a:pPr>
            <a:r>
              <a:rPr sz="1650" b="1">
                <a:solidFill>
                  <a:srgbClr val="121A2B"/>
                </a:solidFill>
              </a:rPr>
              <a:t>dig in.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7C9756-BB97-4C09-BDE1-0AD5FFDE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001750"/>
            <a:ext cx="266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874068-684F-4DEE-84D2-95299CB5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554200"/>
            <a:ext cx="2133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A2B"/>
                </a:solidFill>
              </a:defRPr>
            </a:pPr>
            <a:r>
              <a:rPr sz="1650" b="1">
                <a:solidFill>
                  <a:srgbClr val="121A2B"/>
                </a:solidFill>
              </a:rPr>
              <a:t>See where the search</a:t>
            </a:r>
          </a:p>
          <a:p xmlns:a="http://schemas.openxmlformats.org/drawingml/2006/main">
            <a:pPr algn="l">
              <a:defRPr sz="1650" b="1">
                <a:solidFill>
                  <a:srgbClr val="121A2B"/>
                </a:solidFill>
              </a:defRPr>
            </a:pPr>
            <a:r>
              <a:rPr sz="1650" b="1">
                <a:solidFill>
                  <a:srgbClr val="121A2B"/>
                </a:solidFill>
              </a:rPr>
              <a:t>actually has volume.</a:t>
            </a:r>
          </a:p>
        </p:txBody>
      </p:sp>
    </p:spTree>
    <p:extLst>
      <p:ext uri="{BB962C8B-B14F-4D97-AF65-F5344CB8AC3E}">
        <p14:creationId xmlns:p14="http://schemas.microsoft.com/office/powerpoint/2010/main" val="1749214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FD1F8F-64ED-4E0B-B208-7DD1E8BEE7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4DC2D-626D-4F2E-96FD-BCB0C365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131445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D9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3E217-1A2A-4E05-B5B1-85E6522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92A62-7003-48B2-8AA9-B1FD4D96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4775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59D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5A91C-ED9C-46B8-80C3-5C4F51C9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0" y="156210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FA8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D1607-12B6-4ED7-A9FD-A66A9A82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F8306-2722-4922-BF32-83187134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55B9C-98B4-4E09-82EE-D4BFA0F4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14531-5177-468E-B7EE-B0EB2142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C L I N I C A L H O U R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DB799-C638-4FF8-8407-750D5AB2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D52AF-5079-4280-B72A-95C0D82D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CB4E0-4508-4F50-8607-D3BA6540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AACCC-26D7-4798-A164-DDD7BE76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986EF-1ECE-4E16-B121-F49B4441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AA022-31CD-45F2-ABAC-54F0EE18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FDA6D-7D61-488E-9537-9CF5135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A2B"/>
                </a:solidFill>
              </a:defRPr>
            </a:pPr>
            <a:r>
              <a:rPr sz="975" b="1">
                <a:solidFill>
                  <a:srgbClr val="121A2B"/>
                </a:solidFill>
              </a:rPr>
              <a:t>03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6F3D2-E99B-42D0-82DC-4892CEDC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85CD3-E42D-437E-A6CF-E20020B0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3E510-2EEF-4026-9590-EBDA26AE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C1C18-A0EE-491A-AA89-DB1E13C6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B"/>
                </a:solidFill>
              </a:defRPr>
            </a:pPr>
            <a:r>
              <a:rPr sz="1200" b="1">
                <a:solidFill>
                  <a:srgbClr val="121A2B"/>
                </a:solidFill>
              </a:rPr>
              <a:t>03 PREVIEW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47976-7E87-4CC9-9BBB-82CA3F3A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994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See the clinic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before you click.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349F6-493F-4606-A8AE-F3ECA7AF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C213C-0104-4E86-8DF3-F19A0CAD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A featured card lets you spot location, fit, and next step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before you chase the wrong lead.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67290-1451-4554-B1E8-195F9967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0"/>
            <a:ext cx="31813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234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8B1A7-69A0-4E9E-8F3A-3A449BA9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56310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9C8FF"/>
                </a:solidFill>
              </a:defRPr>
            </a:pPr>
            <a:r>
              <a:rPr sz="1200" b="1">
                <a:solidFill>
                  <a:srgbClr val="89C8FF"/>
                </a:solidFill>
              </a:rPr>
              <a:t>AT A GLANCE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D2D8A5-6AA6-4652-88D3-D13B0511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886950"/>
            <a:ext cx="2647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You can screen clinics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7288D8-B2CB-4063-83B6-340D74FC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8934450"/>
            <a:ext cx="6038850" cy="5676900"/>
          </a:xfrm>
          <a:prstGeom xmlns:a="http://schemas.openxmlformats.org/drawingml/2006/main" prst="roundRect">
            <a:avLst>
              <a:gd name="adj" fmla="val 13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1d6ed3b084fff"/>
          <a:srcRect xmlns:a="http://schemas.openxmlformats.org/drawingml/2006/main" l="32679" t="0" r="326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7125" y="9115425"/>
            <a:ext cx="5676900" cy="5314950"/>
          </a:xfrm>
          <a:prstGeom xmlns:a="http://schemas.openxmlformats.org/drawingml/2006/main" prst="round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CEB59E-9DF4-4597-996D-835F460D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630150"/>
            <a:ext cx="8382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f74b60e7e4ead"/>
          <a:srcRect xmlns:a="http://schemas.openxmlformats.org/drawingml/2006/main" l="21332" t="0" r="21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2782550"/>
            <a:ext cx="8077200" cy="1219200"/>
          </a:xfrm>
          <a:prstGeom xmlns:a="http://schemas.openxmlformats.org/drawingml/2006/main" prst="round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F6585A-0CA1-4594-B50E-F38B9998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0"/>
            <a:ext cx="19240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C4E854-C72C-49F8-B7B5-5702952C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87600"/>
            <a:ext cx="1543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CF6"/>
                </a:solidFill>
              </a:defRPr>
            </a:pPr>
            <a:r>
              <a:rPr sz="1350" b="1">
                <a:solidFill>
                  <a:srgbClr val="315CF6"/>
                </a:solidFill>
              </a:rPr>
              <a:t>featured clinic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5DFC55-2A56-4B06-9EE4-6F864BE5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0"/>
            <a:ext cx="11620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1D4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3C7F00-43F6-48D5-B621-23533507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08760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C30"/>
                </a:solidFill>
              </a:defRPr>
            </a:pPr>
            <a:r>
              <a:rPr sz="1350" b="1">
                <a:solidFill>
                  <a:srgbClr val="D85C30"/>
                </a:solidFill>
              </a:rPr>
              <a:t>location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C0DB53-F8BC-4816-8BCF-7C14E75B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954250"/>
            <a:ext cx="2724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3E6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BDC57A-0372-4AB8-AF99-E7E08CE0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876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69"/>
                </a:solidFill>
              </a:defRPr>
            </a:pPr>
            <a:r>
              <a:rPr sz="1350" b="1">
                <a:solidFill>
                  <a:srgbClr val="159A69"/>
                </a:solidFill>
              </a:rPr>
              <a:t>accepting volunteers</a:t>
            </a:r>
          </a:p>
        </p:txBody>
      </p:sp>
    </p:spTree>
    <p:extLst>
      <p:ext uri="{BB962C8B-B14F-4D97-AF65-F5344CB8AC3E}">
        <p14:creationId xmlns:p14="http://schemas.microsoft.com/office/powerpoint/2010/main" val="1776672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FD1F8F-64ED-4E0B-B208-7DD1E8BEE7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0AF99-C1EB-4C00-A675-7B0EF7F3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131445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D9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A13D9-78A9-4A88-A832-73D9735B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4C1CF-6E74-475F-BB14-9AD064DF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12395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0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C0AE2-A463-4FA2-BC3F-B1D14657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FB0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EE2E0-D564-4765-9950-91DDFEE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AAC48-22B6-482D-B3A1-8F30616B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6E5AB-4BD4-442E-B1BE-4FDEA758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63D44-EECD-4A80-A751-5DB33E41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C L I N I C A L H O U R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EC6DC-974C-4F57-810E-CB0E525E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BA2A6-48AE-4D4B-BF96-72841F96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52EC7-2FFC-44AE-9844-B0491237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83CB9-63AA-4E17-8B74-9593D372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ADD79-CF9D-41EF-8C6E-8CEFC65D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13428D-CEF1-4945-B8E0-2A42C4AD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6B895-9D97-4D40-997E-625CA89B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A2B"/>
                </a:solidFill>
              </a:defRPr>
            </a:pPr>
            <a:r>
              <a:rPr sz="975" b="1">
                <a:solidFill>
                  <a:srgbClr val="121A2B"/>
                </a:solidFill>
              </a:rPr>
              <a:t>04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CE462-FFD4-46C4-8F72-AD78CA86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140EA-FAF5-46ED-B9BD-59E084C4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6D219-6B00-4CA0-91FD-B96A57E9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9D415-9679-432C-8DAB-EC6D3C6A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B"/>
                </a:solidFill>
              </a:defRPr>
            </a:pPr>
            <a:r>
              <a:rPr sz="1200" b="1">
                <a:solidFill>
                  <a:srgbClr val="121A2B"/>
                </a:solidFill>
              </a:rPr>
              <a:t>04 ACCOUNT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86B38-F1E8-4D69-91E5-53E7207E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Save clinics.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Track hours.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F92CF-999B-4BB2-9428-8A8B205A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A7D96-EE72-4CC5-9A9E-3243D5A8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Summer search is easier when saved clinics and logged hours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stay in one place.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836B3-84C2-4BDD-8D78-25C15F62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86750"/>
            <a:ext cx="9105900" cy="742950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91b3990eb4339"/>
          <a:srcRect xmlns:a="http://schemas.openxmlformats.org/drawingml/2006/main" l="0" t="37994" r="0" b="379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8477250"/>
            <a:ext cx="8763000" cy="2019300"/>
          </a:xfrm>
          <a:prstGeom xmlns:a="http://schemas.openxmlformats.org/drawingml/2006/main" prst="round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6B7140-03B6-4B19-8888-D521DBC6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0"/>
            <a:ext cx="876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33141-A89E-4E35-A180-D419DCFC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0012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A2B"/>
                </a:solidFill>
              </a:defRPr>
            </a:pPr>
            <a:r>
              <a:rPr sz="1050" b="1">
                <a:solidFill>
                  <a:srgbClr val="121A2B"/>
                </a:solidFill>
              </a:rPr>
              <a:t>SEARCH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90246f751474c"/>
          <a:srcRect xmlns:a="http://schemas.openxmlformats.org/drawingml/2006/main" l="24666" t="0" r="246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877550"/>
            <a:ext cx="8763000" cy="2781300"/>
          </a:xfrm>
          <a:prstGeom xmlns:a="http://schemas.openxmlformats.org/drawingml/2006/main" prst="round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6BDF94-6340-4142-BA6A-0D14EAE8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239750"/>
            <a:ext cx="1200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7F2C40-1827-4EF7-9DFA-D5F1F963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3350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A2B"/>
                </a:solidFill>
              </a:defRPr>
            </a:pPr>
            <a:r>
              <a:rPr sz="1050" b="1">
                <a:solidFill>
                  <a:srgbClr val="121A2B"/>
                </a:solidFill>
              </a:rPr>
              <a:t>LOG HOURS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021fb30c440a6"/>
          <a:srcRect xmlns:a="http://schemas.openxmlformats.org/drawingml/2006/main" l="11720" t="0" r="11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3811250"/>
            <a:ext cx="8763000" cy="990600"/>
          </a:xfrm>
          <a:prstGeom xmlns:a="http://schemas.openxmlformats.org/drawingml/2006/main" prst="round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0DE2CC-F78E-41A2-A328-DDEE6330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116050"/>
            <a:ext cx="1619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E9ED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FCBEDA-C787-4630-B776-0CDF6549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211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A2B"/>
                </a:solidFill>
              </a:defRPr>
            </a:pPr>
            <a:r>
              <a:rPr sz="1050" b="1">
                <a:solidFill>
                  <a:srgbClr val="121A2B"/>
                </a:solidFill>
              </a:rPr>
              <a:t>SAVED CLINICS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158E58-E02B-4449-A12B-CCD0B60A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239000"/>
            <a:ext cx="25241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234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B46BB3-0B86-4B6D-8F61-F3748451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467600"/>
            <a:ext cx="1990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9C8FF"/>
                </a:solidFill>
              </a:defRPr>
            </a:pPr>
            <a:r>
              <a:rPr sz="1200" b="1">
                <a:solidFill>
                  <a:srgbClr val="89C8FF"/>
                </a:solidFill>
              </a:rPr>
              <a:t>ONE ACCOUNT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D74B0A-79EF-419C-B021-8206EB30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7791450"/>
            <a:ext cx="19907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Saved clinics and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logged hours in one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flow.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4BE869-A789-48D7-BEF6-E781846C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0"/>
            <a:ext cx="1733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EE7CCC-58E1-4BBA-82C8-21D1B5FF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23060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CF6"/>
                </a:solidFill>
              </a:defRPr>
            </a:pPr>
            <a:r>
              <a:rPr sz="1350" b="1">
                <a:solidFill>
                  <a:srgbClr val="315CF6"/>
                </a:solidFill>
              </a:rPr>
              <a:t>one account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EA7E79-9F41-48FB-9448-9F0861BE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097250"/>
            <a:ext cx="1847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3E6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8A875D-3CE4-4270-8F36-5A7AC04C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23060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69"/>
                </a:solidFill>
              </a:defRPr>
            </a:pPr>
            <a:r>
              <a:rPr sz="1350" b="1">
                <a:solidFill>
                  <a:srgbClr val="159A69"/>
                </a:solidFill>
              </a:rPr>
              <a:t>hours journal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4A767D-D5CB-4D83-94AC-8416E123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0972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1D4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D6B887-587A-4A19-B141-578F4EE4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23060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C30"/>
                </a:solidFill>
              </a:defRPr>
            </a:pPr>
            <a:r>
              <a:rPr sz="1350" b="1">
                <a:solidFill>
                  <a:srgbClr val="D85C30"/>
                </a:solidFill>
              </a:rPr>
              <a:t>saved clinics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7B660E-FB8B-4F78-923C-D9BA5BAC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35450"/>
            <a:ext cx="2743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FF2C8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79D2C9-5243-42E7-AA86-E4BB177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06880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700"/>
                </a:solidFill>
              </a:defRPr>
            </a:pPr>
            <a:r>
              <a:rPr sz="1350" b="1">
                <a:solidFill>
                  <a:srgbClr val="B77700"/>
                </a:solidFill>
              </a:rPr>
              <a:t>summer follow-through</a:t>
            </a:r>
          </a:p>
        </p:txBody>
      </p:sp>
    </p:spTree>
    <p:extLst>
      <p:ext uri="{BB962C8B-B14F-4D97-AF65-F5344CB8AC3E}">
        <p14:creationId xmlns:p14="http://schemas.microsoft.com/office/powerpoint/2010/main" val="372731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FD1F8F-64ED-4E0B-B208-7DD1E8BEE7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5B31E-BD3A-47BF-A3E2-443FD1C3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131445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2D9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3DE88-0902-457A-B1EF-D760E4C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-10477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9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48879-344A-4DA0-92F5-074A803E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620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8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D106F-952C-40A6-A222-428125A0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15240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A7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EC213-A690-47E9-93B6-D9203F26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64A79-6CA6-4F55-9570-CFE075E6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59803-7872-4D47-B06A-473C710C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F3F03-8F03-4F09-BBB0-4A55E39A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B"/>
                </a:solidFill>
              </a:defRPr>
            </a:pPr>
            <a:r>
              <a:rPr sz="1350" b="1">
                <a:solidFill>
                  <a:srgbClr val="121A2B"/>
                </a:solidFill>
              </a:rPr>
              <a:t>C L I N I C A L H O U R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D56D4-0930-45ED-A7E5-E80FCC02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A6ED2-BC08-46D4-9237-93341B66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CABEC-235F-4B24-93F0-D0BE50CE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3F038-E448-4D2A-B925-FF03CCF4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52739-170E-44E9-B287-D91ACDAD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7F25C-94B4-4DA2-8751-8BFF5489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C157E-20F7-45F1-BF3D-F0550C7F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21A2B"/>
                </a:solidFill>
              </a:defRPr>
            </a:pPr>
            <a:r>
              <a:rPr sz="975" b="1">
                <a:solidFill>
                  <a:srgbClr val="121A2B"/>
                </a:solidFill>
              </a:rPr>
              <a:t>05 / 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4D789-18CC-4B56-A9D8-8175F910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460F7-B2AE-48B4-A4BE-EC6A6F47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63886-B923-4109-8275-B1129A10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F2D30-8611-4060-B7A0-AA257D65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B"/>
                </a:solidFill>
              </a:defRPr>
            </a:pPr>
            <a:r>
              <a:rPr sz="1200" b="1">
                <a:solidFill>
                  <a:srgbClr val="121A2B"/>
                </a:solidFill>
              </a:rPr>
              <a:t>05 START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6C058-379A-45E2-9A87-01D02003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785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Browse summer</a:t>
            </a:r>
          </a:p>
          <a:p xmlns:a="http://schemas.openxmlformats.org/drawingml/2006/main">
            <a:pPr algn="l">
              <a:defRPr sz="6450" b="1">
                <a:solidFill>
                  <a:srgbClr val="121A2B"/>
                </a:solidFill>
              </a:defRPr>
            </a:pPr>
            <a:r>
              <a:rPr sz="6450" b="1">
                <a:solidFill>
                  <a:srgbClr val="121A2B"/>
                </a:solidFill>
              </a:rPr>
              <a:t>openings first.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FF4D3-2488-4C05-BCD3-F2EEEA07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2857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C8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5912E-2B7B-4DBA-A837-3AFDCC76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533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Start with the map, then sign in when you want to save</a:t>
            </a:r>
          </a:p>
          <a:p xmlns:a="http://schemas.openxmlformats.org/drawingml/2006/main">
            <a:pPr algn="l">
              <a:defRPr sz="2250" b="0">
                <a:solidFill>
                  <a:srgbClr val="495A77"/>
                </a:solidFill>
              </a:defRPr>
            </a:pPr>
            <a:r>
              <a:rPr sz="2250" b="0">
                <a:solidFill>
                  <a:srgbClr val="495A77"/>
                </a:solidFill>
              </a:rPr>
              <a:t>and track.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B3AAC-3A67-4F0C-9963-A424C0D5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86900"/>
            <a:ext cx="447675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C72C8-94DA-48D0-BBEB-C00F5547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715500"/>
            <a:ext cx="394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E54"/>
                </a:solidFill>
              </a:defRPr>
            </a:pPr>
            <a:r>
              <a:rPr sz="1200" b="1">
                <a:solidFill>
                  <a:srgbClr val="1E2E54"/>
                </a:solidFill>
              </a:rPr>
              <a:t>START HERE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28D730-7494-4585-935E-FB2C6ED2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039350"/>
            <a:ext cx="39433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A2B"/>
                </a:solidFill>
              </a:defRPr>
            </a:pPr>
            <a:r>
              <a:rPr sz="2400" b="1">
                <a:solidFill>
                  <a:srgbClr val="121A2B"/>
                </a:solidFill>
              </a:rPr>
              <a:t>Start at</a:t>
            </a:r>
          </a:p>
          <a:p xmlns:a="http://schemas.openxmlformats.org/drawingml/2006/main">
            <a:pPr algn="l">
              <a:defRPr sz="2400" b="1">
                <a:solidFill>
                  <a:srgbClr val="121A2B"/>
                </a:solidFill>
              </a:defRPr>
            </a:pPr>
            <a:r>
              <a:rPr sz="2400" b="1">
                <a:solidFill>
                  <a:srgbClr val="121A2B"/>
                </a:solidFill>
              </a:rPr>
              <a:t>clinicalhours.org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1E9AB0-8605-4792-A541-C8DD810B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79195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95A77"/>
                </a:solidFill>
              </a:defRPr>
            </a:pPr>
            <a:r>
              <a:rPr sz="1800" b="0">
                <a:solidFill>
                  <a:srgbClr val="495A77"/>
                </a:solidFill>
              </a:rPr>
              <a:t>Open the map first. Sign in when you</a:t>
            </a:r>
          </a:p>
          <a:p xmlns:a="http://schemas.openxmlformats.org/drawingml/2006/main">
            <a:pPr algn="l">
              <a:defRPr sz="1800" b="0">
                <a:solidFill>
                  <a:srgbClr val="495A77"/>
                </a:solidFill>
              </a:defRPr>
            </a:pPr>
            <a:r>
              <a:rPr sz="1800" b="0">
                <a:solidFill>
                  <a:srgbClr val="495A77"/>
                </a:solidFill>
              </a:rPr>
              <a:t>want the search and journal in one</a:t>
            </a:r>
          </a:p>
          <a:p xmlns:a="http://schemas.openxmlformats.org/drawingml/2006/main">
            <a:pPr algn="l">
              <a:defRPr sz="1800" b="0">
                <a:solidFill>
                  <a:srgbClr val="495A77"/>
                </a:solidFill>
              </a:defRPr>
            </a:pPr>
            <a:r>
              <a:rPr sz="1800" b="0">
                <a:solidFill>
                  <a:srgbClr val="495A77"/>
                </a:solidFill>
              </a:rPr>
              <a:t>place.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93A31D-1921-4CEC-AC95-B0CF3B8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810500"/>
            <a:ext cx="4000500" cy="68580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F0F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14ef6bc794872"/>
          <a:srcRect xmlns:a="http://schemas.openxmlformats.org/drawingml/2006/main" l="2818" t="0" r="28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0700" y="7981950"/>
            <a:ext cx="3657600" cy="6515100"/>
          </a:xfrm>
          <a:prstGeom xmlns:a="http://schemas.openxmlformats.org/drawingml/2006/main" prst="round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2BFA7-1CC8-4D93-BBE1-7DD8C7D3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30300"/>
            <a:ext cx="2647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DBE629-654A-4E7A-AB86-427CEC34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068425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Browse opportunities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392EED-BFDA-41FE-A7AF-A3B6113A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83030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655F76-A0CD-488A-9BEE-03232E77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06842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1A2B"/>
                </a:solidFill>
              </a:defRPr>
            </a:pPr>
            <a:r>
              <a:rPr sz="1575" b="1">
                <a:solidFill>
                  <a:srgbClr val="121A2B"/>
                </a:solidFill>
              </a:rPr>
              <a:t>Sign in to save and track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0F4CD7-E2E6-4791-B15E-8A7B606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0"/>
            <a:ext cx="1733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3E6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ED9DEA-65C2-41F5-8FB1-B7C8133D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373350"/>
            <a:ext cx="1352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69"/>
                </a:solidFill>
              </a:defRPr>
            </a:pPr>
            <a:r>
              <a:rPr sz="1350" b="1">
                <a:solidFill>
                  <a:srgbClr val="159A69"/>
                </a:solidFill>
              </a:rPr>
              <a:t>summer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9BCEB-8FEB-4BFD-BBF5-C228E132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240000"/>
            <a:ext cx="1981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E9FF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549DF2-1D79-4519-AFAA-03BEE050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373350"/>
            <a:ext cx="160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CF6"/>
                </a:solidFill>
              </a:defRPr>
            </a:pPr>
            <a:r>
              <a:rPr sz="1350" b="1">
                <a:solidFill>
                  <a:srgbClr val="315CF6"/>
                </a:solidFill>
              </a:rPr>
              <a:t>browse as guest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FC3097-0D12-4E7E-BF1A-30B40DD6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2400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1D4"/>
          </a:solidFill>
          <a:ln xmlns:a="http://schemas.openxmlformats.org/drawingml/2006/main" w="9525">
            <a:solidFill>
              <a:srgbClr val="DCE3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54BC76-D0B5-4511-B403-402ABF07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3733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5C30"/>
                </a:solidFill>
              </a:defRPr>
            </a:pPr>
            <a:r>
              <a:rPr sz="1350" b="1">
                <a:solidFill>
                  <a:srgbClr val="D85C30"/>
                </a:solidFill>
              </a:rPr>
              <a:t>sign in later</a:t>
            </a:r>
          </a:p>
        </p:txBody>
      </p:sp>
    </p:spTree>
    <p:extLst>
      <p:ext uri="{BB962C8B-B14F-4D97-AF65-F5344CB8AC3E}">
        <p14:creationId xmlns:p14="http://schemas.microsoft.com/office/powerpoint/2010/main" val="607505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2026-05-20T03:14:22.5310000Z</dcterms:created>
  <dcterms:modified xsi:type="dcterms:W3CDTF">2026-05-20T03:14:22.5310000Z</dcterms:modified>
</coreProperties>
</file>