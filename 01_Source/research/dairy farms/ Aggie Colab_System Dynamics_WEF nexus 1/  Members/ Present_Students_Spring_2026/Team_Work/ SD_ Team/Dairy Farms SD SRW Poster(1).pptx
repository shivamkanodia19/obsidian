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5"/>
  </p:sldMasterIdLst>
  <p:notesMasterIdLst>
    <p:notesMasterId r:id="rId6"/>
  </p:notesMasterIdLst>
  <p:sldIdLst>
    <p:sldId id="256" r:id="rId7"/>
    <p:sldId id="257" r:id="rId8"/>
  </p:sldIdLst>
  <p:sldSz cy="12928600" cx="20104100"/>
  <p:notesSz cx="20104100" cy="12928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04054C-725E-4728-9D5B-69CC68424365}">
  <a:tblStyle styleId="{A204054C-725E-4728-9D5B-69CC68424365}"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351350" y="969625"/>
            <a:ext cx="13403400" cy="48482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2010400" y="6141075"/>
            <a:ext cx="16083275" cy="58178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g3c5bd571dcd_0_6:notes"/>
          <p:cNvSpPr/>
          <p:nvPr>
            <p:ph idx="2" type="sldImg"/>
          </p:nvPr>
        </p:nvSpPr>
        <p:spPr>
          <a:xfrm>
            <a:off x="3351350" y="969625"/>
            <a:ext cx="13403400" cy="4848300"/>
          </a:xfrm>
          <a:custGeom>
            <a:rect b="b" l="l" r="r" t="t"/>
            <a:pathLst>
              <a:path extrusionOk="0" h="120000" w="120000">
                <a:moveTo>
                  <a:pt x="0" y="0"/>
                </a:moveTo>
                <a:lnTo>
                  <a:pt x="120000" y="0"/>
                </a:lnTo>
                <a:lnTo>
                  <a:pt x="120000" y="120000"/>
                </a:lnTo>
                <a:lnTo>
                  <a:pt x="0" y="120000"/>
                </a:lnTo>
                <a:close/>
              </a:path>
            </a:pathLst>
          </a:custGeom>
        </p:spPr>
      </p:sp>
      <p:sp>
        <p:nvSpPr>
          <p:cNvPr id="43" name="Google Shape;43;g3c5bd571dcd_0_6:notes"/>
          <p:cNvSpPr txBox="1"/>
          <p:nvPr>
            <p:ph idx="1" type="body"/>
          </p:nvPr>
        </p:nvSpPr>
        <p:spPr>
          <a:xfrm>
            <a:off x="2010400" y="6141075"/>
            <a:ext cx="16083300" cy="581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2010400" y="6141075"/>
            <a:ext cx="16083275" cy="5817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3351350" y="969625"/>
            <a:ext cx="13403400" cy="48482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3" name="Shape 13"/>
        <p:cNvGrpSpPr/>
        <p:nvPr/>
      </p:nvGrpSpPr>
      <p:grpSpPr>
        <a:xfrm>
          <a:off x="0" y="0"/>
          <a:ext cx="0" cy="0"/>
          <a:chOff x="0" y="0"/>
          <a:chExt cx="0" cy="0"/>
        </a:xfrm>
      </p:grpSpPr>
      <p:sp>
        <p:nvSpPr>
          <p:cNvPr id="14" name="Google Shape;14;p2"/>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 name="Shape 17"/>
        <p:cNvGrpSpPr/>
        <p:nvPr/>
      </p:nvGrpSpPr>
      <p:grpSpPr>
        <a:xfrm>
          <a:off x="0" y="0"/>
          <a:ext cx="0" cy="0"/>
          <a:chOff x="0" y="0"/>
          <a:chExt cx="0" cy="0"/>
        </a:xfrm>
      </p:grpSpPr>
      <p:sp>
        <p:nvSpPr>
          <p:cNvPr id="18" name="Google Shape;18;p3"/>
          <p:cNvSpPr txBox="1"/>
          <p:nvPr>
            <p:ph type="ctrTitle"/>
          </p:nvPr>
        </p:nvSpPr>
        <p:spPr>
          <a:xfrm>
            <a:off x="1507807" y="4007866"/>
            <a:ext cx="17088486" cy="271500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subTitle"/>
          </p:nvPr>
        </p:nvSpPr>
        <p:spPr>
          <a:xfrm>
            <a:off x="3015615" y="7240016"/>
            <a:ext cx="14072870" cy="32321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3" name="Shape 23"/>
        <p:cNvGrpSpPr/>
        <p:nvPr/>
      </p:nvGrpSpPr>
      <p:grpSpPr>
        <a:xfrm>
          <a:off x="0" y="0"/>
          <a:ext cx="0" cy="0"/>
          <a:chOff x="0" y="0"/>
          <a:chExt cx="0" cy="0"/>
        </a:xfrm>
      </p:grpSpPr>
      <p:sp>
        <p:nvSpPr>
          <p:cNvPr id="24" name="Google Shape;24;p4"/>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1005205" y="2973578"/>
            <a:ext cx="18093690" cy="8532876"/>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 name="Google Shape;26;p4"/>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9" name="Shape 29"/>
        <p:cNvGrpSpPr/>
        <p:nvPr/>
      </p:nvGrpSpPr>
      <p:grpSpPr>
        <a:xfrm>
          <a:off x="0" y="0"/>
          <a:ext cx="0" cy="0"/>
          <a:chOff x="0" y="0"/>
          <a:chExt cx="0" cy="0"/>
        </a:xfrm>
      </p:grpSpPr>
      <p:sp>
        <p:nvSpPr>
          <p:cNvPr id="30" name="Google Shape;30;p5"/>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1005205" y="2973578"/>
            <a:ext cx="8745284" cy="8532876"/>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5"/>
          <p:cNvSpPr txBox="1"/>
          <p:nvPr>
            <p:ph idx="2" type="body"/>
          </p:nvPr>
        </p:nvSpPr>
        <p:spPr>
          <a:xfrm>
            <a:off x="10353611" y="2973578"/>
            <a:ext cx="8745284" cy="8532876"/>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5"/>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6" name="Shape 36"/>
        <p:cNvGrpSpPr/>
        <p:nvPr/>
      </p:nvGrpSpPr>
      <p:grpSpPr>
        <a:xfrm>
          <a:off x="0" y="0"/>
          <a:ext cx="0" cy="0"/>
          <a:chOff x="0" y="0"/>
          <a:chExt cx="0" cy="0"/>
        </a:xfrm>
      </p:grpSpPr>
      <p:sp>
        <p:nvSpPr>
          <p:cNvPr id="37" name="Google Shape;37;p6"/>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0" y="0"/>
            <a:ext cx="20104100" cy="12924061"/>
          </a:xfrm>
          <a:prstGeom prst="rect">
            <a:avLst/>
          </a:prstGeom>
          <a:noFill/>
          <a:ln>
            <a:noFill/>
          </a:ln>
        </p:spPr>
      </p:pic>
      <p:sp>
        <p:nvSpPr>
          <p:cNvPr id="7" name="Google Shape;7;p1"/>
          <p:cNvSpPr/>
          <p:nvPr/>
        </p:nvSpPr>
        <p:spPr>
          <a:xfrm>
            <a:off x="1502123" y="0"/>
            <a:ext cx="18602325" cy="1376045"/>
          </a:xfrm>
          <a:custGeom>
            <a:rect b="b" l="l" r="r" t="t"/>
            <a:pathLst>
              <a:path extrusionOk="0" h="1376045" w="18602325">
                <a:moveTo>
                  <a:pt x="0" y="0"/>
                </a:moveTo>
                <a:lnTo>
                  <a:pt x="0" y="1375575"/>
                </a:lnTo>
                <a:lnTo>
                  <a:pt x="18601977" y="1375575"/>
                </a:lnTo>
                <a:lnTo>
                  <a:pt x="18601977" y="0"/>
                </a:lnTo>
                <a:lnTo>
                  <a:pt x="0" y="0"/>
                </a:lnTo>
                <a:close/>
              </a:path>
            </a:pathLst>
          </a:custGeom>
          <a:solidFill>
            <a:srgbClr val="5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 name="Google Shape;8;p1"/>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 type="body"/>
          </p:nvPr>
        </p:nvSpPr>
        <p:spPr>
          <a:xfrm>
            <a:off x="1005205" y="2973578"/>
            <a:ext cx="18093690" cy="8532876"/>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0" name="Google Shape;10;p1"/>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pic>
        <p:nvPicPr>
          <p:cNvPr id="45" name="Google Shape;45;p7"/>
          <p:cNvPicPr preferRelativeResize="0"/>
          <p:nvPr/>
        </p:nvPicPr>
        <p:blipFill>
          <a:blip r:embed="rId3">
            <a:alphaModFix/>
          </a:blip>
          <a:stretch>
            <a:fillRect/>
          </a:stretch>
        </p:blipFill>
        <p:spPr>
          <a:xfrm>
            <a:off x="0" y="1382700"/>
            <a:ext cx="20104101" cy="11545901"/>
          </a:xfrm>
          <a:prstGeom prst="rect">
            <a:avLst/>
          </a:prstGeom>
          <a:noFill/>
          <a:ln>
            <a:noFill/>
          </a:ln>
        </p:spPr>
      </p:pic>
      <p:sp>
        <p:nvSpPr>
          <p:cNvPr id="46" name="Google Shape;46;p7"/>
          <p:cNvSpPr/>
          <p:nvPr/>
        </p:nvSpPr>
        <p:spPr>
          <a:xfrm>
            <a:off x="1524000" y="0"/>
            <a:ext cx="15982200" cy="1382700"/>
          </a:xfrm>
          <a:prstGeom prst="rect">
            <a:avLst/>
          </a:prstGeom>
          <a:solidFill>
            <a:srgbClr val="5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 name="Google Shape;47;p7"/>
          <p:cNvSpPr txBox="1"/>
          <p:nvPr/>
        </p:nvSpPr>
        <p:spPr>
          <a:xfrm>
            <a:off x="7017260" y="503830"/>
            <a:ext cx="5760000" cy="888000"/>
          </a:xfrm>
          <a:prstGeom prst="rect">
            <a:avLst/>
          </a:prstGeom>
          <a:noFill/>
          <a:ln>
            <a:noFill/>
          </a:ln>
        </p:spPr>
        <p:txBody>
          <a:bodyPr anchorCtr="0" anchor="t" bIns="0" lIns="0" spcFirstLastPara="1" rIns="0" wrap="square" tIns="11425">
            <a:spAutoFit/>
          </a:bodyPr>
          <a:lstStyle/>
          <a:p>
            <a:pPr indent="-628015" lvl="0" marL="678180" marR="43180" rtl="0" algn="ctr">
              <a:lnSpc>
                <a:spcPct val="101400"/>
              </a:lnSpc>
              <a:spcBef>
                <a:spcPts val="0"/>
              </a:spcBef>
              <a:spcAft>
                <a:spcPts val="0"/>
              </a:spcAft>
              <a:buNone/>
            </a:pPr>
            <a:r>
              <a:rPr i="1" lang="en-US" sz="1550">
                <a:solidFill>
                  <a:schemeClr val="lt1"/>
                </a:solidFill>
                <a:latin typeface="Times New Roman"/>
                <a:ea typeface="Times New Roman"/>
                <a:cs typeface="Times New Roman"/>
                <a:sym typeface="Times New Roman"/>
              </a:rPr>
              <a:t>Shivam Kanodia, Rishab Prakash,  Aparna Pushkaran Ajitha, Karun Kaniyamattan</a:t>
            </a:r>
            <a:r>
              <a:rPr baseline="30000" lang="en-US" sz="1550">
                <a:solidFill>
                  <a:schemeClr val="lt1"/>
                </a:solidFill>
                <a:latin typeface="Times New Roman"/>
                <a:ea typeface="Times New Roman"/>
                <a:cs typeface="Times New Roman"/>
                <a:sym typeface="Times New Roman"/>
              </a:rPr>
              <a:t> </a:t>
            </a:r>
            <a:endParaRPr baseline="30000" sz="1550">
              <a:solidFill>
                <a:schemeClr val="lt1"/>
              </a:solidFill>
              <a:latin typeface="Times New Roman"/>
              <a:ea typeface="Times New Roman"/>
              <a:cs typeface="Times New Roman"/>
              <a:sym typeface="Times New Roman"/>
            </a:endParaRPr>
          </a:p>
          <a:p>
            <a:pPr indent="-628015" lvl="0" marL="1135380" marR="43180" rtl="0" algn="ctr">
              <a:lnSpc>
                <a:spcPct val="101400"/>
              </a:lnSpc>
              <a:spcBef>
                <a:spcPts val="0"/>
              </a:spcBef>
              <a:spcAft>
                <a:spcPts val="0"/>
              </a:spcAft>
              <a:buNone/>
            </a:pPr>
            <a:r>
              <a:rPr lang="en-US" sz="1550">
                <a:solidFill>
                  <a:srgbClr val="E7E6E6"/>
                </a:solidFill>
                <a:latin typeface="Times New Roman"/>
                <a:ea typeface="Times New Roman"/>
                <a:cs typeface="Times New Roman"/>
                <a:sym typeface="Times New Roman"/>
              </a:rPr>
              <a:t>Department of Animal Science, Texas A&amp;M University</a:t>
            </a:r>
            <a:r>
              <a:rPr baseline="30000" lang="en-US" sz="2550">
                <a:solidFill>
                  <a:srgbClr val="E7E6E6"/>
                </a:solidFill>
                <a:latin typeface="Times New Roman"/>
                <a:ea typeface="Times New Roman"/>
                <a:cs typeface="Times New Roman"/>
                <a:sym typeface="Times New Roman"/>
              </a:rPr>
              <a:t>1</a:t>
            </a:r>
            <a:endParaRPr baseline="30000" sz="2550">
              <a:latin typeface="Times New Roman"/>
              <a:ea typeface="Times New Roman"/>
              <a:cs typeface="Times New Roman"/>
              <a:sym typeface="Times New Roman"/>
            </a:endParaRPr>
          </a:p>
        </p:txBody>
      </p:sp>
      <p:sp>
        <p:nvSpPr>
          <p:cNvPr id="48" name="Google Shape;48;p7"/>
          <p:cNvSpPr txBox="1"/>
          <p:nvPr/>
        </p:nvSpPr>
        <p:spPr>
          <a:xfrm>
            <a:off x="0" y="-40000"/>
            <a:ext cx="19037100" cy="906900"/>
          </a:xfrm>
          <a:prstGeom prst="rect">
            <a:avLst/>
          </a:prstGeom>
          <a:noFill/>
          <a:ln>
            <a:noFill/>
          </a:ln>
        </p:spPr>
        <p:txBody>
          <a:bodyPr anchorCtr="0" anchor="t" bIns="0" lIns="0" spcFirstLastPara="1" rIns="0" wrap="square" tIns="13325">
            <a:spAutoFit/>
          </a:bodyPr>
          <a:lstStyle/>
          <a:p>
            <a:pPr indent="0" lvl="0" marL="0" rtl="0" algn="ctr">
              <a:lnSpc>
                <a:spcPct val="115000"/>
              </a:lnSpc>
              <a:spcBef>
                <a:spcPts val="0"/>
              </a:spcBef>
              <a:spcAft>
                <a:spcPts val="0"/>
              </a:spcAft>
              <a:buClr>
                <a:schemeClr val="dk1"/>
              </a:buClr>
              <a:buSzPts val="1100"/>
              <a:buFont typeface="Arial"/>
              <a:buNone/>
            </a:pPr>
            <a:r>
              <a:rPr b="1" lang="en-US" sz="2700">
                <a:solidFill>
                  <a:schemeClr val="lt1"/>
                </a:solidFill>
                <a:latin typeface="Times New Roman"/>
                <a:ea typeface="Times New Roman"/>
                <a:cs typeface="Times New Roman"/>
                <a:sym typeface="Times New Roman"/>
              </a:rPr>
              <a:t>Modeling Resource Flows in Dairy Production: A Systems Dynamics Approach to the WEF Nexus</a:t>
            </a:r>
            <a:endParaRPr b="1" sz="2700">
              <a:solidFill>
                <a:schemeClr val="lt1"/>
              </a:solidFill>
              <a:latin typeface="Times New Roman"/>
              <a:ea typeface="Times New Roman"/>
              <a:cs typeface="Times New Roman"/>
              <a:sym typeface="Times New Roman"/>
            </a:endParaRPr>
          </a:p>
          <a:p>
            <a:pPr indent="0" lvl="0" marL="12700" rtl="0" algn="l">
              <a:lnSpc>
                <a:spcPct val="100000"/>
              </a:lnSpc>
              <a:spcBef>
                <a:spcPts val="0"/>
              </a:spcBef>
              <a:spcAft>
                <a:spcPts val="0"/>
              </a:spcAft>
              <a:buNone/>
            </a:pPr>
            <a:r>
              <a:t/>
            </a:r>
            <a:endParaRPr sz="2700">
              <a:solidFill>
                <a:schemeClr val="lt1"/>
              </a:solidFill>
              <a:latin typeface="Times New Roman"/>
              <a:ea typeface="Times New Roman"/>
              <a:cs typeface="Times New Roman"/>
              <a:sym typeface="Times New Roman"/>
            </a:endParaRPr>
          </a:p>
        </p:txBody>
      </p:sp>
      <p:sp>
        <p:nvSpPr>
          <p:cNvPr id="49" name="Google Shape;49;p7"/>
          <p:cNvSpPr txBox="1"/>
          <p:nvPr/>
        </p:nvSpPr>
        <p:spPr>
          <a:xfrm>
            <a:off x="19550826" y="10904349"/>
            <a:ext cx="69900" cy="9870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FF0000"/>
                </a:solidFill>
                <a:latin typeface="Arial"/>
                <a:ea typeface="Arial"/>
                <a:cs typeface="Arial"/>
                <a:sym typeface="Arial"/>
              </a:rPr>
              <a:t>+</a:t>
            </a:r>
            <a:endParaRPr sz="550">
              <a:latin typeface="Arial"/>
              <a:ea typeface="Arial"/>
              <a:cs typeface="Arial"/>
              <a:sym typeface="Arial"/>
            </a:endParaRPr>
          </a:p>
        </p:txBody>
      </p:sp>
      <p:sp>
        <p:nvSpPr>
          <p:cNvPr id="50" name="Google Shape;50;p7"/>
          <p:cNvSpPr txBox="1"/>
          <p:nvPr/>
        </p:nvSpPr>
        <p:spPr>
          <a:xfrm>
            <a:off x="9085857" y="10540815"/>
            <a:ext cx="69900" cy="9870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808000"/>
                </a:solidFill>
                <a:latin typeface="Arial"/>
                <a:ea typeface="Arial"/>
                <a:cs typeface="Arial"/>
                <a:sym typeface="Arial"/>
              </a:rPr>
              <a:t>+</a:t>
            </a:r>
            <a:endParaRPr sz="550">
              <a:latin typeface="Arial"/>
              <a:ea typeface="Arial"/>
              <a:cs typeface="Arial"/>
              <a:sym typeface="Arial"/>
            </a:endParaRPr>
          </a:p>
        </p:txBody>
      </p:sp>
      <p:sp>
        <p:nvSpPr>
          <p:cNvPr id="51" name="Google Shape;51;p7"/>
          <p:cNvSpPr txBox="1"/>
          <p:nvPr/>
        </p:nvSpPr>
        <p:spPr>
          <a:xfrm>
            <a:off x="8996949" y="8212204"/>
            <a:ext cx="69900" cy="9870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008080"/>
                </a:solidFill>
                <a:latin typeface="Arial"/>
                <a:ea typeface="Arial"/>
                <a:cs typeface="Arial"/>
                <a:sym typeface="Arial"/>
              </a:rPr>
              <a:t>+</a:t>
            </a:r>
            <a:endParaRPr sz="550">
              <a:latin typeface="Arial"/>
              <a:ea typeface="Arial"/>
              <a:cs typeface="Arial"/>
              <a:sym typeface="Arial"/>
            </a:endParaRPr>
          </a:p>
        </p:txBody>
      </p:sp>
      <p:grpSp>
        <p:nvGrpSpPr>
          <p:cNvPr id="52" name="Google Shape;52;p7"/>
          <p:cNvGrpSpPr/>
          <p:nvPr/>
        </p:nvGrpSpPr>
        <p:grpSpPr>
          <a:xfrm>
            <a:off x="0" y="1394721"/>
            <a:ext cx="20104100" cy="1967364"/>
            <a:chOff x="0" y="1394721"/>
            <a:chExt cx="20104100" cy="1967364"/>
          </a:xfrm>
        </p:grpSpPr>
        <p:sp>
          <p:nvSpPr>
            <p:cNvPr id="53" name="Google Shape;53;p7"/>
            <p:cNvSpPr/>
            <p:nvPr/>
          </p:nvSpPr>
          <p:spPr>
            <a:xfrm>
              <a:off x="0" y="1394721"/>
              <a:ext cx="20104100" cy="889000"/>
            </a:xfrm>
            <a:custGeom>
              <a:rect b="b" l="l" r="r" t="t"/>
              <a:pathLst>
                <a:path extrusionOk="0" h="889000" w="20104100">
                  <a:moveTo>
                    <a:pt x="20104100" y="0"/>
                  </a:moveTo>
                  <a:lnTo>
                    <a:pt x="0" y="0"/>
                  </a:lnTo>
                  <a:lnTo>
                    <a:pt x="0" y="888529"/>
                  </a:lnTo>
                  <a:lnTo>
                    <a:pt x="20104100" y="888529"/>
                  </a:lnTo>
                </a:path>
              </a:pathLst>
            </a:custGeom>
            <a:noFill/>
            <a:ln cap="flat" cmpd="sng" w="29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4" name="Google Shape;54;p7"/>
            <p:cNvSpPr/>
            <p:nvPr/>
          </p:nvSpPr>
          <p:spPr>
            <a:xfrm>
              <a:off x="0" y="2291428"/>
              <a:ext cx="20104100" cy="649605"/>
            </a:xfrm>
            <a:custGeom>
              <a:rect b="b" l="l" r="r" t="t"/>
              <a:pathLst>
                <a:path extrusionOk="0" h="649605" w="20104100">
                  <a:moveTo>
                    <a:pt x="20103700" y="0"/>
                  </a:moveTo>
                  <a:lnTo>
                    <a:pt x="0" y="0"/>
                  </a:lnTo>
                  <a:lnTo>
                    <a:pt x="0" y="649095"/>
                  </a:lnTo>
                  <a:lnTo>
                    <a:pt x="20103700" y="649095"/>
                  </a:lnTo>
                  <a:lnTo>
                    <a:pt x="20103700" y="0"/>
                  </a:lnTo>
                  <a:close/>
                </a:path>
              </a:pathLst>
            </a:custGeom>
            <a:solidFill>
              <a:srgbClr val="FAE4D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 name="Google Shape;55;p7"/>
            <p:cNvSpPr/>
            <p:nvPr/>
          </p:nvSpPr>
          <p:spPr>
            <a:xfrm>
              <a:off x="0" y="2291428"/>
              <a:ext cx="20104100" cy="649605"/>
            </a:xfrm>
            <a:custGeom>
              <a:rect b="b" l="l" r="r" t="t"/>
              <a:pathLst>
                <a:path extrusionOk="0" h="649605" w="20104100">
                  <a:moveTo>
                    <a:pt x="0" y="649095"/>
                  </a:moveTo>
                  <a:lnTo>
                    <a:pt x="20103700" y="649095"/>
                  </a:lnTo>
                  <a:lnTo>
                    <a:pt x="20103700" y="0"/>
                  </a:lnTo>
                  <a:lnTo>
                    <a:pt x="0" y="0"/>
                  </a:lnTo>
                  <a:lnTo>
                    <a:pt x="0" y="649095"/>
                  </a:lnTo>
                  <a:close/>
                </a:path>
              </a:pathLst>
            </a:custGeom>
            <a:noFill/>
            <a:ln cap="flat" cmpd="sng" w="14950">
              <a:solidFill>
                <a:srgbClr val="172C5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6" name="Google Shape;56;p7"/>
            <p:cNvSpPr/>
            <p:nvPr/>
          </p:nvSpPr>
          <p:spPr>
            <a:xfrm>
              <a:off x="0" y="2952510"/>
              <a:ext cx="8470900" cy="409575"/>
            </a:xfrm>
            <a:custGeom>
              <a:rect b="b" l="l" r="r" t="t"/>
              <a:pathLst>
                <a:path extrusionOk="0" h="409575" w="8470900">
                  <a:moveTo>
                    <a:pt x="0" y="409042"/>
                  </a:moveTo>
                  <a:lnTo>
                    <a:pt x="8470696" y="409042"/>
                  </a:lnTo>
                  <a:lnTo>
                    <a:pt x="8470696" y="0"/>
                  </a:lnTo>
                  <a:lnTo>
                    <a:pt x="0" y="0"/>
                  </a:lnTo>
                  <a:lnTo>
                    <a:pt x="0" y="409042"/>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57" name="Google Shape;57;p7"/>
          <p:cNvSpPr txBox="1"/>
          <p:nvPr/>
        </p:nvSpPr>
        <p:spPr>
          <a:xfrm>
            <a:off x="152675" y="3395275"/>
            <a:ext cx="5089800" cy="1595400"/>
          </a:xfrm>
          <a:prstGeom prst="rect">
            <a:avLst/>
          </a:prstGeom>
          <a:noFill/>
          <a:ln>
            <a:noFill/>
          </a:ln>
        </p:spPr>
        <p:txBody>
          <a:bodyPr anchorCtr="0" anchor="t" bIns="0" lIns="0" spcFirstLastPara="1" rIns="0" wrap="square" tIns="12050">
            <a:spAutoFit/>
          </a:bodyPr>
          <a:lstStyle/>
          <a:p>
            <a:pPr indent="0" lvl="0" marL="0" marR="5080" rtl="0" algn="l">
              <a:lnSpc>
                <a:spcPct val="101000"/>
              </a:lnSpc>
              <a:spcBef>
                <a:spcPts val="0"/>
              </a:spcBef>
              <a:spcAft>
                <a:spcPts val="0"/>
              </a:spcAft>
              <a:buNone/>
            </a:pPr>
            <a:r>
              <a:rPr lang="en-US" sz="1700">
                <a:latin typeface="Times New Roman"/>
                <a:ea typeface="Times New Roman"/>
                <a:cs typeface="Times New Roman"/>
                <a:sym typeface="Times New Roman"/>
              </a:rPr>
              <a:t>U.S. organic dairy production faces simultaneous pressures from climate variability, input cost volatility, and growing regulatory scrutiny on environmental impact.</a:t>
            </a:r>
            <a:endParaRPr sz="1700">
              <a:latin typeface="Times New Roman"/>
              <a:ea typeface="Times New Roman"/>
              <a:cs typeface="Times New Roman"/>
              <a:sym typeface="Times New Roman"/>
            </a:endParaRPr>
          </a:p>
          <a:p>
            <a:pPr indent="0" lvl="0" marL="0" marR="5080" rtl="0" algn="l">
              <a:lnSpc>
                <a:spcPct val="101000"/>
              </a:lnSpc>
              <a:spcBef>
                <a:spcPts val="0"/>
              </a:spcBef>
              <a:spcAft>
                <a:spcPts val="0"/>
              </a:spcAft>
              <a:buNone/>
            </a:pPr>
            <a:r>
              <a:t/>
            </a:r>
            <a:endParaRPr sz="1700">
              <a:latin typeface="Times New Roman"/>
              <a:ea typeface="Times New Roman"/>
              <a:cs typeface="Times New Roman"/>
              <a:sym typeface="Times New Roman"/>
            </a:endParaRPr>
          </a:p>
          <a:p>
            <a:pPr indent="0" lvl="0" marL="0" marR="5080" rtl="0" algn="l">
              <a:lnSpc>
                <a:spcPct val="101000"/>
              </a:lnSpc>
              <a:spcBef>
                <a:spcPts val="0"/>
              </a:spcBef>
              <a:spcAft>
                <a:spcPts val="0"/>
              </a:spcAft>
              <a:buNone/>
            </a:pPr>
            <a:r>
              <a:t/>
            </a:r>
            <a:endParaRPr sz="1700">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sz="1700">
              <a:latin typeface="Times New Roman"/>
              <a:ea typeface="Times New Roman"/>
              <a:cs typeface="Times New Roman"/>
              <a:sym typeface="Times New Roman"/>
            </a:endParaRPr>
          </a:p>
        </p:txBody>
      </p:sp>
      <p:sp>
        <p:nvSpPr>
          <p:cNvPr id="58" name="Google Shape;58;p7"/>
          <p:cNvSpPr txBox="1"/>
          <p:nvPr/>
        </p:nvSpPr>
        <p:spPr>
          <a:xfrm>
            <a:off x="108300" y="4668738"/>
            <a:ext cx="3215100" cy="1315800"/>
          </a:xfrm>
          <a:prstGeom prst="rect">
            <a:avLst/>
          </a:prstGeom>
          <a:noFill/>
          <a:ln>
            <a:noFill/>
          </a:ln>
        </p:spPr>
        <p:txBody>
          <a:bodyPr anchorCtr="0" anchor="t" bIns="0" lIns="0" spcFirstLastPara="1" rIns="0" wrap="square" tIns="12050">
            <a:spAutoFit/>
          </a:bodyPr>
          <a:lstStyle/>
          <a:p>
            <a:pPr indent="-111760" lvl="0" marL="124460" marR="5080" rtl="0" algn="l">
              <a:lnSpc>
                <a:spcPct val="101000"/>
              </a:lnSpc>
              <a:spcBef>
                <a:spcPts val="0"/>
              </a:spcBef>
              <a:spcAft>
                <a:spcPts val="0"/>
              </a:spcAft>
              <a:buSzPts val="1400"/>
              <a:buFont typeface="Arial"/>
              <a:buChar char="•"/>
            </a:pPr>
            <a:r>
              <a:rPr lang="en-US" sz="1400">
                <a:latin typeface="Times New Roman"/>
                <a:ea typeface="Times New Roman"/>
                <a:cs typeface="Times New Roman"/>
                <a:sym typeface="Times New Roman"/>
              </a:rPr>
              <a:t>Raising populations - resource scarcity </a:t>
            </a:r>
            <a:r>
              <a:rPr lang="en-US">
                <a:solidFill>
                  <a:srgbClr val="FF0000"/>
                </a:solidFill>
                <a:latin typeface="Times New Roman"/>
                <a:ea typeface="Times New Roman"/>
                <a:cs typeface="Times New Roman"/>
                <a:sym typeface="Times New Roman"/>
              </a:rPr>
              <a:t>(Perveen et al., 2018)</a:t>
            </a:r>
            <a:endParaRPr sz="1400">
              <a:solidFill>
                <a:srgbClr val="FF0000"/>
              </a:solidFill>
              <a:latin typeface="Times New Roman"/>
              <a:ea typeface="Times New Roman"/>
              <a:cs typeface="Times New Roman"/>
              <a:sym typeface="Times New Roman"/>
            </a:endParaRPr>
          </a:p>
          <a:p>
            <a:pPr indent="0" lvl="0" marL="0" marR="5080" rtl="0" algn="l">
              <a:lnSpc>
                <a:spcPct val="101000"/>
              </a:lnSpc>
              <a:spcBef>
                <a:spcPts val="0"/>
              </a:spcBef>
              <a:spcAft>
                <a:spcPts val="0"/>
              </a:spcAft>
              <a:buNone/>
            </a:pPr>
            <a:r>
              <a:t/>
            </a:r>
            <a:endParaRPr>
              <a:latin typeface="Times New Roman"/>
              <a:ea typeface="Times New Roman"/>
              <a:cs typeface="Times New Roman"/>
              <a:sym typeface="Times New Roman"/>
            </a:endParaRPr>
          </a:p>
          <a:p>
            <a:pPr indent="-111760" lvl="0" marL="124460" marR="5080"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Climate variability - unpredictable energy efficiency </a:t>
            </a:r>
            <a:r>
              <a:rPr lang="en-US">
                <a:solidFill>
                  <a:srgbClr val="FF0000"/>
                </a:solidFill>
                <a:latin typeface="Times New Roman"/>
                <a:ea typeface="Times New Roman"/>
                <a:cs typeface="Times New Roman"/>
                <a:sym typeface="Times New Roman"/>
              </a:rPr>
              <a:t>(Sejian et al., 2024)</a:t>
            </a:r>
            <a:endParaRPr>
              <a:solidFill>
                <a:srgbClr val="FF0000"/>
              </a:solidFill>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a:latin typeface="Times New Roman"/>
              <a:ea typeface="Times New Roman"/>
              <a:cs typeface="Times New Roman"/>
              <a:sym typeface="Times New Roman"/>
            </a:endParaRPr>
          </a:p>
        </p:txBody>
      </p:sp>
      <p:sp>
        <p:nvSpPr>
          <p:cNvPr id="59" name="Google Shape;59;p7"/>
          <p:cNvSpPr txBox="1"/>
          <p:nvPr/>
        </p:nvSpPr>
        <p:spPr>
          <a:xfrm>
            <a:off x="108299" y="5984546"/>
            <a:ext cx="4745400" cy="663000"/>
          </a:xfrm>
          <a:prstGeom prst="rect">
            <a:avLst/>
          </a:prstGeom>
          <a:noFill/>
          <a:ln>
            <a:noFill/>
          </a:ln>
        </p:spPr>
        <p:txBody>
          <a:bodyPr anchorCtr="0" anchor="t" bIns="0" lIns="0" spcFirstLastPara="1" rIns="0" wrap="square" tIns="12050">
            <a:spAutoFit/>
          </a:bodyPr>
          <a:lstStyle/>
          <a:p>
            <a:pPr indent="-111760" lvl="0" marL="123825" marR="5080" rtl="0" algn="l">
              <a:lnSpc>
                <a:spcPct val="101000"/>
              </a:lnSpc>
              <a:spcBef>
                <a:spcPts val="0"/>
              </a:spcBef>
              <a:spcAft>
                <a:spcPts val="0"/>
              </a:spcAft>
              <a:buSzPts val="1400"/>
              <a:buFont typeface="Arial"/>
              <a:buChar char="•"/>
            </a:pPr>
            <a:r>
              <a:rPr lang="en-US">
                <a:latin typeface="Times New Roman"/>
                <a:ea typeface="Times New Roman"/>
                <a:cs typeface="Times New Roman"/>
                <a:sym typeface="Times New Roman"/>
              </a:rPr>
              <a:t>Leads to a n</a:t>
            </a:r>
            <a:r>
              <a:rPr lang="en-US" sz="1400">
                <a:latin typeface="Times New Roman"/>
                <a:ea typeface="Times New Roman"/>
                <a:cs typeface="Times New Roman"/>
                <a:sym typeface="Times New Roman"/>
              </a:rPr>
              <a:t>eed for Water Energy Food Nexus (WEF) </a:t>
            </a:r>
            <a:r>
              <a:rPr lang="en-US">
                <a:latin typeface="Times New Roman"/>
                <a:ea typeface="Times New Roman"/>
                <a:cs typeface="Times New Roman"/>
                <a:sym typeface="Times New Roman"/>
              </a:rPr>
              <a:t>to understand resource interdependencies and find “leverage points” </a:t>
            </a:r>
            <a:r>
              <a:rPr lang="en-US">
                <a:solidFill>
                  <a:srgbClr val="FF0000"/>
                </a:solidFill>
                <a:latin typeface="Times New Roman"/>
                <a:ea typeface="Times New Roman"/>
                <a:cs typeface="Times New Roman"/>
                <a:sym typeface="Times New Roman"/>
              </a:rPr>
              <a:t>(Yıldız, 2021)</a:t>
            </a:r>
            <a:endParaRPr sz="1400">
              <a:solidFill>
                <a:srgbClr val="FF0000"/>
              </a:solidFill>
              <a:latin typeface="Times New Roman"/>
              <a:ea typeface="Times New Roman"/>
              <a:cs typeface="Times New Roman"/>
              <a:sym typeface="Times New Roman"/>
            </a:endParaRPr>
          </a:p>
        </p:txBody>
      </p:sp>
      <p:sp>
        <p:nvSpPr>
          <p:cNvPr id="60" name="Google Shape;60;p7"/>
          <p:cNvSpPr txBox="1"/>
          <p:nvPr/>
        </p:nvSpPr>
        <p:spPr>
          <a:xfrm>
            <a:off x="108299" y="6755676"/>
            <a:ext cx="4455300" cy="445200"/>
          </a:xfrm>
          <a:prstGeom prst="rect">
            <a:avLst/>
          </a:prstGeom>
          <a:noFill/>
          <a:ln>
            <a:noFill/>
          </a:ln>
        </p:spPr>
        <p:txBody>
          <a:bodyPr anchorCtr="0" anchor="t" bIns="0" lIns="0" spcFirstLastPara="1" rIns="0" wrap="square" tIns="12050">
            <a:spAutoFit/>
          </a:bodyPr>
          <a:lstStyle/>
          <a:p>
            <a:pPr indent="-111760" lvl="0" marL="123825" marR="5080" rtl="0" algn="l">
              <a:lnSpc>
                <a:spcPct val="101000"/>
              </a:lnSpc>
              <a:spcBef>
                <a:spcPts val="0"/>
              </a:spcBef>
              <a:spcAft>
                <a:spcPts val="0"/>
              </a:spcAft>
              <a:buSzPts val="1400"/>
              <a:buFont typeface="Arial"/>
              <a:buChar char="•"/>
            </a:pPr>
            <a:r>
              <a:rPr lang="en-US" sz="1400">
                <a:latin typeface="Times New Roman"/>
                <a:ea typeface="Times New Roman"/>
                <a:cs typeface="Times New Roman"/>
                <a:sym typeface="Times New Roman"/>
              </a:rPr>
              <a:t>System dynamics</a:t>
            </a:r>
            <a:r>
              <a:rPr lang="en-US">
                <a:latin typeface="Times New Roman"/>
                <a:ea typeface="Times New Roman"/>
                <a:cs typeface="Times New Roman"/>
                <a:sym typeface="Times New Roman"/>
              </a:rPr>
              <a:t> modeling</a:t>
            </a:r>
            <a:r>
              <a:rPr lang="en-US" sz="1400">
                <a:latin typeface="Times New Roman"/>
                <a:ea typeface="Times New Roman"/>
                <a:cs typeface="Times New Roman"/>
                <a:sym typeface="Times New Roman"/>
              </a:rPr>
              <a:t>: </a:t>
            </a:r>
            <a:r>
              <a:rPr lang="en-US">
                <a:latin typeface="Times New Roman"/>
                <a:ea typeface="Times New Roman"/>
                <a:cs typeface="Times New Roman"/>
                <a:sym typeface="Times New Roman"/>
              </a:rPr>
              <a:t>visually and mathematically show behaviors of complex systems </a:t>
            </a:r>
            <a:r>
              <a:rPr lang="en-US">
                <a:solidFill>
                  <a:srgbClr val="FF0000"/>
                </a:solidFill>
                <a:latin typeface="Times New Roman"/>
                <a:ea typeface="Times New Roman"/>
                <a:cs typeface="Times New Roman"/>
                <a:sym typeface="Times New Roman"/>
              </a:rPr>
              <a:t>(Hülsmann et al., 2025)</a:t>
            </a:r>
            <a:endParaRPr>
              <a:solidFill>
                <a:srgbClr val="FF0000"/>
              </a:solidFill>
              <a:latin typeface="Times New Roman"/>
              <a:ea typeface="Times New Roman"/>
              <a:cs typeface="Times New Roman"/>
              <a:sym typeface="Times New Roman"/>
            </a:endParaRPr>
          </a:p>
        </p:txBody>
      </p:sp>
      <p:grpSp>
        <p:nvGrpSpPr>
          <p:cNvPr id="61" name="Google Shape;61;p7"/>
          <p:cNvGrpSpPr/>
          <p:nvPr/>
        </p:nvGrpSpPr>
        <p:grpSpPr>
          <a:xfrm>
            <a:off x="0" y="3358960"/>
            <a:ext cx="8597145" cy="9565263"/>
            <a:chOff x="0" y="3358960"/>
            <a:chExt cx="8597145" cy="9565263"/>
          </a:xfrm>
        </p:grpSpPr>
        <p:sp>
          <p:nvSpPr>
            <p:cNvPr id="62" name="Google Shape;62;p7"/>
            <p:cNvSpPr/>
            <p:nvPr/>
          </p:nvSpPr>
          <p:spPr>
            <a:xfrm>
              <a:off x="0" y="3358960"/>
              <a:ext cx="8470900" cy="4077970"/>
            </a:xfrm>
            <a:custGeom>
              <a:rect b="b" l="l" r="r" t="t"/>
              <a:pathLst>
                <a:path extrusionOk="0" h="4077970" w="8470900">
                  <a:moveTo>
                    <a:pt x="0" y="4077761"/>
                  </a:moveTo>
                  <a:lnTo>
                    <a:pt x="8470716" y="4077761"/>
                  </a:lnTo>
                  <a:lnTo>
                    <a:pt x="8470716" y="0"/>
                  </a:lnTo>
                  <a:lnTo>
                    <a:pt x="0" y="0"/>
                  </a:lnTo>
                </a:path>
              </a:pathLst>
            </a:custGeom>
            <a:noFill/>
            <a:ln cap="flat" cmpd="sng" w="9525">
              <a:solidFill>
                <a:srgbClr val="43434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descr="A cow and water supply  AI-generated content may be incorrect." id="63" name="Google Shape;63;p7"/>
            <p:cNvPicPr preferRelativeResize="0"/>
            <p:nvPr/>
          </p:nvPicPr>
          <p:blipFill rotWithShape="1">
            <a:blip r:embed="rId4">
              <a:alphaModFix/>
            </a:blip>
            <a:srcRect b="0" l="0" r="0" t="0"/>
            <a:stretch/>
          </p:blipFill>
          <p:spPr>
            <a:xfrm>
              <a:off x="4728203" y="4032687"/>
              <a:ext cx="3868942" cy="3168340"/>
            </a:xfrm>
            <a:prstGeom prst="rect">
              <a:avLst/>
            </a:prstGeom>
            <a:noFill/>
            <a:ln>
              <a:noFill/>
            </a:ln>
          </p:spPr>
        </p:pic>
        <p:sp>
          <p:nvSpPr>
            <p:cNvPr id="64" name="Google Shape;64;p7"/>
            <p:cNvSpPr/>
            <p:nvPr/>
          </p:nvSpPr>
          <p:spPr>
            <a:xfrm>
              <a:off x="19883" y="11993948"/>
              <a:ext cx="4853940" cy="930275"/>
            </a:xfrm>
            <a:custGeom>
              <a:rect b="b" l="l" r="r" t="t"/>
              <a:pathLst>
                <a:path extrusionOk="0" h="930275" w="4853940">
                  <a:moveTo>
                    <a:pt x="0" y="930113"/>
                  </a:moveTo>
                  <a:lnTo>
                    <a:pt x="4853803" y="930113"/>
                  </a:lnTo>
                  <a:lnTo>
                    <a:pt x="4853803" y="0"/>
                  </a:lnTo>
                  <a:lnTo>
                    <a:pt x="0" y="0"/>
                  </a:lnTo>
                  <a:lnTo>
                    <a:pt x="0" y="930113"/>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65" name="Google Shape;65;p7"/>
          <p:cNvSpPr txBox="1"/>
          <p:nvPr/>
        </p:nvSpPr>
        <p:spPr>
          <a:xfrm>
            <a:off x="552378" y="7519058"/>
            <a:ext cx="3715500" cy="3387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1" lang="en-US" sz="2100">
                <a:solidFill>
                  <a:srgbClr val="500000"/>
                </a:solidFill>
                <a:latin typeface="Times New Roman"/>
                <a:ea typeface="Times New Roman"/>
                <a:cs typeface="Times New Roman"/>
                <a:sym typeface="Times New Roman"/>
              </a:rPr>
              <a:t>MATERIALS AND METHODS</a:t>
            </a:r>
            <a:endParaRPr sz="2100">
              <a:latin typeface="Times New Roman"/>
              <a:ea typeface="Times New Roman"/>
              <a:cs typeface="Times New Roman"/>
              <a:sym typeface="Times New Roman"/>
            </a:endParaRPr>
          </a:p>
        </p:txBody>
      </p:sp>
      <p:sp>
        <p:nvSpPr>
          <p:cNvPr id="66" name="Google Shape;66;p7"/>
          <p:cNvSpPr/>
          <p:nvPr/>
        </p:nvSpPr>
        <p:spPr>
          <a:xfrm>
            <a:off x="8454242" y="2935069"/>
            <a:ext cx="11637644" cy="424179"/>
          </a:xfrm>
          <a:custGeom>
            <a:rect b="b" l="l" r="r" t="t"/>
            <a:pathLst>
              <a:path extrusionOk="0" h="424179" w="11637644">
                <a:moveTo>
                  <a:pt x="0" y="423891"/>
                </a:moveTo>
                <a:lnTo>
                  <a:pt x="11637441" y="423891"/>
                </a:lnTo>
                <a:lnTo>
                  <a:pt x="11637441" y="0"/>
                </a:lnTo>
                <a:lnTo>
                  <a:pt x="0" y="0"/>
                </a:lnTo>
                <a:lnTo>
                  <a:pt x="0" y="423891"/>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7" name="Google Shape;67;p7"/>
          <p:cNvSpPr txBox="1"/>
          <p:nvPr/>
        </p:nvSpPr>
        <p:spPr>
          <a:xfrm>
            <a:off x="23200" y="1430736"/>
            <a:ext cx="20056500" cy="2058600"/>
          </a:xfrm>
          <a:prstGeom prst="rect">
            <a:avLst/>
          </a:prstGeom>
          <a:noFill/>
          <a:ln>
            <a:noFill/>
          </a:ln>
        </p:spPr>
        <p:txBody>
          <a:bodyPr anchorCtr="0" anchor="t" bIns="0" lIns="0" spcFirstLastPara="1" rIns="0" wrap="square" tIns="12050">
            <a:spAutoFit/>
          </a:bodyPr>
          <a:lstStyle/>
          <a:p>
            <a:pPr indent="0" lvl="0" marL="199390" marR="59690" rtl="0" algn="just">
              <a:lnSpc>
                <a:spcPct val="101299"/>
              </a:lnSpc>
              <a:spcBef>
                <a:spcPts val="0"/>
              </a:spcBef>
              <a:spcAft>
                <a:spcPts val="0"/>
              </a:spcAft>
              <a:buNone/>
            </a:pPr>
            <a:r>
              <a:rPr b="1" lang="en-US" sz="1550">
                <a:latin typeface="Times New Roman"/>
                <a:ea typeface="Times New Roman"/>
                <a:cs typeface="Times New Roman"/>
                <a:sym typeface="Times New Roman"/>
              </a:rPr>
              <a:t>SUMMARY</a:t>
            </a:r>
            <a:r>
              <a:rPr lang="en-US" sz="1550">
                <a:latin typeface="Times New Roman"/>
                <a:ea typeface="Times New Roman"/>
                <a:cs typeface="Times New Roman"/>
                <a:sym typeface="Times New Roman"/>
              </a:rPr>
              <a:t>: This study develops a multi-year dynamics model of an organic dairy farm using Vensim PLE, simulating six core stocks: Herd Size, Feed Inventory, Water Storage, Energy Reserve, Milk Output, and Manure Stock. This is all within a Water-Energy-Food (WEF) nexus framework. Key auxiliary variables include Water Use Efficiency (WUE), Energy Use Efficiency (EUE), Heat Stress Factor (THI), Enteric Methane Emissions (IPCC Tier 2), and Nutrient Leaching. Baseline simulations reveal strong interdependencies across subsystems, where feed and energy availability jointly drive milk output. Future work will incorporate stress scenario testing under water scarcity, energy price shocks, and feed disruption conditions.</a:t>
            </a:r>
            <a:endParaRPr sz="1550">
              <a:latin typeface="Times New Roman"/>
              <a:ea typeface="Times New Roman"/>
              <a:cs typeface="Times New Roman"/>
              <a:sym typeface="Times New Roman"/>
            </a:endParaRPr>
          </a:p>
          <a:p>
            <a:pPr indent="0" lvl="0" marL="12700" marR="5080" rtl="0" algn="l">
              <a:lnSpc>
                <a:spcPct val="101299"/>
              </a:lnSpc>
              <a:spcBef>
                <a:spcPts val="1639"/>
              </a:spcBef>
              <a:spcAft>
                <a:spcPts val="0"/>
              </a:spcAft>
              <a:buNone/>
            </a:pPr>
            <a:r>
              <a:rPr b="1" lang="en-US" sz="1550">
                <a:solidFill>
                  <a:srgbClr val="C00000"/>
                </a:solidFill>
                <a:latin typeface="Times New Roman"/>
                <a:ea typeface="Times New Roman"/>
                <a:cs typeface="Times New Roman"/>
                <a:sym typeface="Times New Roman"/>
              </a:rPr>
              <a:t>Dynamic hypothesis: </a:t>
            </a:r>
            <a:r>
              <a:rPr b="1" lang="en-US" sz="1550">
                <a:solidFill>
                  <a:srgbClr val="001F5F"/>
                </a:solidFill>
                <a:latin typeface="Times New Roman"/>
                <a:ea typeface="Times New Roman"/>
                <a:cs typeface="Times New Roman"/>
                <a:sym typeface="Times New Roman"/>
              </a:rPr>
              <a:t>Resource stress in any one WEF subsystem (water, feed, or energy) propagates through herd-driven feedback loops to suppress milk output, while coordinated replenishment across all three stocks stabilizes long-run farm productivity.</a:t>
            </a:r>
            <a:endParaRPr b="1" sz="1550">
              <a:solidFill>
                <a:srgbClr val="001F5F"/>
              </a:solidFill>
              <a:latin typeface="Times New Roman"/>
              <a:ea typeface="Times New Roman"/>
              <a:cs typeface="Times New Roman"/>
              <a:sym typeface="Times New Roman"/>
            </a:endParaRPr>
          </a:p>
          <a:p>
            <a:pPr indent="0" lvl="0" marL="0" marR="408305" rtl="0" algn="l">
              <a:lnSpc>
                <a:spcPct val="100000"/>
              </a:lnSpc>
              <a:spcBef>
                <a:spcPts val="1115"/>
              </a:spcBef>
              <a:spcAft>
                <a:spcPts val="0"/>
              </a:spcAft>
              <a:buNone/>
            </a:pPr>
            <a:r>
              <a:rPr b="1" lang="en-US" sz="2100">
                <a:solidFill>
                  <a:srgbClr val="500000"/>
                </a:solidFill>
                <a:latin typeface="Times New Roman"/>
                <a:ea typeface="Times New Roman"/>
                <a:cs typeface="Times New Roman"/>
                <a:sym typeface="Times New Roman"/>
              </a:rPr>
              <a:t>	</a:t>
            </a:r>
            <a:r>
              <a:rPr b="1" baseline="30000" lang="en-US" sz="3150">
                <a:solidFill>
                  <a:srgbClr val="500000"/>
                </a:solidFill>
                <a:latin typeface="Times New Roman"/>
                <a:ea typeface="Times New Roman"/>
                <a:cs typeface="Times New Roman"/>
                <a:sym typeface="Times New Roman"/>
              </a:rPr>
              <a:t>						INTRODUCTION																RESULT: CAUSAL LOOP DIAGRAM</a:t>
            </a:r>
            <a:endParaRPr baseline="30000" sz="3150">
              <a:latin typeface="Times New Roman"/>
              <a:ea typeface="Times New Roman"/>
              <a:cs typeface="Times New Roman"/>
              <a:sym typeface="Times New Roman"/>
            </a:endParaRPr>
          </a:p>
        </p:txBody>
      </p:sp>
      <p:sp>
        <p:nvSpPr>
          <p:cNvPr id="68" name="Google Shape;68;p7"/>
          <p:cNvSpPr/>
          <p:nvPr/>
        </p:nvSpPr>
        <p:spPr>
          <a:xfrm>
            <a:off x="4898379" y="7438665"/>
            <a:ext cx="3578225" cy="5485765"/>
          </a:xfrm>
          <a:custGeom>
            <a:rect b="b" l="l" r="r" t="t"/>
            <a:pathLst>
              <a:path extrusionOk="0" h="5485765" w="3578225">
                <a:moveTo>
                  <a:pt x="0" y="5485397"/>
                </a:moveTo>
                <a:lnTo>
                  <a:pt x="3577901" y="5485397"/>
                </a:lnTo>
                <a:lnTo>
                  <a:pt x="3577901" y="0"/>
                </a:lnTo>
                <a:lnTo>
                  <a:pt x="0" y="0"/>
                </a:lnTo>
                <a:lnTo>
                  <a:pt x="0" y="5485397"/>
                </a:lnTo>
                <a:close/>
              </a:path>
            </a:pathLst>
          </a:custGeom>
          <a:noFill/>
          <a:ln cap="flat" cmpd="sng" w="29900">
            <a:solidFill>
              <a:srgbClr val="43434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aphicFrame>
        <p:nvGraphicFramePr>
          <p:cNvPr id="69" name="Google Shape;69;p7"/>
          <p:cNvGraphicFramePr/>
          <p:nvPr/>
        </p:nvGraphicFramePr>
        <p:xfrm>
          <a:off x="4941111" y="9759314"/>
          <a:ext cx="3000000" cy="3000000"/>
        </p:xfrm>
        <a:graphic>
          <a:graphicData uri="http://schemas.openxmlformats.org/drawingml/2006/table">
            <a:tbl>
              <a:tblPr bandRow="1" firstRow="1">
                <a:noFill/>
                <a:tableStyleId>{A204054C-725E-4728-9D5B-69CC68424365}</a:tableStyleId>
              </a:tblPr>
              <a:tblGrid>
                <a:gridCol w="1108700"/>
                <a:gridCol w="788675"/>
                <a:gridCol w="774075"/>
                <a:gridCol w="200000"/>
              </a:tblGrid>
              <a:tr h="475625">
                <a:tc>
                  <a:txBody>
                    <a:bodyPr/>
                    <a:lstStyle/>
                    <a:p>
                      <a:pPr indent="0" lvl="0" marL="29845" marR="0" rtl="0" algn="l">
                        <a:lnSpc>
                          <a:spcPct val="100000"/>
                        </a:lnSpc>
                        <a:spcBef>
                          <a:spcPts val="0"/>
                        </a:spcBef>
                        <a:spcAft>
                          <a:spcPts val="0"/>
                        </a:spcAft>
                        <a:buNone/>
                      </a:pPr>
                      <a:r>
                        <a:rPr b="1" lang="en-US" sz="1400" u="none" cap="none" strike="noStrike">
                          <a:latin typeface="Times New Roman"/>
                          <a:ea typeface="Times New Roman"/>
                          <a:cs typeface="Times New Roman"/>
                          <a:sym typeface="Times New Roman"/>
                        </a:rPr>
                        <a:t>Scenario</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272415" rtl="0" algn="l">
                        <a:lnSpc>
                          <a:spcPct val="101000"/>
                        </a:lnSpc>
                        <a:spcBef>
                          <a:spcPts val="0"/>
                        </a:spcBef>
                        <a:spcAft>
                          <a:spcPts val="0"/>
                        </a:spcAft>
                        <a:buNone/>
                      </a:pPr>
                      <a:r>
                        <a:rPr b="1" lang="en-US" sz="1400" u="none" cap="none" strike="noStrike">
                          <a:latin typeface="Times New Roman"/>
                          <a:ea typeface="Times New Roman"/>
                          <a:cs typeface="Times New Roman"/>
                          <a:sym typeface="Times New Roman"/>
                        </a:rPr>
                        <a:t>Water Usage</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177800" rtl="0" algn="l">
                        <a:lnSpc>
                          <a:spcPct val="101000"/>
                        </a:lnSpc>
                        <a:spcBef>
                          <a:spcPts val="0"/>
                        </a:spcBef>
                        <a:spcAft>
                          <a:spcPts val="0"/>
                        </a:spcAft>
                        <a:buNone/>
                      </a:pPr>
                      <a:r>
                        <a:rPr b="1" lang="en-US" sz="1400" u="none" cap="none" strike="noStrike">
                          <a:latin typeface="Times New Roman"/>
                          <a:ea typeface="Times New Roman"/>
                          <a:cs typeface="Times New Roman"/>
                          <a:sym typeface="Times New Roman"/>
                        </a:rPr>
                        <a:t>Energy Usage</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0" rtl="0" algn="l">
                        <a:lnSpc>
                          <a:spcPct val="100000"/>
                        </a:lnSpc>
                        <a:spcBef>
                          <a:spcPts val="0"/>
                        </a:spcBef>
                        <a:spcAft>
                          <a:spcPts val="0"/>
                        </a:spcAft>
                        <a:buNone/>
                      </a:pPr>
                      <a:r>
                        <a:rPr b="1" lang="en-US" sz="1400" u="none" cap="none" strike="noStrike">
                          <a:latin typeface="Times New Roman"/>
                          <a:ea typeface="Times New Roman"/>
                          <a:cs typeface="Times New Roman"/>
                          <a:sym typeface="Times New Roman"/>
                        </a:rPr>
                        <a:t>GHG</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b="1" lang="en-US" sz="1400" u="none" cap="none" strike="noStrike">
                          <a:latin typeface="Times New Roman"/>
                          <a:ea typeface="Times New Roman"/>
                          <a:cs typeface="Times New Roman"/>
                          <a:sym typeface="Times New Roman"/>
                        </a:rPr>
                        <a:t>Emissions</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r>
              <a:tr h="913125">
                <a:tc>
                  <a:txBody>
                    <a:bodyPr/>
                    <a:lstStyle/>
                    <a:p>
                      <a:pPr indent="0" lvl="0" marL="29845" marR="54610" rtl="0" algn="l">
                        <a:lnSpc>
                          <a:spcPct val="101000"/>
                        </a:lnSpc>
                        <a:spcBef>
                          <a:spcPts val="0"/>
                        </a:spcBef>
                        <a:spcAft>
                          <a:spcPts val="0"/>
                        </a:spcAft>
                        <a:buNone/>
                      </a:pPr>
                      <a:r>
                        <a:rPr lang="en-US" sz="1400" u="none" cap="none" strike="noStrike">
                          <a:latin typeface="Times New Roman"/>
                          <a:ea typeface="Times New Roman"/>
                          <a:cs typeface="Times New Roman"/>
                          <a:sym typeface="Times New Roman"/>
                        </a:rPr>
                        <a:t>Technological advancements in energy efficiency</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43180" rtl="0" algn="l">
                        <a:lnSpc>
                          <a:spcPct val="101000"/>
                        </a:lnSpc>
                        <a:spcBef>
                          <a:spcPts val="0"/>
                        </a:spcBef>
                        <a:spcAft>
                          <a:spcPts val="0"/>
                        </a:spcAft>
                        <a:buNone/>
                      </a:pPr>
                      <a:r>
                        <a:rPr lang="en-US" sz="1400" u="none" cap="none" strike="noStrike">
                          <a:latin typeface="Times New Roman"/>
                          <a:ea typeface="Times New Roman"/>
                          <a:cs typeface="Times New Roman"/>
                          <a:sym typeface="Times New Roman"/>
                        </a:rPr>
                        <a:t>No </a:t>
                      </a:r>
                      <a:r>
                        <a:rPr lang="en-US">
                          <a:latin typeface="Times New Roman"/>
                          <a:ea typeface="Times New Roman"/>
                          <a:cs typeface="Times New Roman"/>
                          <a:sym typeface="Times New Roman"/>
                        </a:rPr>
                        <a:t>significant</a:t>
                      </a:r>
                      <a:r>
                        <a:rPr lang="en-US" sz="1400" u="none" cap="none" strike="noStrike">
                          <a:latin typeface="Times New Roman"/>
                          <a:ea typeface="Times New Roman"/>
                          <a:cs typeface="Times New Roman"/>
                          <a:sym typeface="Times New Roman"/>
                        </a:rPr>
                        <a:t> change</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30%</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15%</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r>
              <a:tr h="694050">
                <a:tc>
                  <a:txBody>
                    <a:bodyPr/>
                    <a:lstStyle/>
                    <a:p>
                      <a:pPr indent="0" lvl="0" marL="29845" marR="34290" rtl="0" algn="l">
                        <a:lnSpc>
                          <a:spcPct val="101000"/>
                        </a:lnSpc>
                        <a:spcBef>
                          <a:spcPts val="0"/>
                        </a:spcBef>
                        <a:spcAft>
                          <a:spcPts val="0"/>
                        </a:spcAft>
                        <a:buNone/>
                      </a:pPr>
                      <a:r>
                        <a:rPr lang="en-US" sz="1400" u="none" cap="none" strike="noStrike">
                          <a:latin typeface="Times New Roman"/>
                          <a:ea typeface="Times New Roman"/>
                          <a:cs typeface="Times New Roman"/>
                          <a:sym typeface="Times New Roman"/>
                        </a:rPr>
                        <a:t>Improvements in water management</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40%</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5%</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lang="en-US" sz="1400" u="none" cap="none" strike="noStrike">
                          <a:latin typeface="Times New Roman"/>
                          <a:ea typeface="Times New Roman"/>
                          <a:cs typeface="Times New Roman"/>
                          <a:sym typeface="Times New Roman"/>
                        </a:rPr>
                        <a:t>increase</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5%</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r>
              <a:tr h="691525">
                <a:tc>
                  <a:txBody>
                    <a:bodyPr/>
                    <a:lstStyle/>
                    <a:p>
                      <a:pPr indent="0" lvl="0" marL="29845" marR="323215" rtl="0" algn="l">
                        <a:lnSpc>
                          <a:spcPct val="101000"/>
                        </a:lnSpc>
                        <a:spcBef>
                          <a:spcPts val="0"/>
                        </a:spcBef>
                        <a:spcAft>
                          <a:spcPts val="0"/>
                        </a:spcAft>
                        <a:buNone/>
                      </a:pPr>
                      <a:r>
                        <a:rPr lang="en-US" sz="1400" u="none" cap="none" strike="noStrike">
                          <a:latin typeface="Times New Roman"/>
                          <a:ea typeface="Times New Roman"/>
                          <a:cs typeface="Times New Roman"/>
                          <a:sym typeface="Times New Roman"/>
                        </a:rPr>
                        <a:t>Climate adaptation strategies</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25%</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15"/>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255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10%</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15"/>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255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20%</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15"/>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255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r>
            </a:tbl>
          </a:graphicData>
        </a:graphic>
      </p:graphicFrame>
      <p:sp>
        <p:nvSpPr>
          <p:cNvPr id="70" name="Google Shape;70;p7"/>
          <p:cNvSpPr txBox="1"/>
          <p:nvPr/>
        </p:nvSpPr>
        <p:spPr>
          <a:xfrm>
            <a:off x="5055707" y="7582830"/>
            <a:ext cx="3215100" cy="3387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1" lang="en-US" sz="2100">
                <a:solidFill>
                  <a:srgbClr val="500000"/>
                </a:solidFill>
                <a:latin typeface="Times New Roman"/>
                <a:ea typeface="Times New Roman"/>
                <a:cs typeface="Times New Roman"/>
                <a:sym typeface="Times New Roman"/>
              </a:rPr>
              <a:t>FUTURE IMPLICATIONS</a:t>
            </a:r>
            <a:endParaRPr sz="2100">
              <a:latin typeface="Times New Roman"/>
              <a:ea typeface="Times New Roman"/>
              <a:cs typeface="Times New Roman"/>
              <a:sym typeface="Times New Roman"/>
            </a:endParaRPr>
          </a:p>
        </p:txBody>
      </p:sp>
      <p:grpSp>
        <p:nvGrpSpPr>
          <p:cNvPr id="71" name="Google Shape;71;p7"/>
          <p:cNvGrpSpPr/>
          <p:nvPr/>
        </p:nvGrpSpPr>
        <p:grpSpPr>
          <a:xfrm>
            <a:off x="108298" y="7462001"/>
            <a:ext cx="8379568" cy="5275681"/>
            <a:chOff x="108298" y="7462001"/>
            <a:chExt cx="8379568" cy="5275681"/>
          </a:xfrm>
        </p:grpSpPr>
        <p:sp>
          <p:nvSpPr>
            <p:cNvPr id="72" name="Google Shape;72;p7"/>
            <p:cNvSpPr/>
            <p:nvPr/>
          </p:nvSpPr>
          <p:spPr>
            <a:xfrm>
              <a:off x="4892496" y="7462001"/>
              <a:ext cx="3595370" cy="546100"/>
            </a:xfrm>
            <a:custGeom>
              <a:rect b="b" l="l" r="r" t="t"/>
              <a:pathLst>
                <a:path extrusionOk="0" h="546100" w="3595370">
                  <a:moveTo>
                    <a:pt x="0" y="545732"/>
                  </a:moveTo>
                  <a:lnTo>
                    <a:pt x="3595253" y="545732"/>
                  </a:lnTo>
                  <a:lnTo>
                    <a:pt x="3595253" y="0"/>
                  </a:lnTo>
                  <a:lnTo>
                    <a:pt x="0" y="0"/>
                  </a:lnTo>
                  <a:lnTo>
                    <a:pt x="0" y="545732"/>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73" name="Google Shape;73;p7"/>
            <p:cNvPicPr preferRelativeResize="0"/>
            <p:nvPr/>
          </p:nvPicPr>
          <p:blipFill rotWithShape="1">
            <a:blip r:embed="rId5">
              <a:alphaModFix/>
            </a:blip>
            <a:srcRect b="0" l="0" r="0" t="0"/>
            <a:stretch/>
          </p:blipFill>
          <p:spPr>
            <a:xfrm>
              <a:off x="108298" y="12146825"/>
              <a:ext cx="2158498" cy="590857"/>
            </a:xfrm>
            <a:prstGeom prst="rect">
              <a:avLst/>
            </a:prstGeom>
            <a:noFill/>
            <a:ln>
              <a:noFill/>
            </a:ln>
          </p:spPr>
        </p:pic>
      </p:grpSp>
      <p:sp>
        <p:nvSpPr>
          <p:cNvPr id="74" name="Google Shape;74;p7"/>
          <p:cNvSpPr txBox="1"/>
          <p:nvPr/>
        </p:nvSpPr>
        <p:spPr>
          <a:xfrm>
            <a:off x="4941103" y="8077687"/>
            <a:ext cx="3299400" cy="1535400"/>
          </a:xfrm>
          <a:prstGeom prst="rect">
            <a:avLst/>
          </a:prstGeom>
          <a:noFill/>
          <a:ln>
            <a:noFill/>
          </a:ln>
        </p:spPr>
        <p:txBody>
          <a:bodyPr anchorCtr="0" anchor="t" bIns="0" lIns="0" spcFirstLastPara="1" rIns="0" wrap="square" tIns="13950">
            <a:spAutoFit/>
          </a:bodyPr>
          <a:lstStyle/>
          <a:p>
            <a:pPr indent="-142875" lvl="0" marL="154940" marR="324485" rtl="0" algn="l">
              <a:lnSpc>
                <a:spcPct val="101000"/>
              </a:lnSpc>
              <a:spcBef>
                <a:spcPts val="0"/>
              </a:spcBef>
              <a:spcAft>
                <a:spcPts val="0"/>
              </a:spcAft>
              <a:buSzPts val="1400"/>
              <a:buFont typeface="Arial"/>
              <a:buChar char="•"/>
            </a:pPr>
            <a:r>
              <a:rPr lang="en-US">
                <a:latin typeface="Times New Roman"/>
                <a:ea typeface="Times New Roman"/>
                <a:cs typeface="Times New Roman"/>
                <a:sym typeface="Times New Roman"/>
              </a:rPr>
              <a:t>Use the model to identify leverage points: small changes for large improvements</a:t>
            </a:r>
            <a:endParaRPr>
              <a:latin typeface="Times New Roman"/>
              <a:ea typeface="Times New Roman"/>
              <a:cs typeface="Times New Roman"/>
              <a:sym typeface="Times New Roman"/>
            </a:endParaRPr>
          </a:p>
          <a:p>
            <a:pPr indent="-142875" lvl="0" marL="154940" marR="324485"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Shift to a ML focus to begin time-based modeling</a:t>
            </a:r>
            <a:endParaRPr>
              <a:latin typeface="Times New Roman"/>
              <a:ea typeface="Times New Roman"/>
              <a:cs typeface="Times New Roman"/>
              <a:sym typeface="Times New Roman"/>
            </a:endParaRPr>
          </a:p>
          <a:p>
            <a:pPr indent="-142875" lvl="0" marL="154940" marR="324485"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Agent-based simulation to capture cow-level behavior</a:t>
            </a:r>
            <a:endParaRPr>
              <a:latin typeface="Times New Roman"/>
              <a:ea typeface="Times New Roman"/>
              <a:cs typeface="Times New Roman"/>
              <a:sym typeface="Times New Roman"/>
            </a:endParaRPr>
          </a:p>
        </p:txBody>
      </p:sp>
      <p:grpSp>
        <p:nvGrpSpPr>
          <p:cNvPr id="75" name="Google Shape;75;p7"/>
          <p:cNvGrpSpPr/>
          <p:nvPr/>
        </p:nvGrpSpPr>
        <p:grpSpPr>
          <a:xfrm>
            <a:off x="19883" y="6543256"/>
            <a:ext cx="8306890" cy="6305986"/>
            <a:chOff x="19883" y="6543256"/>
            <a:chExt cx="8306890" cy="6305986"/>
          </a:xfrm>
        </p:grpSpPr>
        <p:pic>
          <p:nvPicPr>
            <p:cNvPr id="76" name="Google Shape;76;p7"/>
            <p:cNvPicPr preferRelativeResize="0"/>
            <p:nvPr/>
          </p:nvPicPr>
          <p:blipFill rotWithShape="1">
            <a:blip r:embed="rId6">
              <a:alphaModFix/>
            </a:blip>
            <a:srcRect b="0" l="0" r="0" t="0"/>
            <a:stretch/>
          </p:blipFill>
          <p:spPr>
            <a:xfrm>
              <a:off x="3516322" y="12046275"/>
              <a:ext cx="802967" cy="802967"/>
            </a:xfrm>
            <a:prstGeom prst="rect">
              <a:avLst/>
            </a:prstGeom>
            <a:noFill/>
            <a:ln>
              <a:noFill/>
            </a:ln>
          </p:spPr>
        </p:pic>
        <p:sp>
          <p:nvSpPr>
            <p:cNvPr id="77" name="Google Shape;77;p7"/>
            <p:cNvSpPr/>
            <p:nvPr/>
          </p:nvSpPr>
          <p:spPr>
            <a:xfrm>
              <a:off x="19883" y="7438666"/>
              <a:ext cx="4853940" cy="569595"/>
            </a:xfrm>
            <a:custGeom>
              <a:rect b="b" l="l" r="r" t="t"/>
              <a:pathLst>
                <a:path extrusionOk="0" h="569595" w="4853940">
                  <a:moveTo>
                    <a:pt x="0" y="569067"/>
                  </a:moveTo>
                  <a:lnTo>
                    <a:pt x="4853803" y="569067"/>
                  </a:lnTo>
                  <a:lnTo>
                    <a:pt x="4853803" y="0"/>
                  </a:lnTo>
                  <a:lnTo>
                    <a:pt x="0" y="0"/>
                  </a:lnTo>
                  <a:lnTo>
                    <a:pt x="0" y="569067"/>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8" name="Google Shape;78;p7"/>
            <p:cNvSpPr/>
            <p:nvPr/>
          </p:nvSpPr>
          <p:spPr>
            <a:xfrm>
              <a:off x="4669366" y="6543256"/>
              <a:ext cx="853439" cy="844550"/>
            </a:xfrm>
            <a:custGeom>
              <a:rect b="b" l="l" r="r" t="t"/>
              <a:pathLst>
                <a:path extrusionOk="0" h="844550" w="853439">
                  <a:moveTo>
                    <a:pt x="511577" y="0"/>
                  </a:moveTo>
                  <a:lnTo>
                    <a:pt x="0" y="481860"/>
                  </a:lnTo>
                  <a:lnTo>
                    <a:pt x="341450" y="844352"/>
                  </a:lnTo>
                  <a:lnTo>
                    <a:pt x="853028" y="362492"/>
                  </a:lnTo>
                  <a:lnTo>
                    <a:pt x="511577"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9" name="Google Shape;79;p7"/>
            <p:cNvSpPr/>
            <p:nvPr/>
          </p:nvSpPr>
          <p:spPr>
            <a:xfrm>
              <a:off x="4669366" y="6543256"/>
              <a:ext cx="853439" cy="844550"/>
            </a:xfrm>
            <a:custGeom>
              <a:rect b="b" l="l" r="r" t="t"/>
              <a:pathLst>
                <a:path extrusionOk="0" h="844550" w="853439">
                  <a:moveTo>
                    <a:pt x="0" y="481860"/>
                  </a:moveTo>
                  <a:lnTo>
                    <a:pt x="511577" y="0"/>
                  </a:lnTo>
                  <a:lnTo>
                    <a:pt x="853028" y="362492"/>
                  </a:lnTo>
                  <a:lnTo>
                    <a:pt x="341450" y="844352"/>
                  </a:lnTo>
                  <a:lnTo>
                    <a:pt x="0" y="481860"/>
                  </a:lnTo>
                  <a:close/>
                </a:path>
              </a:pathLst>
            </a:custGeom>
            <a:noFill/>
            <a:ln cap="flat" cmpd="sng" w="9525">
              <a:solidFill>
                <a:srgbClr val="172C5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0" name="Google Shape;80;p7"/>
            <p:cNvSpPr/>
            <p:nvPr/>
          </p:nvSpPr>
          <p:spPr>
            <a:xfrm>
              <a:off x="4907005" y="6812516"/>
              <a:ext cx="376554" cy="309879"/>
            </a:xfrm>
            <a:custGeom>
              <a:rect b="b" l="l" r="r" t="t"/>
              <a:pathLst>
                <a:path extrusionOk="0" h="309879" w="376554">
                  <a:moveTo>
                    <a:pt x="50671" y="255270"/>
                  </a:moveTo>
                  <a:lnTo>
                    <a:pt x="11517" y="255270"/>
                  </a:lnTo>
                  <a:lnTo>
                    <a:pt x="13811" y="256540"/>
                  </a:lnTo>
                  <a:lnTo>
                    <a:pt x="17601" y="257810"/>
                  </a:lnTo>
                  <a:lnTo>
                    <a:pt x="21789" y="259080"/>
                  </a:lnTo>
                  <a:lnTo>
                    <a:pt x="28770" y="262890"/>
                  </a:lnTo>
                  <a:lnTo>
                    <a:pt x="122160" y="309880"/>
                  </a:lnTo>
                  <a:lnTo>
                    <a:pt x="124453" y="308610"/>
                  </a:lnTo>
                  <a:lnTo>
                    <a:pt x="113804" y="284480"/>
                  </a:lnTo>
                  <a:lnTo>
                    <a:pt x="105955" y="284480"/>
                  </a:lnTo>
                  <a:lnTo>
                    <a:pt x="50671" y="255270"/>
                  </a:lnTo>
                  <a:close/>
                </a:path>
                <a:path extrusionOk="0" h="309879" w="376554">
                  <a:moveTo>
                    <a:pt x="94270" y="217170"/>
                  </a:moveTo>
                  <a:lnTo>
                    <a:pt x="54897" y="217170"/>
                  </a:lnTo>
                  <a:lnTo>
                    <a:pt x="58836" y="218440"/>
                  </a:lnTo>
                  <a:lnTo>
                    <a:pt x="61628" y="219710"/>
                  </a:lnTo>
                  <a:lnTo>
                    <a:pt x="64520" y="220980"/>
                  </a:lnTo>
                  <a:lnTo>
                    <a:pt x="71999" y="224790"/>
                  </a:lnTo>
                  <a:lnTo>
                    <a:pt x="81423" y="229870"/>
                  </a:lnTo>
                  <a:lnTo>
                    <a:pt x="105955" y="284480"/>
                  </a:lnTo>
                  <a:lnTo>
                    <a:pt x="113804" y="284480"/>
                  </a:lnTo>
                  <a:lnTo>
                    <a:pt x="91944" y="234950"/>
                  </a:lnTo>
                  <a:lnTo>
                    <a:pt x="128200" y="234950"/>
                  </a:lnTo>
                  <a:lnTo>
                    <a:pt x="94270" y="217170"/>
                  </a:lnTo>
                  <a:close/>
                </a:path>
                <a:path extrusionOk="0" h="309879" w="376554">
                  <a:moveTo>
                    <a:pt x="128200" y="234950"/>
                  </a:moveTo>
                  <a:lnTo>
                    <a:pt x="91944" y="234950"/>
                  </a:lnTo>
                  <a:lnTo>
                    <a:pt x="163744" y="271780"/>
                  </a:lnTo>
                  <a:lnTo>
                    <a:pt x="166287" y="269240"/>
                  </a:lnTo>
                  <a:lnTo>
                    <a:pt x="155477" y="245110"/>
                  </a:lnTo>
                  <a:lnTo>
                    <a:pt x="147589" y="245110"/>
                  </a:lnTo>
                  <a:lnTo>
                    <a:pt x="128200" y="234950"/>
                  </a:lnTo>
                  <a:close/>
                </a:path>
                <a:path extrusionOk="0" h="309879" w="376554">
                  <a:moveTo>
                    <a:pt x="32060" y="228600"/>
                  </a:moveTo>
                  <a:lnTo>
                    <a:pt x="0" y="259080"/>
                  </a:lnTo>
                  <a:lnTo>
                    <a:pt x="2243" y="260350"/>
                  </a:lnTo>
                  <a:lnTo>
                    <a:pt x="4736" y="259080"/>
                  </a:lnTo>
                  <a:lnTo>
                    <a:pt x="7080" y="256540"/>
                  </a:lnTo>
                  <a:lnTo>
                    <a:pt x="11517" y="255270"/>
                  </a:lnTo>
                  <a:lnTo>
                    <a:pt x="50671" y="255270"/>
                  </a:lnTo>
                  <a:lnTo>
                    <a:pt x="36249" y="247650"/>
                  </a:lnTo>
                  <a:lnTo>
                    <a:pt x="32110" y="245110"/>
                  </a:lnTo>
                  <a:lnTo>
                    <a:pt x="29318" y="242570"/>
                  </a:lnTo>
                  <a:lnTo>
                    <a:pt x="28770" y="241300"/>
                  </a:lnTo>
                  <a:lnTo>
                    <a:pt x="29019" y="238760"/>
                  </a:lnTo>
                  <a:lnTo>
                    <a:pt x="29218" y="236220"/>
                  </a:lnTo>
                  <a:lnTo>
                    <a:pt x="30465" y="234950"/>
                  </a:lnTo>
                  <a:lnTo>
                    <a:pt x="32709" y="232410"/>
                  </a:lnTo>
                  <a:lnTo>
                    <a:pt x="34254" y="231140"/>
                  </a:lnTo>
                  <a:lnTo>
                    <a:pt x="32060" y="228600"/>
                  </a:lnTo>
                  <a:close/>
                </a:path>
                <a:path extrusionOk="0" h="309879" w="376554">
                  <a:moveTo>
                    <a:pt x="120265" y="166370"/>
                  </a:moveTo>
                  <a:lnTo>
                    <a:pt x="109545" y="166370"/>
                  </a:lnTo>
                  <a:lnTo>
                    <a:pt x="110742" y="167640"/>
                  </a:lnTo>
                  <a:lnTo>
                    <a:pt x="113584" y="170180"/>
                  </a:lnTo>
                  <a:lnTo>
                    <a:pt x="119168" y="181610"/>
                  </a:lnTo>
                  <a:lnTo>
                    <a:pt x="147589" y="245110"/>
                  </a:lnTo>
                  <a:lnTo>
                    <a:pt x="155477" y="245110"/>
                  </a:lnTo>
                  <a:lnTo>
                    <a:pt x="124753" y="176530"/>
                  </a:lnTo>
                  <a:lnTo>
                    <a:pt x="121262" y="168910"/>
                  </a:lnTo>
                  <a:lnTo>
                    <a:pt x="120265" y="166370"/>
                  </a:lnTo>
                  <a:close/>
                </a:path>
                <a:path extrusionOk="0" h="309879" w="376554">
                  <a:moveTo>
                    <a:pt x="202486" y="154940"/>
                  </a:moveTo>
                  <a:lnTo>
                    <a:pt x="180946" y="154940"/>
                  </a:lnTo>
                  <a:lnTo>
                    <a:pt x="185633" y="158750"/>
                  </a:lnTo>
                  <a:lnTo>
                    <a:pt x="191118" y="163830"/>
                  </a:lnTo>
                  <a:lnTo>
                    <a:pt x="193312" y="166370"/>
                  </a:lnTo>
                  <a:lnTo>
                    <a:pt x="188807" y="175260"/>
                  </a:lnTo>
                  <a:lnTo>
                    <a:pt x="185172" y="184150"/>
                  </a:lnTo>
                  <a:lnTo>
                    <a:pt x="182416" y="190500"/>
                  </a:lnTo>
                  <a:lnTo>
                    <a:pt x="180547" y="196850"/>
                  </a:lnTo>
                  <a:lnTo>
                    <a:pt x="178603" y="203200"/>
                  </a:lnTo>
                  <a:lnTo>
                    <a:pt x="178266" y="207010"/>
                  </a:lnTo>
                  <a:lnTo>
                    <a:pt x="178154" y="208280"/>
                  </a:lnTo>
                  <a:lnTo>
                    <a:pt x="179151" y="213360"/>
                  </a:lnTo>
                  <a:lnTo>
                    <a:pt x="198398" y="229870"/>
                  </a:lnTo>
                  <a:lnTo>
                    <a:pt x="203633" y="229870"/>
                  </a:lnTo>
                  <a:lnTo>
                    <a:pt x="208270" y="227330"/>
                  </a:lnTo>
                  <a:lnTo>
                    <a:pt x="214902" y="222250"/>
                  </a:lnTo>
                  <a:lnTo>
                    <a:pt x="216847" y="218440"/>
                  </a:lnTo>
                  <a:lnTo>
                    <a:pt x="218455" y="214630"/>
                  </a:lnTo>
                  <a:lnTo>
                    <a:pt x="205727" y="214630"/>
                  </a:lnTo>
                  <a:lnTo>
                    <a:pt x="198298" y="213360"/>
                  </a:lnTo>
                  <a:lnTo>
                    <a:pt x="187478" y="196850"/>
                  </a:lnTo>
                  <a:lnTo>
                    <a:pt x="188027" y="193040"/>
                  </a:lnTo>
                  <a:lnTo>
                    <a:pt x="190520" y="185420"/>
                  </a:lnTo>
                  <a:lnTo>
                    <a:pt x="192963" y="179070"/>
                  </a:lnTo>
                  <a:lnTo>
                    <a:pt x="196952" y="170180"/>
                  </a:lnTo>
                  <a:lnTo>
                    <a:pt x="216510" y="170180"/>
                  </a:lnTo>
                  <a:lnTo>
                    <a:pt x="202486" y="154940"/>
                  </a:lnTo>
                  <a:close/>
                </a:path>
                <a:path extrusionOk="0" h="309879" w="376554">
                  <a:moveTo>
                    <a:pt x="74792" y="187960"/>
                  </a:moveTo>
                  <a:lnTo>
                    <a:pt x="41085" y="219710"/>
                  </a:lnTo>
                  <a:lnTo>
                    <a:pt x="43329" y="222250"/>
                  </a:lnTo>
                  <a:lnTo>
                    <a:pt x="45074" y="220980"/>
                  </a:lnTo>
                  <a:lnTo>
                    <a:pt x="46470" y="219710"/>
                  </a:lnTo>
                  <a:lnTo>
                    <a:pt x="48913" y="218440"/>
                  </a:lnTo>
                  <a:lnTo>
                    <a:pt x="50459" y="218440"/>
                  </a:lnTo>
                  <a:lnTo>
                    <a:pt x="53600" y="217170"/>
                  </a:lnTo>
                  <a:lnTo>
                    <a:pt x="94270" y="217170"/>
                  </a:lnTo>
                  <a:lnTo>
                    <a:pt x="79728" y="209550"/>
                  </a:lnTo>
                  <a:lnTo>
                    <a:pt x="75190" y="207010"/>
                  </a:lnTo>
                  <a:lnTo>
                    <a:pt x="71501" y="203200"/>
                  </a:lnTo>
                  <a:lnTo>
                    <a:pt x="70753" y="200660"/>
                  </a:lnTo>
                  <a:lnTo>
                    <a:pt x="71052" y="196850"/>
                  </a:lnTo>
                  <a:lnTo>
                    <a:pt x="72348" y="194310"/>
                  </a:lnTo>
                  <a:lnTo>
                    <a:pt x="74692" y="193040"/>
                  </a:lnTo>
                  <a:lnTo>
                    <a:pt x="76985" y="190500"/>
                  </a:lnTo>
                  <a:lnTo>
                    <a:pt x="74792" y="187960"/>
                  </a:lnTo>
                  <a:close/>
                </a:path>
                <a:path extrusionOk="0" h="309879" w="376554">
                  <a:moveTo>
                    <a:pt x="216510" y="170180"/>
                  </a:moveTo>
                  <a:lnTo>
                    <a:pt x="196952" y="170180"/>
                  </a:lnTo>
                  <a:lnTo>
                    <a:pt x="217944" y="193040"/>
                  </a:lnTo>
                  <a:lnTo>
                    <a:pt x="216647" y="201930"/>
                  </a:lnTo>
                  <a:lnTo>
                    <a:pt x="214403" y="208280"/>
                  </a:lnTo>
                  <a:lnTo>
                    <a:pt x="211212" y="210820"/>
                  </a:lnTo>
                  <a:lnTo>
                    <a:pt x="208819" y="213360"/>
                  </a:lnTo>
                  <a:lnTo>
                    <a:pt x="205727" y="214630"/>
                  </a:lnTo>
                  <a:lnTo>
                    <a:pt x="218455" y="214630"/>
                  </a:lnTo>
                  <a:lnTo>
                    <a:pt x="218991" y="213360"/>
                  </a:lnTo>
                  <a:lnTo>
                    <a:pt x="220237" y="207010"/>
                  </a:lnTo>
                  <a:lnTo>
                    <a:pt x="221833" y="196850"/>
                  </a:lnTo>
                  <a:lnTo>
                    <a:pt x="240992" y="196850"/>
                  </a:lnTo>
                  <a:lnTo>
                    <a:pt x="242076" y="195580"/>
                  </a:lnTo>
                  <a:lnTo>
                    <a:pt x="243622" y="187960"/>
                  </a:lnTo>
                  <a:lnTo>
                    <a:pt x="243466" y="186690"/>
                  </a:lnTo>
                  <a:lnTo>
                    <a:pt x="232553" y="186690"/>
                  </a:lnTo>
                  <a:lnTo>
                    <a:pt x="229761" y="184150"/>
                  </a:lnTo>
                  <a:lnTo>
                    <a:pt x="226420" y="180340"/>
                  </a:lnTo>
                  <a:lnTo>
                    <a:pt x="221184" y="175260"/>
                  </a:lnTo>
                  <a:lnTo>
                    <a:pt x="216510" y="170180"/>
                  </a:lnTo>
                  <a:close/>
                </a:path>
                <a:path extrusionOk="0" h="309879" w="376554">
                  <a:moveTo>
                    <a:pt x="240992" y="196850"/>
                  </a:moveTo>
                  <a:lnTo>
                    <a:pt x="221833" y="196850"/>
                  </a:lnTo>
                  <a:lnTo>
                    <a:pt x="225173" y="200660"/>
                  </a:lnTo>
                  <a:lnTo>
                    <a:pt x="228115" y="201930"/>
                  </a:lnTo>
                  <a:lnTo>
                    <a:pt x="233301" y="203200"/>
                  </a:lnTo>
                  <a:lnTo>
                    <a:pt x="235644" y="201930"/>
                  </a:lnTo>
                  <a:lnTo>
                    <a:pt x="237738" y="200660"/>
                  </a:lnTo>
                  <a:lnTo>
                    <a:pt x="240992" y="196850"/>
                  </a:lnTo>
                  <a:close/>
                </a:path>
                <a:path extrusionOk="0" h="309879" w="376554">
                  <a:moveTo>
                    <a:pt x="186930" y="143510"/>
                  </a:moveTo>
                  <a:lnTo>
                    <a:pt x="183140" y="143510"/>
                  </a:lnTo>
                  <a:lnTo>
                    <a:pt x="174464" y="146050"/>
                  </a:lnTo>
                  <a:lnTo>
                    <a:pt x="151877" y="179070"/>
                  </a:lnTo>
                  <a:lnTo>
                    <a:pt x="153174" y="185420"/>
                  </a:lnTo>
                  <a:lnTo>
                    <a:pt x="158409" y="190500"/>
                  </a:lnTo>
                  <a:lnTo>
                    <a:pt x="160354" y="191770"/>
                  </a:lnTo>
                  <a:lnTo>
                    <a:pt x="164442" y="191770"/>
                  </a:lnTo>
                  <a:lnTo>
                    <a:pt x="163844" y="175260"/>
                  </a:lnTo>
                  <a:lnTo>
                    <a:pt x="162099" y="172720"/>
                  </a:lnTo>
                  <a:lnTo>
                    <a:pt x="161351" y="170180"/>
                  </a:lnTo>
                  <a:lnTo>
                    <a:pt x="161476" y="168910"/>
                  </a:lnTo>
                  <a:lnTo>
                    <a:pt x="161600" y="167640"/>
                  </a:lnTo>
                  <a:lnTo>
                    <a:pt x="173168" y="154940"/>
                  </a:lnTo>
                  <a:lnTo>
                    <a:pt x="202486" y="154940"/>
                  </a:lnTo>
                  <a:lnTo>
                    <a:pt x="193262" y="146050"/>
                  </a:lnTo>
                  <a:lnTo>
                    <a:pt x="186930" y="143510"/>
                  </a:lnTo>
                  <a:close/>
                </a:path>
                <a:path extrusionOk="0" h="309879" w="376554">
                  <a:moveTo>
                    <a:pt x="239035" y="173990"/>
                  </a:moveTo>
                  <a:lnTo>
                    <a:pt x="238997" y="175260"/>
                  </a:lnTo>
                  <a:lnTo>
                    <a:pt x="238885" y="179070"/>
                  </a:lnTo>
                  <a:lnTo>
                    <a:pt x="238761" y="180340"/>
                  </a:lnTo>
                  <a:lnTo>
                    <a:pt x="238636" y="181610"/>
                  </a:lnTo>
                  <a:lnTo>
                    <a:pt x="238237" y="184150"/>
                  </a:lnTo>
                  <a:lnTo>
                    <a:pt x="237988" y="184150"/>
                  </a:lnTo>
                  <a:lnTo>
                    <a:pt x="237539" y="185420"/>
                  </a:lnTo>
                  <a:lnTo>
                    <a:pt x="236891" y="185420"/>
                  </a:lnTo>
                  <a:lnTo>
                    <a:pt x="236243" y="186690"/>
                  </a:lnTo>
                  <a:lnTo>
                    <a:pt x="243466" y="186690"/>
                  </a:lnTo>
                  <a:lnTo>
                    <a:pt x="242376" y="177800"/>
                  </a:lnTo>
                  <a:lnTo>
                    <a:pt x="239035" y="173990"/>
                  </a:lnTo>
                  <a:close/>
                </a:path>
                <a:path extrusionOk="0" h="309879" w="376554">
                  <a:moveTo>
                    <a:pt x="120614" y="144780"/>
                  </a:moveTo>
                  <a:lnTo>
                    <a:pt x="94736" y="168910"/>
                  </a:lnTo>
                  <a:lnTo>
                    <a:pt x="96980" y="171450"/>
                  </a:lnTo>
                  <a:lnTo>
                    <a:pt x="99573" y="168910"/>
                  </a:lnTo>
                  <a:lnTo>
                    <a:pt x="101966" y="167640"/>
                  </a:lnTo>
                  <a:lnTo>
                    <a:pt x="104110" y="166370"/>
                  </a:lnTo>
                  <a:lnTo>
                    <a:pt x="120265" y="166370"/>
                  </a:lnTo>
                  <a:lnTo>
                    <a:pt x="119268" y="163830"/>
                  </a:lnTo>
                  <a:lnTo>
                    <a:pt x="117922" y="158750"/>
                  </a:lnTo>
                  <a:lnTo>
                    <a:pt x="117822" y="156210"/>
                  </a:lnTo>
                  <a:lnTo>
                    <a:pt x="119118" y="151130"/>
                  </a:lnTo>
                  <a:lnTo>
                    <a:pt x="120564" y="149860"/>
                  </a:lnTo>
                  <a:lnTo>
                    <a:pt x="122808" y="147320"/>
                  </a:lnTo>
                  <a:lnTo>
                    <a:pt x="120614" y="144780"/>
                  </a:lnTo>
                  <a:close/>
                </a:path>
                <a:path extrusionOk="0" h="309879" w="376554">
                  <a:moveTo>
                    <a:pt x="230256" y="121920"/>
                  </a:moveTo>
                  <a:lnTo>
                    <a:pt x="210215" y="121920"/>
                  </a:lnTo>
                  <a:lnTo>
                    <a:pt x="247212" y="161290"/>
                  </a:lnTo>
                  <a:lnTo>
                    <a:pt x="251201" y="165100"/>
                  </a:lnTo>
                  <a:lnTo>
                    <a:pt x="254542" y="167640"/>
                  </a:lnTo>
                  <a:lnTo>
                    <a:pt x="260176" y="170180"/>
                  </a:lnTo>
                  <a:lnTo>
                    <a:pt x="265910" y="170180"/>
                  </a:lnTo>
                  <a:lnTo>
                    <a:pt x="278518" y="156210"/>
                  </a:lnTo>
                  <a:lnTo>
                    <a:pt x="262918" y="156210"/>
                  </a:lnTo>
                  <a:lnTo>
                    <a:pt x="259977" y="153670"/>
                  </a:lnTo>
                  <a:lnTo>
                    <a:pt x="230256" y="121920"/>
                  </a:lnTo>
                  <a:close/>
                </a:path>
                <a:path extrusionOk="0" h="309879" w="376554">
                  <a:moveTo>
                    <a:pt x="276082" y="139700"/>
                  </a:moveTo>
                  <a:lnTo>
                    <a:pt x="273589" y="142240"/>
                  </a:lnTo>
                  <a:lnTo>
                    <a:pt x="274436" y="144780"/>
                  </a:lnTo>
                  <a:lnTo>
                    <a:pt x="274536" y="146050"/>
                  </a:lnTo>
                  <a:lnTo>
                    <a:pt x="274636" y="147320"/>
                  </a:lnTo>
                  <a:lnTo>
                    <a:pt x="273639" y="151130"/>
                  </a:lnTo>
                  <a:lnTo>
                    <a:pt x="272691" y="152400"/>
                  </a:lnTo>
                  <a:lnTo>
                    <a:pt x="271295" y="153670"/>
                  </a:lnTo>
                  <a:lnTo>
                    <a:pt x="269600" y="156210"/>
                  </a:lnTo>
                  <a:lnTo>
                    <a:pt x="278518" y="156210"/>
                  </a:lnTo>
                  <a:lnTo>
                    <a:pt x="279373" y="151130"/>
                  </a:lnTo>
                  <a:lnTo>
                    <a:pt x="278525" y="146050"/>
                  </a:lnTo>
                  <a:lnTo>
                    <a:pt x="276082" y="139700"/>
                  </a:lnTo>
                  <a:close/>
                </a:path>
                <a:path extrusionOk="0" h="309879" w="376554">
                  <a:moveTo>
                    <a:pt x="275733" y="52070"/>
                  </a:moveTo>
                  <a:lnTo>
                    <a:pt x="250988" y="81280"/>
                  </a:lnTo>
                  <a:lnTo>
                    <a:pt x="250353" y="87630"/>
                  </a:lnTo>
                  <a:lnTo>
                    <a:pt x="251335" y="96520"/>
                  </a:lnTo>
                  <a:lnTo>
                    <a:pt x="278288" y="129540"/>
                  </a:lnTo>
                  <a:lnTo>
                    <a:pt x="292985" y="133350"/>
                  </a:lnTo>
                  <a:lnTo>
                    <a:pt x="300286" y="133350"/>
                  </a:lnTo>
                  <a:lnTo>
                    <a:pt x="307008" y="132080"/>
                  </a:lnTo>
                  <a:lnTo>
                    <a:pt x="313151" y="129540"/>
                  </a:lnTo>
                  <a:lnTo>
                    <a:pt x="318713" y="124460"/>
                  </a:lnTo>
                  <a:lnTo>
                    <a:pt x="325195" y="119380"/>
                  </a:lnTo>
                  <a:lnTo>
                    <a:pt x="325711" y="118110"/>
                  </a:lnTo>
                  <a:lnTo>
                    <a:pt x="300713" y="118110"/>
                  </a:lnTo>
                  <a:lnTo>
                    <a:pt x="291788" y="116840"/>
                  </a:lnTo>
                  <a:lnTo>
                    <a:pt x="285198" y="115570"/>
                  </a:lnTo>
                  <a:lnTo>
                    <a:pt x="278743" y="113030"/>
                  </a:lnTo>
                  <a:lnTo>
                    <a:pt x="272429" y="107950"/>
                  </a:lnTo>
                  <a:lnTo>
                    <a:pt x="266259" y="102870"/>
                  </a:lnTo>
                  <a:lnTo>
                    <a:pt x="270298" y="99060"/>
                  </a:lnTo>
                  <a:lnTo>
                    <a:pt x="262769" y="99060"/>
                  </a:lnTo>
                  <a:lnTo>
                    <a:pt x="258630" y="92710"/>
                  </a:lnTo>
                  <a:lnTo>
                    <a:pt x="256686" y="87630"/>
                  </a:lnTo>
                  <a:lnTo>
                    <a:pt x="256736" y="86360"/>
                  </a:lnTo>
                  <a:lnTo>
                    <a:pt x="256835" y="83820"/>
                  </a:lnTo>
                  <a:lnTo>
                    <a:pt x="256935" y="81280"/>
                  </a:lnTo>
                  <a:lnTo>
                    <a:pt x="257035" y="78740"/>
                  </a:lnTo>
                  <a:lnTo>
                    <a:pt x="257085" y="77470"/>
                  </a:lnTo>
                  <a:lnTo>
                    <a:pt x="258930" y="72390"/>
                  </a:lnTo>
                  <a:lnTo>
                    <a:pt x="264763" y="67310"/>
                  </a:lnTo>
                  <a:lnTo>
                    <a:pt x="267605" y="66040"/>
                  </a:lnTo>
                  <a:lnTo>
                    <a:pt x="270996" y="64770"/>
                  </a:lnTo>
                  <a:lnTo>
                    <a:pt x="306647" y="64770"/>
                  </a:lnTo>
                  <a:lnTo>
                    <a:pt x="299816" y="57150"/>
                  </a:lnTo>
                  <a:lnTo>
                    <a:pt x="292287" y="53340"/>
                  </a:lnTo>
                  <a:lnTo>
                    <a:pt x="275733" y="52070"/>
                  </a:lnTo>
                  <a:close/>
                </a:path>
                <a:path extrusionOk="0" h="309879" w="376554">
                  <a:moveTo>
                    <a:pt x="198448" y="88900"/>
                  </a:moveTo>
                  <a:lnTo>
                    <a:pt x="196453" y="90170"/>
                  </a:lnTo>
                  <a:lnTo>
                    <a:pt x="198747" y="96520"/>
                  </a:lnTo>
                  <a:lnTo>
                    <a:pt x="200193" y="100330"/>
                  </a:lnTo>
                  <a:lnTo>
                    <a:pt x="200741" y="102870"/>
                  </a:lnTo>
                  <a:lnTo>
                    <a:pt x="201689" y="107950"/>
                  </a:lnTo>
                  <a:lnTo>
                    <a:pt x="201838" y="110490"/>
                  </a:lnTo>
                  <a:lnTo>
                    <a:pt x="201913" y="111760"/>
                  </a:lnTo>
                  <a:lnTo>
                    <a:pt x="201988" y="113030"/>
                  </a:lnTo>
                  <a:lnTo>
                    <a:pt x="201755" y="115570"/>
                  </a:lnTo>
                  <a:lnTo>
                    <a:pt x="201639" y="116840"/>
                  </a:lnTo>
                  <a:lnTo>
                    <a:pt x="201340" y="121920"/>
                  </a:lnTo>
                  <a:lnTo>
                    <a:pt x="200442" y="125730"/>
                  </a:lnTo>
                  <a:lnTo>
                    <a:pt x="198946" y="128270"/>
                  </a:lnTo>
                  <a:lnTo>
                    <a:pt x="200941" y="130810"/>
                  </a:lnTo>
                  <a:lnTo>
                    <a:pt x="210215" y="121920"/>
                  </a:lnTo>
                  <a:lnTo>
                    <a:pt x="230256" y="121920"/>
                  </a:lnTo>
                  <a:lnTo>
                    <a:pt x="220736" y="111760"/>
                  </a:lnTo>
                  <a:lnTo>
                    <a:pt x="224834" y="107950"/>
                  </a:lnTo>
                  <a:lnTo>
                    <a:pt x="216498" y="107950"/>
                  </a:lnTo>
                  <a:lnTo>
                    <a:pt x="198448" y="88900"/>
                  </a:lnTo>
                  <a:close/>
                </a:path>
                <a:path extrusionOk="0" h="309879" w="376554">
                  <a:moveTo>
                    <a:pt x="320907" y="78740"/>
                  </a:moveTo>
                  <a:lnTo>
                    <a:pt x="317716" y="80010"/>
                  </a:lnTo>
                  <a:lnTo>
                    <a:pt x="320608" y="86360"/>
                  </a:lnTo>
                  <a:lnTo>
                    <a:pt x="321605" y="92710"/>
                  </a:lnTo>
                  <a:lnTo>
                    <a:pt x="300713" y="118110"/>
                  </a:lnTo>
                  <a:lnTo>
                    <a:pt x="325711" y="118110"/>
                  </a:lnTo>
                  <a:lnTo>
                    <a:pt x="328287" y="111760"/>
                  </a:lnTo>
                  <a:lnTo>
                    <a:pt x="328173" y="106680"/>
                  </a:lnTo>
                  <a:lnTo>
                    <a:pt x="328087" y="102870"/>
                  </a:lnTo>
                  <a:lnTo>
                    <a:pt x="328002" y="99060"/>
                  </a:lnTo>
                  <a:lnTo>
                    <a:pt x="327888" y="93980"/>
                  </a:lnTo>
                  <a:lnTo>
                    <a:pt x="325494" y="86360"/>
                  </a:lnTo>
                  <a:lnTo>
                    <a:pt x="320907" y="78740"/>
                  </a:lnTo>
                  <a:close/>
                </a:path>
                <a:path extrusionOk="0" h="309879" w="376554">
                  <a:moveTo>
                    <a:pt x="230160" y="95250"/>
                  </a:moveTo>
                  <a:lnTo>
                    <a:pt x="216498" y="107950"/>
                  </a:lnTo>
                  <a:lnTo>
                    <a:pt x="224834" y="107950"/>
                  </a:lnTo>
                  <a:lnTo>
                    <a:pt x="234398" y="99060"/>
                  </a:lnTo>
                  <a:lnTo>
                    <a:pt x="230160" y="95250"/>
                  </a:lnTo>
                  <a:close/>
                </a:path>
                <a:path extrusionOk="0" h="309879" w="376554">
                  <a:moveTo>
                    <a:pt x="306647" y="64770"/>
                  </a:moveTo>
                  <a:lnTo>
                    <a:pt x="277727" y="64770"/>
                  </a:lnTo>
                  <a:lnTo>
                    <a:pt x="283162" y="67310"/>
                  </a:lnTo>
                  <a:lnTo>
                    <a:pt x="286104" y="69850"/>
                  </a:lnTo>
                  <a:lnTo>
                    <a:pt x="289844" y="73660"/>
                  </a:lnTo>
                  <a:lnTo>
                    <a:pt x="262769" y="99060"/>
                  </a:lnTo>
                  <a:lnTo>
                    <a:pt x="270298" y="99060"/>
                  </a:lnTo>
                  <a:lnTo>
                    <a:pt x="306647" y="64770"/>
                  </a:lnTo>
                  <a:close/>
                </a:path>
                <a:path extrusionOk="0" h="309879" w="376554">
                  <a:moveTo>
                    <a:pt x="328895" y="38100"/>
                  </a:moveTo>
                  <a:lnTo>
                    <a:pt x="308193" y="38100"/>
                  </a:lnTo>
                  <a:lnTo>
                    <a:pt x="311184" y="40640"/>
                  </a:lnTo>
                  <a:lnTo>
                    <a:pt x="315123" y="44450"/>
                  </a:lnTo>
                  <a:lnTo>
                    <a:pt x="321506" y="52070"/>
                  </a:lnTo>
                  <a:lnTo>
                    <a:pt x="342846" y="73660"/>
                  </a:lnTo>
                  <a:lnTo>
                    <a:pt x="346087" y="77470"/>
                  </a:lnTo>
                  <a:lnTo>
                    <a:pt x="347882" y="80010"/>
                  </a:lnTo>
                  <a:lnTo>
                    <a:pt x="348381" y="80010"/>
                  </a:lnTo>
                  <a:lnTo>
                    <a:pt x="349328" y="82550"/>
                  </a:lnTo>
                  <a:lnTo>
                    <a:pt x="343893" y="93980"/>
                  </a:lnTo>
                  <a:lnTo>
                    <a:pt x="346037" y="95250"/>
                  </a:lnTo>
                  <a:lnTo>
                    <a:pt x="371875" y="71120"/>
                  </a:lnTo>
                  <a:lnTo>
                    <a:pt x="364536" y="71120"/>
                  </a:lnTo>
                  <a:lnTo>
                    <a:pt x="362691" y="69850"/>
                  </a:lnTo>
                  <a:lnTo>
                    <a:pt x="361046" y="69850"/>
                  </a:lnTo>
                  <a:lnTo>
                    <a:pt x="358652" y="68580"/>
                  </a:lnTo>
                  <a:lnTo>
                    <a:pt x="355960" y="67310"/>
                  </a:lnTo>
                  <a:lnTo>
                    <a:pt x="328895" y="38100"/>
                  </a:lnTo>
                  <a:close/>
                </a:path>
                <a:path extrusionOk="0" h="309879" w="376554">
                  <a:moveTo>
                    <a:pt x="373810" y="64770"/>
                  </a:moveTo>
                  <a:lnTo>
                    <a:pt x="371167" y="67310"/>
                  </a:lnTo>
                  <a:lnTo>
                    <a:pt x="368774" y="69850"/>
                  </a:lnTo>
                  <a:lnTo>
                    <a:pt x="366680" y="69850"/>
                  </a:lnTo>
                  <a:lnTo>
                    <a:pt x="364536" y="71120"/>
                  </a:lnTo>
                  <a:lnTo>
                    <a:pt x="371875" y="71120"/>
                  </a:lnTo>
                  <a:lnTo>
                    <a:pt x="375954" y="67310"/>
                  </a:lnTo>
                  <a:lnTo>
                    <a:pt x="373810" y="64770"/>
                  </a:lnTo>
                  <a:close/>
                </a:path>
                <a:path extrusionOk="0" h="309879" w="376554">
                  <a:moveTo>
                    <a:pt x="309090" y="16510"/>
                  </a:moveTo>
                  <a:lnTo>
                    <a:pt x="306398" y="19050"/>
                  </a:lnTo>
                  <a:lnTo>
                    <a:pt x="295478" y="43180"/>
                  </a:lnTo>
                  <a:lnTo>
                    <a:pt x="298270" y="45720"/>
                  </a:lnTo>
                  <a:lnTo>
                    <a:pt x="299317" y="43180"/>
                  </a:lnTo>
                  <a:lnTo>
                    <a:pt x="300514" y="40640"/>
                  </a:lnTo>
                  <a:lnTo>
                    <a:pt x="302957" y="39370"/>
                  </a:lnTo>
                  <a:lnTo>
                    <a:pt x="304154" y="38100"/>
                  </a:lnTo>
                  <a:lnTo>
                    <a:pt x="328895" y="38100"/>
                  </a:lnTo>
                  <a:lnTo>
                    <a:pt x="326542" y="35560"/>
                  </a:lnTo>
                  <a:lnTo>
                    <a:pt x="325145" y="30480"/>
                  </a:lnTo>
                  <a:lnTo>
                    <a:pt x="321456" y="30480"/>
                  </a:lnTo>
                  <a:lnTo>
                    <a:pt x="309090" y="16510"/>
                  </a:lnTo>
                  <a:close/>
                </a:path>
                <a:path extrusionOk="0" h="309879" w="376554">
                  <a:moveTo>
                    <a:pt x="337162" y="0"/>
                  </a:moveTo>
                  <a:lnTo>
                    <a:pt x="329084" y="0"/>
                  </a:lnTo>
                  <a:lnTo>
                    <a:pt x="326492" y="1270"/>
                  </a:lnTo>
                  <a:lnTo>
                    <a:pt x="324148" y="2540"/>
                  </a:lnTo>
                  <a:lnTo>
                    <a:pt x="321091" y="7620"/>
                  </a:lnTo>
                  <a:lnTo>
                    <a:pt x="319623" y="13970"/>
                  </a:lnTo>
                  <a:lnTo>
                    <a:pt x="319745" y="21590"/>
                  </a:lnTo>
                  <a:lnTo>
                    <a:pt x="321456" y="30480"/>
                  </a:lnTo>
                  <a:lnTo>
                    <a:pt x="325145" y="30480"/>
                  </a:lnTo>
                  <a:lnTo>
                    <a:pt x="324796" y="29210"/>
                  </a:lnTo>
                  <a:lnTo>
                    <a:pt x="324098" y="25400"/>
                  </a:lnTo>
                  <a:lnTo>
                    <a:pt x="324360" y="21590"/>
                  </a:lnTo>
                  <a:lnTo>
                    <a:pt x="324447" y="20320"/>
                  </a:lnTo>
                  <a:lnTo>
                    <a:pt x="324846" y="19050"/>
                  </a:lnTo>
                  <a:lnTo>
                    <a:pt x="325644" y="17780"/>
                  </a:lnTo>
                  <a:lnTo>
                    <a:pt x="326542" y="16510"/>
                  </a:lnTo>
                  <a:lnTo>
                    <a:pt x="335068" y="16510"/>
                  </a:lnTo>
                  <a:lnTo>
                    <a:pt x="337411" y="15240"/>
                  </a:lnTo>
                  <a:lnTo>
                    <a:pt x="340453" y="12700"/>
                  </a:lnTo>
                  <a:lnTo>
                    <a:pt x="341201" y="10160"/>
                  </a:lnTo>
                  <a:lnTo>
                    <a:pt x="341251" y="6350"/>
                  </a:lnTo>
                  <a:lnTo>
                    <a:pt x="340503" y="3810"/>
                  </a:lnTo>
                  <a:lnTo>
                    <a:pt x="338907" y="2540"/>
                  </a:lnTo>
                  <a:lnTo>
                    <a:pt x="33716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1" name="Google Shape;81;p7"/>
            <p:cNvSpPr/>
            <p:nvPr/>
          </p:nvSpPr>
          <p:spPr>
            <a:xfrm>
              <a:off x="7464444" y="6589777"/>
              <a:ext cx="862329" cy="805179"/>
            </a:xfrm>
            <a:custGeom>
              <a:rect b="b" l="l" r="r" t="t"/>
              <a:pathLst>
                <a:path extrusionOk="0" h="805179" w="862329">
                  <a:moveTo>
                    <a:pt x="276281" y="0"/>
                  </a:moveTo>
                  <a:lnTo>
                    <a:pt x="0" y="415544"/>
                  </a:lnTo>
                  <a:lnTo>
                    <a:pt x="585920" y="805111"/>
                  </a:lnTo>
                  <a:lnTo>
                    <a:pt x="862202" y="389566"/>
                  </a:lnTo>
                  <a:lnTo>
                    <a:pt x="276281" y="0"/>
                  </a:lnTo>
                  <a:close/>
                </a:path>
              </a:pathLst>
            </a:custGeom>
            <a:solidFill>
              <a:srgbClr val="6FAC4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 name="Google Shape;82;p7"/>
            <p:cNvSpPr/>
            <p:nvPr/>
          </p:nvSpPr>
          <p:spPr>
            <a:xfrm>
              <a:off x="7464444" y="6589777"/>
              <a:ext cx="862329" cy="805179"/>
            </a:xfrm>
            <a:custGeom>
              <a:rect b="b" l="l" r="r" t="t"/>
              <a:pathLst>
                <a:path extrusionOk="0" h="805179" w="862329">
                  <a:moveTo>
                    <a:pt x="276281" y="0"/>
                  </a:moveTo>
                  <a:lnTo>
                    <a:pt x="862202" y="389566"/>
                  </a:lnTo>
                  <a:lnTo>
                    <a:pt x="585920" y="805111"/>
                  </a:lnTo>
                  <a:lnTo>
                    <a:pt x="0" y="415544"/>
                  </a:lnTo>
                  <a:lnTo>
                    <a:pt x="276281" y="0"/>
                  </a:lnTo>
                  <a:close/>
                </a:path>
              </a:pathLst>
            </a:custGeom>
            <a:noFill/>
            <a:ln cap="flat" cmpd="sng" w="9525">
              <a:solidFill>
                <a:srgbClr val="172C5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3" name="Google Shape;83;p7"/>
            <p:cNvSpPr/>
            <p:nvPr/>
          </p:nvSpPr>
          <p:spPr>
            <a:xfrm>
              <a:off x="7707768" y="6848697"/>
              <a:ext cx="363854" cy="294640"/>
            </a:xfrm>
            <a:custGeom>
              <a:rect b="b" l="l" r="r" t="t"/>
              <a:pathLst>
                <a:path extrusionOk="0" h="294640" w="363854">
                  <a:moveTo>
                    <a:pt x="305131" y="278130"/>
                  </a:moveTo>
                  <a:lnTo>
                    <a:pt x="287151" y="278130"/>
                  </a:lnTo>
                  <a:lnTo>
                    <a:pt x="280819" y="288290"/>
                  </a:lnTo>
                  <a:lnTo>
                    <a:pt x="284159" y="290830"/>
                  </a:lnTo>
                  <a:lnTo>
                    <a:pt x="309489" y="294640"/>
                  </a:lnTo>
                  <a:lnTo>
                    <a:pt x="310386" y="292100"/>
                  </a:lnTo>
                  <a:lnTo>
                    <a:pt x="307644" y="292100"/>
                  </a:lnTo>
                  <a:lnTo>
                    <a:pt x="305650" y="290830"/>
                  </a:lnTo>
                  <a:lnTo>
                    <a:pt x="304303" y="289560"/>
                  </a:lnTo>
                  <a:lnTo>
                    <a:pt x="303256" y="289560"/>
                  </a:lnTo>
                  <a:lnTo>
                    <a:pt x="302558" y="288290"/>
                  </a:lnTo>
                  <a:lnTo>
                    <a:pt x="301860" y="285750"/>
                  </a:lnTo>
                  <a:lnTo>
                    <a:pt x="302060" y="284480"/>
                  </a:lnTo>
                  <a:lnTo>
                    <a:pt x="302857" y="281940"/>
                  </a:lnTo>
                  <a:lnTo>
                    <a:pt x="305131" y="278130"/>
                  </a:lnTo>
                  <a:close/>
                </a:path>
                <a:path extrusionOk="0" h="294640" w="363854">
                  <a:moveTo>
                    <a:pt x="298463" y="201930"/>
                  </a:moveTo>
                  <a:lnTo>
                    <a:pt x="290485" y="201930"/>
                  </a:lnTo>
                  <a:lnTo>
                    <a:pt x="282165" y="204470"/>
                  </a:lnTo>
                  <a:lnTo>
                    <a:pt x="251581" y="231140"/>
                  </a:lnTo>
                  <a:lnTo>
                    <a:pt x="247842" y="246380"/>
                  </a:lnTo>
                  <a:lnTo>
                    <a:pt x="248159" y="252730"/>
                  </a:lnTo>
                  <a:lnTo>
                    <a:pt x="264763" y="276860"/>
                  </a:lnTo>
                  <a:lnTo>
                    <a:pt x="268653" y="279400"/>
                  </a:lnTo>
                  <a:lnTo>
                    <a:pt x="272741" y="279400"/>
                  </a:lnTo>
                  <a:lnTo>
                    <a:pt x="276830" y="280670"/>
                  </a:lnTo>
                  <a:lnTo>
                    <a:pt x="281666" y="279400"/>
                  </a:lnTo>
                  <a:lnTo>
                    <a:pt x="287151" y="278130"/>
                  </a:lnTo>
                  <a:lnTo>
                    <a:pt x="305131" y="278130"/>
                  </a:lnTo>
                  <a:lnTo>
                    <a:pt x="306647" y="275590"/>
                  </a:lnTo>
                  <a:lnTo>
                    <a:pt x="283511" y="275590"/>
                  </a:lnTo>
                  <a:lnTo>
                    <a:pt x="277727" y="274320"/>
                  </a:lnTo>
                  <a:lnTo>
                    <a:pt x="268054" y="267970"/>
                  </a:lnTo>
                  <a:lnTo>
                    <a:pt x="265013" y="261620"/>
                  </a:lnTo>
                  <a:lnTo>
                    <a:pt x="264215" y="254000"/>
                  </a:lnTo>
                  <a:lnTo>
                    <a:pt x="264301" y="247650"/>
                  </a:lnTo>
                  <a:lnTo>
                    <a:pt x="288491" y="212090"/>
                  </a:lnTo>
                  <a:lnTo>
                    <a:pt x="300115" y="208280"/>
                  </a:lnTo>
                  <a:lnTo>
                    <a:pt x="315339" y="208280"/>
                  </a:lnTo>
                  <a:lnTo>
                    <a:pt x="313378" y="207010"/>
                  </a:lnTo>
                  <a:lnTo>
                    <a:pt x="306096" y="203200"/>
                  </a:lnTo>
                  <a:lnTo>
                    <a:pt x="298463" y="201930"/>
                  </a:lnTo>
                  <a:close/>
                </a:path>
                <a:path extrusionOk="0" h="294640" w="363854">
                  <a:moveTo>
                    <a:pt x="315339" y="208280"/>
                  </a:moveTo>
                  <a:lnTo>
                    <a:pt x="305201" y="208280"/>
                  </a:lnTo>
                  <a:lnTo>
                    <a:pt x="309489" y="210820"/>
                  </a:lnTo>
                  <a:lnTo>
                    <a:pt x="311783" y="213360"/>
                  </a:lnTo>
                  <a:lnTo>
                    <a:pt x="313677" y="214630"/>
                  </a:lnTo>
                  <a:lnTo>
                    <a:pt x="316669" y="220980"/>
                  </a:lnTo>
                  <a:lnTo>
                    <a:pt x="317217" y="224790"/>
                  </a:lnTo>
                  <a:lnTo>
                    <a:pt x="316636" y="231140"/>
                  </a:lnTo>
                  <a:lnTo>
                    <a:pt x="316519" y="232410"/>
                  </a:lnTo>
                  <a:lnTo>
                    <a:pt x="315373" y="234950"/>
                  </a:lnTo>
                  <a:lnTo>
                    <a:pt x="313478" y="238760"/>
                  </a:lnTo>
                  <a:lnTo>
                    <a:pt x="290592" y="273050"/>
                  </a:lnTo>
                  <a:lnTo>
                    <a:pt x="283511" y="275590"/>
                  </a:lnTo>
                  <a:lnTo>
                    <a:pt x="306647" y="275590"/>
                  </a:lnTo>
                  <a:lnTo>
                    <a:pt x="311832" y="267970"/>
                  </a:lnTo>
                  <a:lnTo>
                    <a:pt x="342171" y="222250"/>
                  </a:lnTo>
                  <a:lnTo>
                    <a:pt x="324248" y="222250"/>
                  </a:lnTo>
                  <a:lnTo>
                    <a:pt x="322902" y="215900"/>
                  </a:lnTo>
                  <a:lnTo>
                    <a:pt x="319262" y="210820"/>
                  </a:lnTo>
                  <a:lnTo>
                    <a:pt x="315339" y="208280"/>
                  </a:lnTo>
                  <a:close/>
                </a:path>
                <a:path extrusionOk="0" h="294640" w="363854">
                  <a:moveTo>
                    <a:pt x="213157" y="151130"/>
                  </a:moveTo>
                  <a:lnTo>
                    <a:pt x="178746" y="179070"/>
                  </a:lnTo>
                  <a:lnTo>
                    <a:pt x="174764" y="200660"/>
                  </a:lnTo>
                  <a:lnTo>
                    <a:pt x="176100" y="208280"/>
                  </a:lnTo>
                  <a:lnTo>
                    <a:pt x="203583" y="234950"/>
                  </a:lnTo>
                  <a:lnTo>
                    <a:pt x="217794" y="234950"/>
                  </a:lnTo>
                  <a:lnTo>
                    <a:pt x="224824" y="232410"/>
                  </a:lnTo>
                  <a:lnTo>
                    <a:pt x="231755" y="228600"/>
                  </a:lnTo>
                  <a:lnTo>
                    <a:pt x="202038" y="228600"/>
                  </a:lnTo>
                  <a:lnTo>
                    <a:pt x="191018" y="220980"/>
                  </a:lnTo>
                  <a:lnTo>
                    <a:pt x="188276" y="214630"/>
                  </a:lnTo>
                  <a:lnTo>
                    <a:pt x="189074" y="204470"/>
                  </a:lnTo>
                  <a:lnTo>
                    <a:pt x="190234" y="196850"/>
                  </a:lnTo>
                  <a:lnTo>
                    <a:pt x="212259" y="162560"/>
                  </a:lnTo>
                  <a:lnTo>
                    <a:pt x="216448" y="158750"/>
                  </a:lnTo>
                  <a:lnTo>
                    <a:pt x="220337" y="157480"/>
                  </a:lnTo>
                  <a:lnTo>
                    <a:pt x="238686" y="157480"/>
                  </a:lnTo>
                  <a:lnTo>
                    <a:pt x="233151" y="153670"/>
                  </a:lnTo>
                  <a:lnTo>
                    <a:pt x="226919" y="152400"/>
                  </a:lnTo>
                  <a:lnTo>
                    <a:pt x="213157" y="151130"/>
                  </a:lnTo>
                  <a:close/>
                </a:path>
                <a:path extrusionOk="0" h="294640" w="363854">
                  <a:moveTo>
                    <a:pt x="238686" y="157480"/>
                  </a:moveTo>
                  <a:lnTo>
                    <a:pt x="220337" y="157480"/>
                  </a:lnTo>
                  <a:lnTo>
                    <a:pt x="227567" y="158750"/>
                  </a:lnTo>
                  <a:lnTo>
                    <a:pt x="230658" y="160020"/>
                  </a:lnTo>
                  <a:lnTo>
                    <a:pt x="233251" y="161290"/>
                  </a:lnTo>
                  <a:lnTo>
                    <a:pt x="238586" y="165100"/>
                  </a:lnTo>
                  <a:lnTo>
                    <a:pt x="241478" y="170180"/>
                  </a:lnTo>
                  <a:lnTo>
                    <a:pt x="241548" y="171450"/>
                  </a:lnTo>
                  <a:lnTo>
                    <a:pt x="241618" y="172720"/>
                  </a:lnTo>
                  <a:lnTo>
                    <a:pt x="230858" y="209550"/>
                  </a:lnTo>
                  <a:lnTo>
                    <a:pt x="207223" y="228600"/>
                  </a:lnTo>
                  <a:lnTo>
                    <a:pt x="231755" y="228600"/>
                  </a:lnTo>
                  <a:lnTo>
                    <a:pt x="255410" y="193040"/>
                  </a:lnTo>
                  <a:lnTo>
                    <a:pt x="255389" y="185420"/>
                  </a:lnTo>
                  <a:lnTo>
                    <a:pt x="253761" y="177800"/>
                  </a:lnTo>
                  <a:lnTo>
                    <a:pt x="250441" y="170180"/>
                  </a:lnTo>
                  <a:lnTo>
                    <a:pt x="245419" y="163830"/>
                  </a:lnTo>
                  <a:lnTo>
                    <a:pt x="238686" y="157480"/>
                  </a:lnTo>
                  <a:close/>
                </a:path>
                <a:path extrusionOk="0" h="294640" w="363854">
                  <a:moveTo>
                    <a:pt x="334569" y="182880"/>
                  </a:moveTo>
                  <a:lnTo>
                    <a:pt x="333821" y="186690"/>
                  </a:lnTo>
                  <a:lnTo>
                    <a:pt x="336464" y="186690"/>
                  </a:lnTo>
                  <a:lnTo>
                    <a:pt x="338359" y="187960"/>
                  </a:lnTo>
                  <a:lnTo>
                    <a:pt x="339655" y="187960"/>
                  </a:lnTo>
                  <a:lnTo>
                    <a:pt x="340802" y="189230"/>
                  </a:lnTo>
                  <a:lnTo>
                    <a:pt x="341550" y="190500"/>
                  </a:lnTo>
                  <a:lnTo>
                    <a:pt x="341949" y="191770"/>
                  </a:lnTo>
                  <a:lnTo>
                    <a:pt x="342298" y="193040"/>
                  </a:lnTo>
                  <a:lnTo>
                    <a:pt x="342048" y="194310"/>
                  </a:lnTo>
                  <a:lnTo>
                    <a:pt x="340453" y="198120"/>
                  </a:lnTo>
                  <a:lnTo>
                    <a:pt x="337511" y="203200"/>
                  </a:lnTo>
                  <a:lnTo>
                    <a:pt x="332425" y="210820"/>
                  </a:lnTo>
                  <a:lnTo>
                    <a:pt x="324248" y="222250"/>
                  </a:lnTo>
                  <a:lnTo>
                    <a:pt x="342171" y="222250"/>
                  </a:lnTo>
                  <a:lnTo>
                    <a:pt x="363240" y="190500"/>
                  </a:lnTo>
                  <a:lnTo>
                    <a:pt x="359949" y="187960"/>
                  </a:lnTo>
                  <a:lnTo>
                    <a:pt x="334569" y="182880"/>
                  </a:lnTo>
                  <a:close/>
                </a:path>
                <a:path extrusionOk="0" h="294640" w="363854">
                  <a:moveTo>
                    <a:pt x="138415" y="101600"/>
                  </a:moveTo>
                  <a:lnTo>
                    <a:pt x="104004" y="129540"/>
                  </a:lnTo>
                  <a:lnTo>
                    <a:pt x="100021" y="149860"/>
                  </a:lnTo>
                  <a:lnTo>
                    <a:pt x="101358" y="158750"/>
                  </a:lnTo>
                  <a:lnTo>
                    <a:pt x="135922" y="185420"/>
                  </a:lnTo>
                  <a:lnTo>
                    <a:pt x="143052" y="185420"/>
                  </a:lnTo>
                  <a:lnTo>
                    <a:pt x="150082" y="182880"/>
                  </a:lnTo>
                  <a:lnTo>
                    <a:pt x="157038" y="179070"/>
                  </a:lnTo>
                  <a:lnTo>
                    <a:pt x="127296" y="179070"/>
                  </a:lnTo>
                  <a:lnTo>
                    <a:pt x="122609" y="175260"/>
                  </a:lnTo>
                  <a:lnTo>
                    <a:pt x="116276" y="171450"/>
                  </a:lnTo>
                  <a:lnTo>
                    <a:pt x="113534" y="163830"/>
                  </a:lnTo>
                  <a:lnTo>
                    <a:pt x="114332" y="154940"/>
                  </a:lnTo>
                  <a:lnTo>
                    <a:pt x="129290" y="119380"/>
                  </a:lnTo>
                  <a:lnTo>
                    <a:pt x="145595" y="107950"/>
                  </a:lnTo>
                  <a:lnTo>
                    <a:pt x="163944" y="107950"/>
                  </a:lnTo>
                  <a:lnTo>
                    <a:pt x="158409" y="104140"/>
                  </a:lnTo>
                  <a:lnTo>
                    <a:pt x="152176" y="102870"/>
                  </a:lnTo>
                  <a:lnTo>
                    <a:pt x="138415" y="101600"/>
                  </a:lnTo>
                  <a:close/>
                </a:path>
                <a:path extrusionOk="0" h="294640" w="363854">
                  <a:moveTo>
                    <a:pt x="163944" y="107950"/>
                  </a:moveTo>
                  <a:lnTo>
                    <a:pt x="145595" y="107950"/>
                  </a:lnTo>
                  <a:lnTo>
                    <a:pt x="152825" y="109220"/>
                  </a:lnTo>
                  <a:lnTo>
                    <a:pt x="155966" y="109220"/>
                  </a:lnTo>
                  <a:lnTo>
                    <a:pt x="158509" y="111760"/>
                  </a:lnTo>
                  <a:lnTo>
                    <a:pt x="163894" y="115570"/>
                  </a:lnTo>
                  <a:lnTo>
                    <a:pt x="166736" y="120650"/>
                  </a:lnTo>
                  <a:lnTo>
                    <a:pt x="166806" y="121920"/>
                  </a:lnTo>
                  <a:lnTo>
                    <a:pt x="166875" y="123190"/>
                  </a:lnTo>
                  <a:lnTo>
                    <a:pt x="166960" y="129540"/>
                  </a:lnTo>
                  <a:lnTo>
                    <a:pt x="166773" y="133350"/>
                  </a:lnTo>
                  <a:lnTo>
                    <a:pt x="166710" y="134620"/>
                  </a:lnTo>
                  <a:lnTo>
                    <a:pt x="149783" y="170180"/>
                  </a:lnTo>
                  <a:lnTo>
                    <a:pt x="132481" y="179070"/>
                  </a:lnTo>
                  <a:lnTo>
                    <a:pt x="157038" y="179070"/>
                  </a:lnTo>
                  <a:lnTo>
                    <a:pt x="180667" y="143510"/>
                  </a:lnTo>
                  <a:lnTo>
                    <a:pt x="180647" y="135890"/>
                  </a:lnTo>
                  <a:lnTo>
                    <a:pt x="179040" y="127000"/>
                  </a:lnTo>
                  <a:lnTo>
                    <a:pt x="175717" y="120650"/>
                  </a:lnTo>
                  <a:lnTo>
                    <a:pt x="170684" y="114300"/>
                  </a:lnTo>
                  <a:lnTo>
                    <a:pt x="163944" y="107950"/>
                  </a:lnTo>
                  <a:close/>
                </a:path>
                <a:path extrusionOk="0" h="294640" w="363854">
                  <a:moveTo>
                    <a:pt x="1795" y="95250"/>
                  </a:moveTo>
                  <a:lnTo>
                    <a:pt x="0" y="97790"/>
                  </a:lnTo>
                  <a:lnTo>
                    <a:pt x="42481" y="127000"/>
                  </a:lnTo>
                  <a:lnTo>
                    <a:pt x="44276" y="124460"/>
                  </a:lnTo>
                  <a:lnTo>
                    <a:pt x="40686" y="121920"/>
                  </a:lnTo>
                  <a:lnTo>
                    <a:pt x="38393" y="119380"/>
                  </a:lnTo>
                  <a:lnTo>
                    <a:pt x="36498" y="118110"/>
                  </a:lnTo>
                  <a:lnTo>
                    <a:pt x="34155" y="113030"/>
                  </a:lnTo>
                  <a:lnTo>
                    <a:pt x="33855" y="111760"/>
                  </a:lnTo>
                  <a:lnTo>
                    <a:pt x="34155" y="110490"/>
                  </a:lnTo>
                  <a:lnTo>
                    <a:pt x="34603" y="107950"/>
                  </a:lnTo>
                  <a:lnTo>
                    <a:pt x="36498" y="104140"/>
                  </a:lnTo>
                  <a:lnTo>
                    <a:pt x="38211" y="101600"/>
                  </a:lnTo>
                  <a:lnTo>
                    <a:pt x="13163" y="101600"/>
                  </a:lnTo>
                  <a:lnTo>
                    <a:pt x="9373" y="100330"/>
                  </a:lnTo>
                  <a:lnTo>
                    <a:pt x="5285" y="97790"/>
                  </a:lnTo>
                  <a:lnTo>
                    <a:pt x="1795" y="95250"/>
                  </a:lnTo>
                  <a:close/>
                </a:path>
                <a:path extrusionOk="0" h="294640" w="363854">
                  <a:moveTo>
                    <a:pt x="73765" y="68580"/>
                  </a:moveTo>
                  <a:lnTo>
                    <a:pt x="60481" y="68580"/>
                  </a:lnTo>
                  <a:lnTo>
                    <a:pt x="81822" y="82550"/>
                  </a:lnTo>
                  <a:lnTo>
                    <a:pt x="84016" y="85090"/>
                  </a:lnTo>
                  <a:lnTo>
                    <a:pt x="86210" y="88900"/>
                  </a:lnTo>
                  <a:lnTo>
                    <a:pt x="86609" y="91440"/>
                  </a:lnTo>
                  <a:lnTo>
                    <a:pt x="86235" y="95250"/>
                  </a:lnTo>
                  <a:lnTo>
                    <a:pt x="86110" y="96520"/>
                  </a:lnTo>
                  <a:lnTo>
                    <a:pt x="84714" y="99060"/>
                  </a:lnTo>
                  <a:lnTo>
                    <a:pt x="82221" y="102870"/>
                  </a:lnTo>
                  <a:lnTo>
                    <a:pt x="84913" y="105410"/>
                  </a:lnTo>
                  <a:lnTo>
                    <a:pt x="102249" y="78740"/>
                  </a:lnTo>
                  <a:lnTo>
                    <a:pt x="90348" y="78740"/>
                  </a:lnTo>
                  <a:lnTo>
                    <a:pt x="86708" y="77470"/>
                  </a:lnTo>
                  <a:lnTo>
                    <a:pt x="73765" y="68580"/>
                  </a:lnTo>
                  <a:close/>
                </a:path>
                <a:path extrusionOk="0" h="294640" w="363854">
                  <a:moveTo>
                    <a:pt x="65816" y="0"/>
                  </a:moveTo>
                  <a:lnTo>
                    <a:pt x="64021" y="2540"/>
                  </a:lnTo>
                  <a:lnTo>
                    <a:pt x="69905" y="6350"/>
                  </a:lnTo>
                  <a:lnTo>
                    <a:pt x="71750" y="7620"/>
                  </a:lnTo>
                  <a:lnTo>
                    <a:pt x="73046" y="10160"/>
                  </a:lnTo>
                  <a:lnTo>
                    <a:pt x="73994" y="12700"/>
                  </a:lnTo>
                  <a:lnTo>
                    <a:pt x="74293" y="13970"/>
                  </a:lnTo>
                  <a:lnTo>
                    <a:pt x="73994" y="15240"/>
                  </a:lnTo>
                  <a:lnTo>
                    <a:pt x="73545" y="17780"/>
                  </a:lnTo>
                  <a:lnTo>
                    <a:pt x="21889" y="96520"/>
                  </a:lnTo>
                  <a:lnTo>
                    <a:pt x="13163" y="101600"/>
                  </a:lnTo>
                  <a:lnTo>
                    <a:pt x="38211" y="101600"/>
                  </a:lnTo>
                  <a:lnTo>
                    <a:pt x="60481" y="68580"/>
                  </a:lnTo>
                  <a:lnTo>
                    <a:pt x="73765" y="68580"/>
                  </a:lnTo>
                  <a:lnTo>
                    <a:pt x="64520" y="62230"/>
                  </a:lnTo>
                  <a:lnTo>
                    <a:pt x="90398" y="24130"/>
                  </a:lnTo>
                  <a:lnTo>
                    <a:pt x="102639" y="24130"/>
                  </a:lnTo>
                  <a:lnTo>
                    <a:pt x="65816" y="0"/>
                  </a:lnTo>
                  <a:close/>
                </a:path>
                <a:path extrusionOk="0" h="294640" w="363854">
                  <a:moveTo>
                    <a:pt x="104509" y="69850"/>
                  </a:moveTo>
                  <a:lnTo>
                    <a:pt x="100271" y="74930"/>
                  </a:lnTo>
                  <a:lnTo>
                    <a:pt x="96581" y="77470"/>
                  </a:lnTo>
                  <a:lnTo>
                    <a:pt x="90348" y="78740"/>
                  </a:lnTo>
                  <a:lnTo>
                    <a:pt x="102249" y="78740"/>
                  </a:lnTo>
                  <a:lnTo>
                    <a:pt x="107201" y="71120"/>
                  </a:lnTo>
                  <a:lnTo>
                    <a:pt x="104509" y="69850"/>
                  </a:lnTo>
                  <a:close/>
                </a:path>
                <a:path extrusionOk="0" h="294640" w="363854">
                  <a:moveTo>
                    <a:pt x="102639" y="24130"/>
                  </a:moveTo>
                  <a:lnTo>
                    <a:pt x="90398" y="24130"/>
                  </a:lnTo>
                  <a:lnTo>
                    <a:pt x="112237" y="38100"/>
                  </a:lnTo>
                  <a:lnTo>
                    <a:pt x="117373" y="41910"/>
                  </a:lnTo>
                  <a:lnTo>
                    <a:pt x="120863" y="44450"/>
                  </a:lnTo>
                  <a:lnTo>
                    <a:pt x="124453" y="49530"/>
                  </a:lnTo>
                  <a:lnTo>
                    <a:pt x="125501" y="52070"/>
                  </a:lnTo>
                  <a:lnTo>
                    <a:pt x="125999" y="59690"/>
                  </a:lnTo>
                  <a:lnTo>
                    <a:pt x="125201" y="63500"/>
                  </a:lnTo>
                  <a:lnTo>
                    <a:pt x="123406" y="68580"/>
                  </a:lnTo>
                  <a:lnTo>
                    <a:pt x="125949" y="71120"/>
                  </a:lnTo>
                  <a:lnTo>
                    <a:pt x="139462" y="48260"/>
                  </a:lnTo>
                  <a:lnTo>
                    <a:pt x="102639" y="2413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84" name="Google Shape;84;p7"/>
          <p:cNvSpPr txBox="1"/>
          <p:nvPr/>
        </p:nvSpPr>
        <p:spPr>
          <a:xfrm>
            <a:off x="6079096" y="3684904"/>
            <a:ext cx="704100" cy="354600"/>
          </a:xfrm>
          <a:prstGeom prst="rect">
            <a:avLst/>
          </a:prstGeom>
          <a:solidFill>
            <a:srgbClr val="FFC000"/>
          </a:solidFill>
          <a:ln cap="flat" cmpd="sng" w="9525">
            <a:solidFill>
              <a:srgbClr val="172C51"/>
            </a:solidFill>
            <a:prstDash val="solid"/>
            <a:round/>
            <a:headEnd len="sm" w="sm" type="none"/>
            <a:tailEnd len="sm" w="sm" type="none"/>
          </a:ln>
        </p:spPr>
        <p:txBody>
          <a:bodyPr anchorCtr="0" anchor="t" bIns="0" lIns="0" spcFirstLastPara="1" rIns="0" wrap="square" tIns="137775">
            <a:spAutoFit/>
          </a:bodyPr>
          <a:lstStyle/>
          <a:p>
            <a:pPr indent="0" lvl="0" marL="93980" rtl="0" algn="l">
              <a:lnSpc>
                <a:spcPct val="100000"/>
              </a:lnSpc>
              <a:spcBef>
                <a:spcPts val="0"/>
              </a:spcBef>
              <a:spcAft>
                <a:spcPts val="0"/>
              </a:spcAft>
              <a:buNone/>
            </a:pPr>
            <a:r>
              <a:rPr lang="en-US" sz="1400">
                <a:solidFill>
                  <a:srgbClr val="FFFFFF"/>
                </a:solidFill>
                <a:latin typeface="Times New Roman"/>
                <a:ea typeface="Times New Roman"/>
                <a:cs typeface="Times New Roman"/>
                <a:sym typeface="Times New Roman"/>
              </a:rPr>
              <a:t>Energy</a:t>
            </a:r>
            <a:endParaRPr sz="1400">
              <a:latin typeface="Times New Roman"/>
              <a:ea typeface="Times New Roman"/>
              <a:cs typeface="Times New Roman"/>
              <a:sym typeface="Times New Roman"/>
            </a:endParaRPr>
          </a:p>
        </p:txBody>
      </p:sp>
      <p:sp>
        <p:nvSpPr>
          <p:cNvPr id="85" name="Google Shape;85;p7"/>
          <p:cNvSpPr txBox="1"/>
          <p:nvPr/>
        </p:nvSpPr>
        <p:spPr>
          <a:xfrm>
            <a:off x="8745275" y="9751650"/>
            <a:ext cx="10983600" cy="26475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6 stocks, all interconnected ultimately to herd size, showing it as the central driver of all three WEF subsystems.</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Char char="●"/>
            </a:pPr>
            <a:r>
              <a:rPr lang="en-US" sz="2000">
                <a:solidFill>
                  <a:schemeClr val="dk1"/>
                </a:solidFill>
                <a:latin typeface="Times New Roman"/>
                <a:ea typeface="Times New Roman"/>
                <a:cs typeface="Times New Roman"/>
                <a:sym typeface="Times New Roman"/>
              </a:rPr>
              <a:t>The </a:t>
            </a:r>
            <a:r>
              <a:rPr b="1" lang="en-US" sz="2000">
                <a:solidFill>
                  <a:schemeClr val="dk1"/>
                </a:solidFill>
                <a:latin typeface="Times New Roman"/>
                <a:ea typeface="Times New Roman"/>
                <a:cs typeface="Times New Roman"/>
                <a:sym typeface="Times New Roman"/>
              </a:rPr>
              <a:t>Feed → Energy → Milk production </a:t>
            </a:r>
            <a:r>
              <a:rPr lang="en-US" sz="2000">
                <a:solidFill>
                  <a:schemeClr val="dk1"/>
                </a:solidFill>
                <a:latin typeface="Times New Roman"/>
                <a:ea typeface="Times New Roman"/>
                <a:cs typeface="Times New Roman"/>
                <a:sym typeface="Times New Roman"/>
              </a:rPr>
              <a:t>chain captures the core biological pathway of organic dairy systems, where DMI is converted into net energy for lactation (NEL), determining milk output.</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Water is the most independent, and therefore vulnerable stock in the diagram, making it a primary test case for stress-scenario testing.</a:t>
            </a:r>
            <a:endParaRPr sz="2000">
              <a:solidFill>
                <a:schemeClr val="dk1"/>
              </a:solidFill>
              <a:latin typeface="Times New Roman"/>
              <a:ea typeface="Times New Roman"/>
              <a:cs typeface="Times New Roman"/>
              <a:sym typeface="Times New Roman"/>
            </a:endParaRPr>
          </a:p>
        </p:txBody>
      </p:sp>
      <p:pic>
        <p:nvPicPr>
          <p:cNvPr id="86" name="Google Shape;86;p7"/>
          <p:cNvPicPr preferRelativeResize="0"/>
          <p:nvPr/>
        </p:nvPicPr>
        <p:blipFill>
          <a:blip r:embed="rId7">
            <a:alphaModFix/>
          </a:blip>
          <a:stretch>
            <a:fillRect/>
          </a:stretch>
        </p:blipFill>
        <p:spPr>
          <a:xfrm>
            <a:off x="8781262" y="3892263"/>
            <a:ext cx="10983600" cy="532636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8"/>
          <p:cNvSpPr txBox="1"/>
          <p:nvPr/>
        </p:nvSpPr>
        <p:spPr>
          <a:xfrm>
            <a:off x="7017260" y="503830"/>
            <a:ext cx="5760000" cy="888000"/>
          </a:xfrm>
          <a:prstGeom prst="rect">
            <a:avLst/>
          </a:prstGeom>
          <a:noFill/>
          <a:ln>
            <a:noFill/>
          </a:ln>
        </p:spPr>
        <p:txBody>
          <a:bodyPr anchorCtr="0" anchor="t" bIns="0" lIns="0" spcFirstLastPara="1" rIns="0" wrap="square" tIns="11425">
            <a:spAutoFit/>
          </a:bodyPr>
          <a:lstStyle/>
          <a:p>
            <a:pPr indent="-628015" lvl="0" marL="678180" marR="43180" rtl="0" algn="ctr">
              <a:lnSpc>
                <a:spcPct val="101400"/>
              </a:lnSpc>
              <a:spcBef>
                <a:spcPts val="0"/>
              </a:spcBef>
              <a:spcAft>
                <a:spcPts val="0"/>
              </a:spcAft>
              <a:buNone/>
            </a:pPr>
            <a:r>
              <a:rPr i="1" lang="en-US" sz="1550">
                <a:solidFill>
                  <a:schemeClr val="lt1"/>
                </a:solidFill>
                <a:latin typeface="Times New Roman"/>
                <a:ea typeface="Times New Roman"/>
                <a:cs typeface="Times New Roman"/>
                <a:sym typeface="Times New Roman"/>
              </a:rPr>
              <a:t>Shivam Kanodia, Rishab Prakash,  Aparna Pushkaran Ajitha, Karun Kaniyamattan</a:t>
            </a:r>
            <a:r>
              <a:rPr baseline="30000" lang="en-US" sz="1550">
                <a:solidFill>
                  <a:schemeClr val="lt1"/>
                </a:solidFill>
                <a:latin typeface="Times New Roman"/>
                <a:ea typeface="Times New Roman"/>
                <a:cs typeface="Times New Roman"/>
                <a:sym typeface="Times New Roman"/>
              </a:rPr>
              <a:t> </a:t>
            </a:r>
            <a:endParaRPr baseline="30000" sz="1550">
              <a:solidFill>
                <a:schemeClr val="lt1"/>
              </a:solidFill>
              <a:latin typeface="Times New Roman"/>
              <a:ea typeface="Times New Roman"/>
              <a:cs typeface="Times New Roman"/>
              <a:sym typeface="Times New Roman"/>
            </a:endParaRPr>
          </a:p>
          <a:p>
            <a:pPr indent="-628015" lvl="0" marL="1135380" marR="43180" rtl="0" algn="ctr">
              <a:lnSpc>
                <a:spcPct val="101400"/>
              </a:lnSpc>
              <a:spcBef>
                <a:spcPts val="0"/>
              </a:spcBef>
              <a:spcAft>
                <a:spcPts val="0"/>
              </a:spcAft>
              <a:buNone/>
            </a:pPr>
            <a:r>
              <a:rPr lang="en-US" sz="1550">
                <a:solidFill>
                  <a:srgbClr val="E7E6E6"/>
                </a:solidFill>
                <a:latin typeface="Times New Roman"/>
                <a:ea typeface="Times New Roman"/>
                <a:cs typeface="Times New Roman"/>
                <a:sym typeface="Times New Roman"/>
              </a:rPr>
              <a:t>Department of Animal Science, Texas A&amp;M University</a:t>
            </a:r>
            <a:r>
              <a:rPr baseline="30000" lang="en-US" sz="2550">
                <a:solidFill>
                  <a:srgbClr val="E7E6E6"/>
                </a:solidFill>
                <a:latin typeface="Times New Roman"/>
                <a:ea typeface="Times New Roman"/>
                <a:cs typeface="Times New Roman"/>
                <a:sym typeface="Times New Roman"/>
              </a:rPr>
              <a:t>1</a:t>
            </a:r>
            <a:endParaRPr baseline="30000" sz="2550">
              <a:latin typeface="Times New Roman"/>
              <a:ea typeface="Times New Roman"/>
              <a:cs typeface="Times New Roman"/>
              <a:sym typeface="Times New Roman"/>
            </a:endParaRPr>
          </a:p>
        </p:txBody>
      </p:sp>
      <p:sp>
        <p:nvSpPr>
          <p:cNvPr id="92" name="Google Shape;92;p8"/>
          <p:cNvSpPr txBox="1"/>
          <p:nvPr/>
        </p:nvSpPr>
        <p:spPr>
          <a:xfrm>
            <a:off x="0" y="-40000"/>
            <a:ext cx="19037100" cy="906900"/>
          </a:xfrm>
          <a:prstGeom prst="rect">
            <a:avLst/>
          </a:prstGeom>
          <a:noFill/>
          <a:ln>
            <a:noFill/>
          </a:ln>
        </p:spPr>
        <p:txBody>
          <a:bodyPr anchorCtr="0" anchor="t" bIns="0" lIns="0" spcFirstLastPara="1" rIns="0" wrap="square" tIns="13325">
            <a:spAutoFit/>
          </a:bodyPr>
          <a:lstStyle/>
          <a:p>
            <a:pPr indent="0" lvl="0" marL="0" rtl="0" algn="ctr">
              <a:lnSpc>
                <a:spcPct val="115000"/>
              </a:lnSpc>
              <a:spcBef>
                <a:spcPts val="0"/>
              </a:spcBef>
              <a:spcAft>
                <a:spcPts val="0"/>
              </a:spcAft>
              <a:buClr>
                <a:schemeClr val="dk1"/>
              </a:buClr>
              <a:buSzPts val="1100"/>
              <a:buFont typeface="Arial"/>
              <a:buNone/>
            </a:pPr>
            <a:r>
              <a:rPr b="1" lang="en-US" sz="2700">
                <a:solidFill>
                  <a:schemeClr val="lt1"/>
                </a:solidFill>
                <a:latin typeface="Times New Roman"/>
                <a:ea typeface="Times New Roman"/>
                <a:cs typeface="Times New Roman"/>
                <a:sym typeface="Times New Roman"/>
              </a:rPr>
              <a:t>Modeling Resource Flows in Dairy Production: A Systems Dynamics Approach to the WEF Nexus</a:t>
            </a:r>
            <a:endParaRPr b="1" sz="2700">
              <a:solidFill>
                <a:schemeClr val="lt1"/>
              </a:solidFill>
              <a:latin typeface="Times New Roman"/>
              <a:ea typeface="Times New Roman"/>
              <a:cs typeface="Times New Roman"/>
              <a:sym typeface="Times New Roman"/>
            </a:endParaRPr>
          </a:p>
          <a:p>
            <a:pPr indent="0" lvl="0" marL="12700" rtl="0" algn="l">
              <a:lnSpc>
                <a:spcPct val="100000"/>
              </a:lnSpc>
              <a:spcBef>
                <a:spcPts val="0"/>
              </a:spcBef>
              <a:spcAft>
                <a:spcPts val="0"/>
              </a:spcAft>
              <a:buNone/>
            </a:pPr>
            <a:r>
              <a:t/>
            </a:r>
            <a:endParaRPr sz="2700">
              <a:solidFill>
                <a:schemeClr val="lt1"/>
              </a:solidFill>
              <a:latin typeface="Times New Roman"/>
              <a:ea typeface="Times New Roman"/>
              <a:cs typeface="Times New Roman"/>
              <a:sym typeface="Times New Roman"/>
            </a:endParaRPr>
          </a:p>
        </p:txBody>
      </p:sp>
      <p:sp>
        <p:nvSpPr>
          <p:cNvPr id="93" name="Google Shape;93;p8"/>
          <p:cNvSpPr txBox="1"/>
          <p:nvPr/>
        </p:nvSpPr>
        <p:spPr>
          <a:xfrm>
            <a:off x="19550826" y="10904349"/>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FF0000"/>
                </a:solidFill>
                <a:latin typeface="Arial"/>
                <a:ea typeface="Arial"/>
                <a:cs typeface="Arial"/>
                <a:sym typeface="Arial"/>
              </a:rPr>
              <a:t>+</a:t>
            </a:r>
            <a:endParaRPr sz="550">
              <a:latin typeface="Arial"/>
              <a:ea typeface="Arial"/>
              <a:cs typeface="Arial"/>
              <a:sym typeface="Arial"/>
            </a:endParaRPr>
          </a:p>
        </p:txBody>
      </p:sp>
      <p:sp>
        <p:nvSpPr>
          <p:cNvPr id="94" name="Google Shape;94;p8"/>
          <p:cNvSpPr txBox="1"/>
          <p:nvPr/>
        </p:nvSpPr>
        <p:spPr>
          <a:xfrm>
            <a:off x="14717021" y="12097236"/>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FF0000"/>
                </a:solidFill>
                <a:latin typeface="Arial"/>
                <a:ea typeface="Arial"/>
                <a:cs typeface="Arial"/>
                <a:sym typeface="Arial"/>
              </a:rPr>
              <a:t>+</a:t>
            </a:r>
            <a:endParaRPr sz="550">
              <a:latin typeface="Arial"/>
              <a:ea typeface="Arial"/>
              <a:cs typeface="Arial"/>
              <a:sym typeface="Arial"/>
            </a:endParaRPr>
          </a:p>
        </p:txBody>
      </p:sp>
      <p:sp>
        <p:nvSpPr>
          <p:cNvPr id="95" name="Google Shape;95;p8"/>
          <p:cNvSpPr txBox="1"/>
          <p:nvPr/>
        </p:nvSpPr>
        <p:spPr>
          <a:xfrm>
            <a:off x="17491169" y="12175585"/>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FF0000"/>
                </a:solidFill>
                <a:latin typeface="Arial"/>
                <a:ea typeface="Arial"/>
                <a:cs typeface="Arial"/>
                <a:sym typeface="Arial"/>
              </a:rPr>
              <a:t>+</a:t>
            </a:r>
            <a:endParaRPr sz="550">
              <a:latin typeface="Arial"/>
              <a:ea typeface="Arial"/>
              <a:cs typeface="Arial"/>
              <a:sym typeface="Arial"/>
            </a:endParaRPr>
          </a:p>
        </p:txBody>
      </p:sp>
      <p:sp>
        <p:nvSpPr>
          <p:cNvPr id="96" name="Google Shape;96;p8"/>
          <p:cNvSpPr txBox="1"/>
          <p:nvPr/>
        </p:nvSpPr>
        <p:spPr>
          <a:xfrm>
            <a:off x="10452372" y="12214400"/>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808000"/>
                </a:solidFill>
                <a:latin typeface="Arial"/>
                <a:ea typeface="Arial"/>
                <a:cs typeface="Arial"/>
                <a:sym typeface="Arial"/>
              </a:rPr>
              <a:t>+</a:t>
            </a:r>
            <a:endParaRPr sz="550">
              <a:latin typeface="Arial"/>
              <a:ea typeface="Arial"/>
              <a:cs typeface="Arial"/>
              <a:sym typeface="Arial"/>
            </a:endParaRPr>
          </a:p>
        </p:txBody>
      </p:sp>
      <p:sp>
        <p:nvSpPr>
          <p:cNvPr id="97" name="Google Shape;97;p8"/>
          <p:cNvSpPr txBox="1"/>
          <p:nvPr/>
        </p:nvSpPr>
        <p:spPr>
          <a:xfrm>
            <a:off x="9085857" y="10540815"/>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808000"/>
                </a:solidFill>
                <a:latin typeface="Arial"/>
                <a:ea typeface="Arial"/>
                <a:cs typeface="Arial"/>
                <a:sym typeface="Arial"/>
              </a:rPr>
              <a:t>+</a:t>
            </a:r>
            <a:endParaRPr sz="550">
              <a:latin typeface="Arial"/>
              <a:ea typeface="Arial"/>
              <a:cs typeface="Arial"/>
              <a:sym typeface="Arial"/>
            </a:endParaRPr>
          </a:p>
        </p:txBody>
      </p:sp>
      <p:sp>
        <p:nvSpPr>
          <p:cNvPr id="98" name="Google Shape;98;p8"/>
          <p:cNvSpPr txBox="1"/>
          <p:nvPr/>
        </p:nvSpPr>
        <p:spPr>
          <a:xfrm>
            <a:off x="8996949" y="8212204"/>
            <a:ext cx="69850" cy="11112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550">
                <a:solidFill>
                  <a:srgbClr val="008080"/>
                </a:solidFill>
                <a:latin typeface="Arial"/>
                <a:ea typeface="Arial"/>
                <a:cs typeface="Arial"/>
                <a:sym typeface="Arial"/>
              </a:rPr>
              <a:t>+</a:t>
            </a:r>
            <a:endParaRPr sz="550">
              <a:latin typeface="Arial"/>
              <a:ea typeface="Arial"/>
              <a:cs typeface="Arial"/>
              <a:sym typeface="Arial"/>
            </a:endParaRPr>
          </a:p>
        </p:txBody>
      </p:sp>
      <p:grpSp>
        <p:nvGrpSpPr>
          <p:cNvPr id="99" name="Google Shape;99;p8"/>
          <p:cNvGrpSpPr/>
          <p:nvPr/>
        </p:nvGrpSpPr>
        <p:grpSpPr>
          <a:xfrm>
            <a:off x="0" y="1394721"/>
            <a:ext cx="20104100" cy="1967364"/>
            <a:chOff x="0" y="1394721"/>
            <a:chExt cx="20104100" cy="1967364"/>
          </a:xfrm>
        </p:grpSpPr>
        <p:sp>
          <p:nvSpPr>
            <p:cNvPr id="100" name="Google Shape;100;p8"/>
            <p:cNvSpPr/>
            <p:nvPr/>
          </p:nvSpPr>
          <p:spPr>
            <a:xfrm>
              <a:off x="0" y="1394721"/>
              <a:ext cx="20104100" cy="889000"/>
            </a:xfrm>
            <a:custGeom>
              <a:rect b="b" l="l" r="r" t="t"/>
              <a:pathLst>
                <a:path extrusionOk="0" h="889000" w="20104100">
                  <a:moveTo>
                    <a:pt x="20104100" y="0"/>
                  </a:moveTo>
                  <a:lnTo>
                    <a:pt x="0" y="0"/>
                  </a:lnTo>
                  <a:lnTo>
                    <a:pt x="0" y="888529"/>
                  </a:lnTo>
                  <a:lnTo>
                    <a:pt x="20104100" y="888529"/>
                  </a:lnTo>
                </a:path>
              </a:pathLst>
            </a:custGeom>
            <a:noFill/>
            <a:ln cap="flat" cmpd="sng" w="29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1" name="Google Shape;101;p8"/>
            <p:cNvSpPr/>
            <p:nvPr/>
          </p:nvSpPr>
          <p:spPr>
            <a:xfrm>
              <a:off x="0" y="2291428"/>
              <a:ext cx="20104100" cy="649605"/>
            </a:xfrm>
            <a:custGeom>
              <a:rect b="b" l="l" r="r" t="t"/>
              <a:pathLst>
                <a:path extrusionOk="0" h="649605" w="20104100">
                  <a:moveTo>
                    <a:pt x="20103700" y="0"/>
                  </a:moveTo>
                  <a:lnTo>
                    <a:pt x="0" y="0"/>
                  </a:lnTo>
                  <a:lnTo>
                    <a:pt x="0" y="649095"/>
                  </a:lnTo>
                  <a:lnTo>
                    <a:pt x="20103700" y="649095"/>
                  </a:lnTo>
                  <a:lnTo>
                    <a:pt x="20103700" y="0"/>
                  </a:lnTo>
                  <a:close/>
                </a:path>
              </a:pathLst>
            </a:custGeom>
            <a:solidFill>
              <a:srgbClr val="FAE4D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2" name="Google Shape;102;p8"/>
            <p:cNvSpPr/>
            <p:nvPr/>
          </p:nvSpPr>
          <p:spPr>
            <a:xfrm>
              <a:off x="0" y="2291428"/>
              <a:ext cx="20104100" cy="649605"/>
            </a:xfrm>
            <a:custGeom>
              <a:rect b="b" l="l" r="r" t="t"/>
              <a:pathLst>
                <a:path extrusionOk="0" h="649605" w="20104100">
                  <a:moveTo>
                    <a:pt x="0" y="649095"/>
                  </a:moveTo>
                  <a:lnTo>
                    <a:pt x="20103700" y="649095"/>
                  </a:lnTo>
                  <a:lnTo>
                    <a:pt x="20103700" y="0"/>
                  </a:lnTo>
                  <a:lnTo>
                    <a:pt x="0" y="0"/>
                  </a:lnTo>
                  <a:lnTo>
                    <a:pt x="0" y="649095"/>
                  </a:lnTo>
                  <a:close/>
                </a:path>
              </a:pathLst>
            </a:custGeom>
            <a:noFill/>
            <a:ln cap="flat" cmpd="sng" w="14950">
              <a:solidFill>
                <a:srgbClr val="172C5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3" name="Google Shape;103;p8"/>
            <p:cNvSpPr/>
            <p:nvPr/>
          </p:nvSpPr>
          <p:spPr>
            <a:xfrm>
              <a:off x="0" y="2952510"/>
              <a:ext cx="8470900" cy="409575"/>
            </a:xfrm>
            <a:custGeom>
              <a:rect b="b" l="l" r="r" t="t"/>
              <a:pathLst>
                <a:path extrusionOk="0" h="409575" w="8470900">
                  <a:moveTo>
                    <a:pt x="0" y="409042"/>
                  </a:moveTo>
                  <a:lnTo>
                    <a:pt x="8470696" y="409042"/>
                  </a:lnTo>
                  <a:lnTo>
                    <a:pt x="8470696" y="0"/>
                  </a:lnTo>
                  <a:lnTo>
                    <a:pt x="0" y="0"/>
                  </a:lnTo>
                  <a:lnTo>
                    <a:pt x="0" y="409042"/>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04" name="Google Shape;104;p8"/>
          <p:cNvSpPr txBox="1"/>
          <p:nvPr/>
        </p:nvSpPr>
        <p:spPr>
          <a:xfrm>
            <a:off x="152675" y="3395275"/>
            <a:ext cx="5089800" cy="1595400"/>
          </a:xfrm>
          <a:prstGeom prst="rect">
            <a:avLst/>
          </a:prstGeom>
          <a:noFill/>
          <a:ln>
            <a:noFill/>
          </a:ln>
        </p:spPr>
        <p:txBody>
          <a:bodyPr anchorCtr="0" anchor="t" bIns="0" lIns="0" spcFirstLastPara="1" rIns="0" wrap="square" tIns="12050">
            <a:spAutoFit/>
          </a:bodyPr>
          <a:lstStyle/>
          <a:p>
            <a:pPr indent="0" lvl="0" marL="0" marR="5080" rtl="0" algn="l">
              <a:lnSpc>
                <a:spcPct val="101000"/>
              </a:lnSpc>
              <a:spcBef>
                <a:spcPts val="0"/>
              </a:spcBef>
              <a:spcAft>
                <a:spcPts val="0"/>
              </a:spcAft>
              <a:buNone/>
            </a:pPr>
            <a:r>
              <a:rPr lang="en-US" sz="1700">
                <a:latin typeface="Times New Roman"/>
                <a:ea typeface="Times New Roman"/>
                <a:cs typeface="Times New Roman"/>
                <a:sym typeface="Times New Roman"/>
              </a:rPr>
              <a:t>U.S. organic dairy production faces simultaneous pressures from climate variability, input cost volatility, and growing regulatory scrutiny on environmental impact.</a:t>
            </a:r>
            <a:endParaRPr sz="1700">
              <a:latin typeface="Times New Roman"/>
              <a:ea typeface="Times New Roman"/>
              <a:cs typeface="Times New Roman"/>
              <a:sym typeface="Times New Roman"/>
            </a:endParaRPr>
          </a:p>
          <a:p>
            <a:pPr indent="0" lvl="0" marL="0" marR="5080" rtl="0" algn="l">
              <a:lnSpc>
                <a:spcPct val="101000"/>
              </a:lnSpc>
              <a:spcBef>
                <a:spcPts val="0"/>
              </a:spcBef>
              <a:spcAft>
                <a:spcPts val="0"/>
              </a:spcAft>
              <a:buNone/>
            </a:pPr>
            <a:r>
              <a:t/>
            </a:r>
            <a:endParaRPr sz="1700">
              <a:latin typeface="Times New Roman"/>
              <a:ea typeface="Times New Roman"/>
              <a:cs typeface="Times New Roman"/>
              <a:sym typeface="Times New Roman"/>
            </a:endParaRPr>
          </a:p>
          <a:p>
            <a:pPr indent="0" lvl="0" marL="0" marR="5080" rtl="0" algn="l">
              <a:lnSpc>
                <a:spcPct val="101000"/>
              </a:lnSpc>
              <a:spcBef>
                <a:spcPts val="0"/>
              </a:spcBef>
              <a:spcAft>
                <a:spcPts val="0"/>
              </a:spcAft>
              <a:buNone/>
            </a:pPr>
            <a:r>
              <a:t/>
            </a:r>
            <a:endParaRPr sz="1700">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sz="1700">
              <a:latin typeface="Times New Roman"/>
              <a:ea typeface="Times New Roman"/>
              <a:cs typeface="Times New Roman"/>
              <a:sym typeface="Times New Roman"/>
            </a:endParaRPr>
          </a:p>
        </p:txBody>
      </p:sp>
      <p:sp>
        <p:nvSpPr>
          <p:cNvPr id="105" name="Google Shape;105;p8"/>
          <p:cNvSpPr txBox="1"/>
          <p:nvPr/>
        </p:nvSpPr>
        <p:spPr>
          <a:xfrm>
            <a:off x="108300" y="4668738"/>
            <a:ext cx="3215100" cy="1315800"/>
          </a:xfrm>
          <a:prstGeom prst="rect">
            <a:avLst/>
          </a:prstGeom>
          <a:noFill/>
          <a:ln>
            <a:noFill/>
          </a:ln>
        </p:spPr>
        <p:txBody>
          <a:bodyPr anchorCtr="0" anchor="t" bIns="0" lIns="0" spcFirstLastPara="1" rIns="0" wrap="square" tIns="12050">
            <a:spAutoFit/>
          </a:bodyPr>
          <a:lstStyle/>
          <a:p>
            <a:pPr indent="-111760" lvl="0" marL="124460" marR="5080" rtl="0" algn="l">
              <a:lnSpc>
                <a:spcPct val="101000"/>
              </a:lnSpc>
              <a:spcBef>
                <a:spcPts val="0"/>
              </a:spcBef>
              <a:spcAft>
                <a:spcPts val="0"/>
              </a:spcAft>
              <a:buSzPts val="1400"/>
              <a:buFont typeface="Arial"/>
              <a:buChar char="•"/>
            </a:pPr>
            <a:r>
              <a:rPr lang="en-US" sz="1400">
                <a:latin typeface="Times New Roman"/>
                <a:ea typeface="Times New Roman"/>
                <a:cs typeface="Times New Roman"/>
                <a:sym typeface="Times New Roman"/>
              </a:rPr>
              <a:t>Raising populations - resource scarcity </a:t>
            </a:r>
            <a:r>
              <a:rPr lang="en-US">
                <a:solidFill>
                  <a:srgbClr val="FF0000"/>
                </a:solidFill>
                <a:latin typeface="Times New Roman"/>
                <a:ea typeface="Times New Roman"/>
                <a:cs typeface="Times New Roman"/>
                <a:sym typeface="Times New Roman"/>
              </a:rPr>
              <a:t>(Perveen et al., 2018)</a:t>
            </a:r>
            <a:endParaRPr sz="1400">
              <a:solidFill>
                <a:srgbClr val="FF0000"/>
              </a:solidFill>
              <a:latin typeface="Times New Roman"/>
              <a:ea typeface="Times New Roman"/>
              <a:cs typeface="Times New Roman"/>
              <a:sym typeface="Times New Roman"/>
            </a:endParaRPr>
          </a:p>
          <a:p>
            <a:pPr indent="0" lvl="0" marL="0" marR="5080" rtl="0" algn="l">
              <a:lnSpc>
                <a:spcPct val="101000"/>
              </a:lnSpc>
              <a:spcBef>
                <a:spcPts val="0"/>
              </a:spcBef>
              <a:spcAft>
                <a:spcPts val="0"/>
              </a:spcAft>
              <a:buNone/>
            </a:pPr>
            <a:r>
              <a:t/>
            </a:r>
            <a:endParaRPr>
              <a:latin typeface="Times New Roman"/>
              <a:ea typeface="Times New Roman"/>
              <a:cs typeface="Times New Roman"/>
              <a:sym typeface="Times New Roman"/>
            </a:endParaRPr>
          </a:p>
          <a:p>
            <a:pPr indent="-111760" lvl="0" marL="124460" marR="5080"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Climate variability - unpredictable energy </a:t>
            </a:r>
            <a:r>
              <a:rPr lang="en-US">
                <a:latin typeface="Times New Roman"/>
                <a:ea typeface="Times New Roman"/>
                <a:cs typeface="Times New Roman"/>
                <a:sym typeface="Times New Roman"/>
              </a:rPr>
              <a:t>efficiency </a:t>
            </a:r>
            <a:r>
              <a:rPr lang="en-US">
                <a:solidFill>
                  <a:srgbClr val="FF0000"/>
                </a:solidFill>
                <a:latin typeface="Times New Roman"/>
                <a:ea typeface="Times New Roman"/>
                <a:cs typeface="Times New Roman"/>
                <a:sym typeface="Times New Roman"/>
              </a:rPr>
              <a:t>(Sejian et al., 2024)</a:t>
            </a:r>
            <a:endParaRPr>
              <a:solidFill>
                <a:srgbClr val="FF0000"/>
              </a:solidFill>
              <a:latin typeface="Times New Roman"/>
              <a:ea typeface="Times New Roman"/>
              <a:cs typeface="Times New Roman"/>
              <a:sym typeface="Times New Roman"/>
            </a:endParaRPr>
          </a:p>
          <a:p>
            <a:pPr indent="0" lvl="0" marL="457200" marR="5080" rtl="0" algn="l">
              <a:lnSpc>
                <a:spcPct val="101000"/>
              </a:lnSpc>
              <a:spcBef>
                <a:spcPts val="0"/>
              </a:spcBef>
              <a:spcAft>
                <a:spcPts val="0"/>
              </a:spcAft>
              <a:buNone/>
            </a:pPr>
            <a:r>
              <a:t/>
            </a:r>
            <a:endParaRPr>
              <a:latin typeface="Times New Roman"/>
              <a:ea typeface="Times New Roman"/>
              <a:cs typeface="Times New Roman"/>
              <a:sym typeface="Times New Roman"/>
            </a:endParaRPr>
          </a:p>
        </p:txBody>
      </p:sp>
      <p:sp>
        <p:nvSpPr>
          <p:cNvPr id="106" name="Google Shape;106;p8"/>
          <p:cNvSpPr txBox="1"/>
          <p:nvPr/>
        </p:nvSpPr>
        <p:spPr>
          <a:xfrm>
            <a:off x="108299" y="5984546"/>
            <a:ext cx="4745400" cy="663000"/>
          </a:xfrm>
          <a:prstGeom prst="rect">
            <a:avLst/>
          </a:prstGeom>
          <a:noFill/>
          <a:ln>
            <a:noFill/>
          </a:ln>
        </p:spPr>
        <p:txBody>
          <a:bodyPr anchorCtr="0" anchor="t" bIns="0" lIns="0" spcFirstLastPara="1" rIns="0" wrap="square" tIns="12050">
            <a:spAutoFit/>
          </a:bodyPr>
          <a:lstStyle/>
          <a:p>
            <a:pPr indent="-111760" lvl="0" marL="123825" marR="5080" rtl="0" algn="l">
              <a:lnSpc>
                <a:spcPct val="101000"/>
              </a:lnSpc>
              <a:spcBef>
                <a:spcPts val="0"/>
              </a:spcBef>
              <a:spcAft>
                <a:spcPts val="0"/>
              </a:spcAft>
              <a:buSzPts val="1400"/>
              <a:buFont typeface="Arial"/>
              <a:buChar char="•"/>
            </a:pPr>
            <a:r>
              <a:rPr lang="en-US">
                <a:latin typeface="Times New Roman"/>
                <a:ea typeface="Times New Roman"/>
                <a:cs typeface="Times New Roman"/>
                <a:sym typeface="Times New Roman"/>
              </a:rPr>
              <a:t>Leads to a n</a:t>
            </a:r>
            <a:r>
              <a:rPr lang="en-US" sz="1400">
                <a:latin typeface="Times New Roman"/>
                <a:ea typeface="Times New Roman"/>
                <a:cs typeface="Times New Roman"/>
                <a:sym typeface="Times New Roman"/>
              </a:rPr>
              <a:t>eed for Water Energy Food Nexus (WEF) </a:t>
            </a:r>
            <a:r>
              <a:rPr lang="en-US">
                <a:latin typeface="Times New Roman"/>
                <a:ea typeface="Times New Roman"/>
                <a:cs typeface="Times New Roman"/>
                <a:sym typeface="Times New Roman"/>
              </a:rPr>
              <a:t>to understand resource interdependencies and find “leverage points” </a:t>
            </a:r>
            <a:r>
              <a:rPr lang="en-US">
                <a:solidFill>
                  <a:srgbClr val="FF0000"/>
                </a:solidFill>
                <a:latin typeface="Times New Roman"/>
                <a:ea typeface="Times New Roman"/>
                <a:cs typeface="Times New Roman"/>
                <a:sym typeface="Times New Roman"/>
              </a:rPr>
              <a:t>(Yıldız, 2021)</a:t>
            </a:r>
            <a:endParaRPr sz="1400">
              <a:solidFill>
                <a:srgbClr val="FF0000"/>
              </a:solidFill>
              <a:latin typeface="Times New Roman"/>
              <a:ea typeface="Times New Roman"/>
              <a:cs typeface="Times New Roman"/>
              <a:sym typeface="Times New Roman"/>
            </a:endParaRPr>
          </a:p>
        </p:txBody>
      </p:sp>
      <p:sp>
        <p:nvSpPr>
          <p:cNvPr id="107" name="Google Shape;107;p8"/>
          <p:cNvSpPr txBox="1"/>
          <p:nvPr/>
        </p:nvSpPr>
        <p:spPr>
          <a:xfrm>
            <a:off x="108299" y="6755676"/>
            <a:ext cx="4455300" cy="445200"/>
          </a:xfrm>
          <a:prstGeom prst="rect">
            <a:avLst/>
          </a:prstGeom>
          <a:noFill/>
          <a:ln>
            <a:noFill/>
          </a:ln>
        </p:spPr>
        <p:txBody>
          <a:bodyPr anchorCtr="0" anchor="t" bIns="0" lIns="0" spcFirstLastPara="1" rIns="0" wrap="square" tIns="12050">
            <a:spAutoFit/>
          </a:bodyPr>
          <a:lstStyle/>
          <a:p>
            <a:pPr indent="-111760" lvl="0" marL="123825" marR="5080" rtl="0" algn="l">
              <a:lnSpc>
                <a:spcPct val="101000"/>
              </a:lnSpc>
              <a:spcBef>
                <a:spcPts val="0"/>
              </a:spcBef>
              <a:spcAft>
                <a:spcPts val="0"/>
              </a:spcAft>
              <a:buSzPts val="1400"/>
              <a:buFont typeface="Arial"/>
              <a:buChar char="•"/>
            </a:pPr>
            <a:r>
              <a:rPr lang="en-US" sz="1400">
                <a:latin typeface="Times New Roman"/>
                <a:ea typeface="Times New Roman"/>
                <a:cs typeface="Times New Roman"/>
                <a:sym typeface="Times New Roman"/>
              </a:rPr>
              <a:t>System dynamics</a:t>
            </a:r>
            <a:r>
              <a:rPr lang="en-US">
                <a:latin typeface="Times New Roman"/>
                <a:ea typeface="Times New Roman"/>
                <a:cs typeface="Times New Roman"/>
                <a:sym typeface="Times New Roman"/>
              </a:rPr>
              <a:t> modeling</a:t>
            </a:r>
            <a:r>
              <a:rPr lang="en-US" sz="1400">
                <a:latin typeface="Times New Roman"/>
                <a:ea typeface="Times New Roman"/>
                <a:cs typeface="Times New Roman"/>
                <a:sym typeface="Times New Roman"/>
              </a:rPr>
              <a:t>: </a:t>
            </a:r>
            <a:r>
              <a:rPr lang="en-US">
                <a:latin typeface="Times New Roman"/>
                <a:ea typeface="Times New Roman"/>
                <a:cs typeface="Times New Roman"/>
                <a:sym typeface="Times New Roman"/>
              </a:rPr>
              <a:t>visually and mathematically show behaviors of complex systems </a:t>
            </a:r>
            <a:r>
              <a:rPr lang="en-US">
                <a:solidFill>
                  <a:srgbClr val="FF0000"/>
                </a:solidFill>
                <a:latin typeface="Times New Roman"/>
                <a:ea typeface="Times New Roman"/>
                <a:cs typeface="Times New Roman"/>
                <a:sym typeface="Times New Roman"/>
              </a:rPr>
              <a:t>(Hülsmann et al., 2025)</a:t>
            </a:r>
            <a:endParaRPr>
              <a:solidFill>
                <a:srgbClr val="FF0000"/>
              </a:solidFill>
              <a:latin typeface="Times New Roman"/>
              <a:ea typeface="Times New Roman"/>
              <a:cs typeface="Times New Roman"/>
              <a:sym typeface="Times New Roman"/>
            </a:endParaRPr>
          </a:p>
        </p:txBody>
      </p:sp>
      <p:grpSp>
        <p:nvGrpSpPr>
          <p:cNvPr id="108" name="Google Shape;108;p8"/>
          <p:cNvGrpSpPr/>
          <p:nvPr/>
        </p:nvGrpSpPr>
        <p:grpSpPr>
          <a:xfrm>
            <a:off x="0" y="3358960"/>
            <a:ext cx="8597145" cy="9565263"/>
            <a:chOff x="0" y="3358960"/>
            <a:chExt cx="8597145" cy="9565263"/>
          </a:xfrm>
        </p:grpSpPr>
        <p:sp>
          <p:nvSpPr>
            <p:cNvPr id="109" name="Google Shape;109;p8"/>
            <p:cNvSpPr/>
            <p:nvPr/>
          </p:nvSpPr>
          <p:spPr>
            <a:xfrm>
              <a:off x="0" y="3358960"/>
              <a:ext cx="8470900" cy="4077970"/>
            </a:xfrm>
            <a:custGeom>
              <a:rect b="b" l="l" r="r" t="t"/>
              <a:pathLst>
                <a:path extrusionOk="0" h="4077970" w="8470900">
                  <a:moveTo>
                    <a:pt x="0" y="4077761"/>
                  </a:moveTo>
                  <a:lnTo>
                    <a:pt x="8470716" y="4077761"/>
                  </a:lnTo>
                  <a:lnTo>
                    <a:pt x="8470716" y="0"/>
                  </a:lnTo>
                  <a:lnTo>
                    <a:pt x="0" y="0"/>
                  </a:lnTo>
                </a:path>
              </a:pathLst>
            </a:custGeom>
            <a:noFill/>
            <a:ln cap="flat" cmpd="sng" w="9525">
              <a:solidFill>
                <a:srgbClr val="43434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descr="A cow and water supply  AI-generated content may be incorrect." id="110" name="Google Shape;110;p8"/>
            <p:cNvPicPr preferRelativeResize="0"/>
            <p:nvPr/>
          </p:nvPicPr>
          <p:blipFill rotWithShape="1">
            <a:blip r:embed="rId3">
              <a:alphaModFix/>
            </a:blip>
            <a:srcRect b="0" l="0" r="0" t="0"/>
            <a:stretch/>
          </p:blipFill>
          <p:spPr>
            <a:xfrm>
              <a:off x="4728203" y="4032687"/>
              <a:ext cx="3868942" cy="3168340"/>
            </a:xfrm>
            <a:prstGeom prst="rect">
              <a:avLst/>
            </a:prstGeom>
            <a:noFill/>
            <a:ln>
              <a:noFill/>
            </a:ln>
          </p:spPr>
        </p:pic>
        <p:sp>
          <p:nvSpPr>
            <p:cNvPr id="111" name="Google Shape;111;p8"/>
            <p:cNvSpPr/>
            <p:nvPr/>
          </p:nvSpPr>
          <p:spPr>
            <a:xfrm>
              <a:off x="19883" y="11993948"/>
              <a:ext cx="4853940" cy="930275"/>
            </a:xfrm>
            <a:custGeom>
              <a:rect b="b" l="l" r="r" t="t"/>
              <a:pathLst>
                <a:path extrusionOk="0" h="930275" w="4853940">
                  <a:moveTo>
                    <a:pt x="0" y="930113"/>
                  </a:moveTo>
                  <a:lnTo>
                    <a:pt x="4853803" y="930113"/>
                  </a:lnTo>
                  <a:lnTo>
                    <a:pt x="4853803" y="0"/>
                  </a:lnTo>
                  <a:lnTo>
                    <a:pt x="0" y="0"/>
                  </a:lnTo>
                  <a:lnTo>
                    <a:pt x="0" y="930113"/>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12" name="Google Shape;112;p8"/>
          <p:cNvSpPr txBox="1"/>
          <p:nvPr/>
        </p:nvSpPr>
        <p:spPr>
          <a:xfrm>
            <a:off x="552378" y="7519058"/>
            <a:ext cx="3715385" cy="34861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1" lang="en-US" sz="2100">
                <a:solidFill>
                  <a:srgbClr val="500000"/>
                </a:solidFill>
                <a:latin typeface="Times New Roman"/>
                <a:ea typeface="Times New Roman"/>
                <a:cs typeface="Times New Roman"/>
                <a:sym typeface="Times New Roman"/>
              </a:rPr>
              <a:t>MATERIALS AND METHODS</a:t>
            </a:r>
            <a:endParaRPr sz="2100">
              <a:latin typeface="Times New Roman"/>
              <a:ea typeface="Times New Roman"/>
              <a:cs typeface="Times New Roman"/>
              <a:sym typeface="Times New Roman"/>
            </a:endParaRPr>
          </a:p>
        </p:txBody>
      </p:sp>
      <p:sp>
        <p:nvSpPr>
          <p:cNvPr id="113" name="Google Shape;113;p8"/>
          <p:cNvSpPr/>
          <p:nvPr/>
        </p:nvSpPr>
        <p:spPr>
          <a:xfrm>
            <a:off x="8454242" y="2935069"/>
            <a:ext cx="11637645" cy="424180"/>
          </a:xfrm>
          <a:custGeom>
            <a:rect b="b" l="l" r="r" t="t"/>
            <a:pathLst>
              <a:path extrusionOk="0" h="424179" w="11637644">
                <a:moveTo>
                  <a:pt x="0" y="423891"/>
                </a:moveTo>
                <a:lnTo>
                  <a:pt x="11637441" y="423891"/>
                </a:lnTo>
                <a:lnTo>
                  <a:pt x="11637441" y="0"/>
                </a:lnTo>
                <a:lnTo>
                  <a:pt x="0" y="0"/>
                </a:lnTo>
                <a:lnTo>
                  <a:pt x="0" y="423891"/>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4" name="Google Shape;114;p8"/>
          <p:cNvSpPr txBox="1"/>
          <p:nvPr/>
        </p:nvSpPr>
        <p:spPr>
          <a:xfrm>
            <a:off x="23200" y="1430736"/>
            <a:ext cx="20056500" cy="2058600"/>
          </a:xfrm>
          <a:prstGeom prst="rect">
            <a:avLst/>
          </a:prstGeom>
          <a:noFill/>
          <a:ln>
            <a:noFill/>
          </a:ln>
        </p:spPr>
        <p:txBody>
          <a:bodyPr anchorCtr="0" anchor="t" bIns="0" lIns="0" spcFirstLastPara="1" rIns="0" wrap="square" tIns="12050">
            <a:spAutoFit/>
          </a:bodyPr>
          <a:lstStyle/>
          <a:p>
            <a:pPr indent="0" lvl="0" marL="199390" marR="59690" rtl="0" algn="just">
              <a:lnSpc>
                <a:spcPct val="101299"/>
              </a:lnSpc>
              <a:spcBef>
                <a:spcPts val="0"/>
              </a:spcBef>
              <a:spcAft>
                <a:spcPts val="0"/>
              </a:spcAft>
              <a:buNone/>
            </a:pPr>
            <a:r>
              <a:rPr b="1" lang="en-US" sz="1550">
                <a:latin typeface="Times New Roman"/>
                <a:ea typeface="Times New Roman"/>
                <a:cs typeface="Times New Roman"/>
                <a:sym typeface="Times New Roman"/>
              </a:rPr>
              <a:t>SUMMARY</a:t>
            </a:r>
            <a:r>
              <a:rPr lang="en-US" sz="1550">
                <a:latin typeface="Times New Roman"/>
                <a:ea typeface="Times New Roman"/>
                <a:cs typeface="Times New Roman"/>
                <a:sym typeface="Times New Roman"/>
              </a:rPr>
              <a:t>: </a:t>
            </a:r>
            <a:r>
              <a:rPr lang="en-US" sz="1550">
                <a:latin typeface="Times New Roman"/>
                <a:ea typeface="Times New Roman"/>
                <a:cs typeface="Times New Roman"/>
                <a:sym typeface="Times New Roman"/>
              </a:rPr>
              <a:t>This study develops a multi-year dynamics model of an organic dairy farm using Vensim PLE, simulating six core stocks: Herd Size, Feed Inventory, Water Storage, Energy Reserve, Milk Output, and Manure Stock. This is all within a Water-Energy-Food (WEF) nexus framework. Key auxiliary variables include Water Use Efficiency (WUE), Energy Use Efficiency (EUE), Heat Stress Factor (THI), Enteric Methane Emissions (IPCC Tier 2), and Nutrient Leaching. Baseline simulations reveal strong interdependencies across subsystems, where feed and energy availability jointly drive milk output. Future work will incorporate stress scenario testing under water scarcity, energy price shocks, and feed disruption conditions.</a:t>
            </a:r>
            <a:endParaRPr sz="1550">
              <a:latin typeface="Times New Roman"/>
              <a:ea typeface="Times New Roman"/>
              <a:cs typeface="Times New Roman"/>
              <a:sym typeface="Times New Roman"/>
            </a:endParaRPr>
          </a:p>
          <a:p>
            <a:pPr indent="0" lvl="0" marL="12700" marR="5080" rtl="0" algn="l">
              <a:lnSpc>
                <a:spcPct val="101299"/>
              </a:lnSpc>
              <a:spcBef>
                <a:spcPts val="1639"/>
              </a:spcBef>
              <a:spcAft>
                <a:spcPts val="0"/>
              </a:spcAft>
              <a:buNone/>
            </a:pPr>
            <a:r>
              <a:rPr b="1" lang="en-US" sz="1550">
                <a:solidFill>
                  <a:srgbClr val="C00000"/>
                </a:solidFill>
                <a:latin typeface="Times New Roman"/>
                <a:ea typeface="Times New Roman"/>
                <a:cs typeface="Times New Roman"/>
                <a:sym typeface="Times New Roman"/>
              </a:rPr>
              <a:t>Dynamic hypothesis: </a:t>
            </a:r>
            <a:r>
              <a:rPr b="1" lang="en-US" sz="1550">
                <a:solidFill>
                  <a:srgbClr val="001F5F"/>
                </a:solidFill>
                <a:latin typeface="Times New Roman"/>
                <a:ea typeface="Times New Roman"/>
                <a:cs typeface="Times New Roman"/>
                <a:sym typeface="Times New Roman"/>
              </a:rPr>
              <a:t>Resource stress in any one WEF subsystem (water, feed, or energy) propagates through herd-driven feedback loops to suppress milk output, while coordinated replenishment across all three stocks stabilizes long-run farm productivity.</a:t>
            </a:r>
            <a:endParaRPr b="1" sz="1550">
              <a:solidFill>
                <a:srgbClr val="001F5F"/>
              </a:solidFill>
              <a:latin typeface="Times New Roman"/>
              <a:ea typeface="Times New Roman"/>
              <a:cs typeface="Times New Roman"/>
              <a:sym typeface="Times New Roman"/>
            </a:endParaRPr>
          </a:p>
          <a:p>
            <a:pPr indent="0" lvl="0" marL="0" marR="408305" rtl="0" algn="l">
              <a:lnSpc>
                <a:spcPct val="100000"/>
              </a:lnSpc>
              <a:spcBef>
                <a:spcPts val="1115"/>
              </a:spcBef>
              <a:spcAft>
                <a:spcPts val="0"/>
              </a:spcAft>
              <a:buNone/>
            </a:pPr>
            <a:r>
              <a:rPr b="1" lang="en-US" sz="2100">
                <a:solidFill>
                  <a:srgbClr val="500000"/>
                </a:solidFill>
                <a:latin typeface="Times New Roman"/>
                <a:ea typeface="Times New Roman"/>
                <a:cs typeface="Times New Roman"/>
                <a:sym typeface="Times New Roman"/>
              </a:rPr>
              <a:t>	</a:t>
            </a:r>
            <a:r>
              <a:rPr b="1" baseline="30000" lang="en-US" sz="3150">
                <a:solidFill>
                  <a:srgbClr val="500000"/>
                </a:solidFill>
                <a:latin typeface="Times New Roman"/>
                <a:ea typeface="Times New Roman"/>
                <a:cs typeface="Times New Roman"/>
                <a:sym typeface="Times New Roman"/>
              </a:rPr>
              <a:t>						</a:t>
            </a:r>
            <a:r>
              <a:rPr b="1" baseline="30000" lang="en-US" sz="3150">
                <a:solidFill>
                  <a:srgbClr val="500000"/>
                </a:solidFill>
                <a:latin typeface="Times New Roman"/>
                <a:ea typeface="Times New Roman"/>
                <a:cs typeface="Times New Roman"/>
                <a:sym typeface="Times New Roman"/>
              </a:rPr>
              <a:t>INTRODUCTION																RESULT: CAUSAL LOOP DIAGRAM</a:t>
            </a:r>
            <a:endParaRPr baseline="30000" sz="3150">
              <a:latin typeface="Times New Roman"/>
              <a:ea typeface="Times New Roman"/>
              <a:cs typeface="Times New Roman"/>
              <a:sym typeface="Times New Roman"/>
            </a:endParaRPr>
          </a:p>
        </p:txBody>
      </p:sp>
      <p:sp>
        <p:nvSpPr>
          <p:cNvPr id="115" name="Google Shape;115;p8"/>
          <p:cNvSpPr/>
          <p:nvPr/>
        </p:nvSpPr>
        <p:spPr>
          <a:xfrm>
            <a:off x="4898379" y="7438665"/>
            <a:ext cx="3578225" cy="5485765"/>
          </a:xfrm>
          <a:custGeom>
            <a:rect b="b" l="l" r="r" t="t"/>
            <a:pathLst>
              <a:path extrusionOk="0" h="5485765" w="3578225">
                <a:moveTo>
                  <a:pt x="0" y="5485397"/>
                </a:moveTo>
                <a:lnTo>
                  <a:pt x="3577901" y="5485397"/>
                </a:lnTo>
                <a:lnTo>
                  <a:pt x="3577901" y="0"/>
                </a:lnTo>
                <a:lnTo>
                  <a:pt x="0" y="0"/>
                </a:lnTo>
                <a:lnTo>
                  <a:pt x="0" y="5485397"/>
                </a:lnTo>
                <a:close/>
              </a:path>
            </a:pathLst>
          </a:custGeom>
          <a:noFill/>
          <a:ln cap="flat" cmpd="sng" w="29900">
            <a:solidFill>
              <a:srgbClr val="434343"/>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aphicFrame>
        <p:nvGraphicFramePr>
          <p:cNvPr id="116" name="Google Shape;116;p8"/>
          <p:cNvGraphicFramePr/>
          <p:nvPr/>
        </p:nvGraphicFramePr>
        <p:xfrm>
          <a:off x="4941111" y="9759314"/>
          <a:ext cx="3000000" cy="3000000"/>
        </p:xfrm>
        <a:graphic>
          <a:graphicData uri="http://schemas.openxmlformats.org/drawingml/2006/table">
            <a:tbl>
              <a:tblPr bandRow="1" firstRow="1">
                <a:noFill/>
                <a:tableStyleId>{A204054C-725E-4728-9D5B-69CC68424365}</a:tableStyleId>
              </a:tblPr>
              <a:tblGrid>
                <a:gridCol w="1108700"/>
                <a:gridCol w="788675"/>
                <a:gridCol w="774075"/>
                <a:gridCol w="200000"/>
              </a:tblGrid>
              <a:tr h="475625">
                <a:tc>
                  <a:txBody>
                    <a:bodyPr/>
                    <a:lstStyle/>
                    <a:p>
                      <a:pPr indent="0" lvl="0" marL="29845" marR="0" rtl="0" algn="l">
                        <a:lnSpc>
                          <a:spcPct val="100000"/>
                        </a:lnSpc>
                        <a:spcBef>
                          <a:spcPts val="0"/>
                        </a:spcBef>
                        <a:spcAft>
                          <a:spcPts val="0"/>
                        </a:spcAft>
                        <a:buNone/>
                      </a:pPr>
                      <a:r>
                        <a:rPr b="1" lang="en-US" sz="1400" u="none" cap="none" strike="noStrike">
                          <a:latin typeface="Times New Roman"/>
                          <a:ea typeface="Times New Roman"/>
                          <a:cs typeface="Times New Roman"/>
                          <a:sym typeface="Times New Roman"/>
                        </a:rPr>
                        <a:t>Scenario</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272415" rtl="0" algn="l">
                        <a:lnSpc>
                          <a:spcPct val="101000"/>
                        </a:lnSpc>
                        <a:spcBef>
                          <a:spcPts val="0"/>
                        </a:spcBef>
                        <a:spcAft>
                          <a:spcPts val="0"/>
                        </a:spcAft>
                        <a:buNone/>
                      </a:pPr>
                      <a:r>
                        <a:rPr b="1" lang="en-US" sz="1400" u="none" cap="none" strike="noStrike">
                          <a:latin typeface="Times New Roman"/>
                          <a:ea typeface="Times New Roman"/>
                          <a:cs typeface="Times New Roman"/>
                          <a:sym typeface="Times New Roman"/>
                        </a:rPr>
                        <a:t>Water Usage</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177800" rtl="0" algn="l">
                        <a:lnSpc>
                          <a:spcPct val="101000"/>
                        </a:lnSpc>
                        <a:spcBef>
                          <a:spcPts val="0"/>
                        </a:spcBef>
                        <a:spcAft>
                          <a:spcPts val="0"/>
                        </a:spcAft>
                        <a:buNone/>
                      </a:pPr>
                      <a:r>
                        <a:rPr b="1" lang="en-US" sz="1400" u="none" cap="none" strike="noStrike">
                          <a:latin typeface="Times New Roman"/>
                          <a:ea typeface="Times New Roman"/>
                          <a:cs typeface="Times New Roman"/>
                          <a:sym typeface="Times New Roman"/>
                        </a:rPr>
                        <a:t>Energy Usage</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0" rtl="0" algn="l">
                        <a:lnSpc>
                          <a:spcPct val="100000"/>
                        </a:lnSpc>
                        <a:spcBef>
                          <a:spcPts val="0"/>
                        </a:spcBef>
                        <a:spcAft>
                          <a:spcPts val="0"/>
                        </a:spcAft>
                        <a:buNone/>
                      </a:pPr>
                      <a:r>
                        <a:rPr b="1" lang="en-US" sz="1400" u="none" cap="none" strike="noStrike">
                          <a:latin typeface="Times New Roman"/>
                          <a:ea typeface="Times New Roman"/>
                          <a:cs typeface="Times New Roman"/>
                          <a:sym typeface="Times New Roman"/>
                        </a:rPr>
                        <a:t>GHG</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b="1" lang="en-US" sz="1400" u="none" cap="none" strike="noStrike">
                          <a:latin typeface="Times New Roman"/>
                          <a:ea typeface="Times New Roman"/>
                          <a:cs typeface="Times New Roman"/>
                          <a:sym typeface="Times New Roman"/>
                        </a:rPr>
                        <a:t>Emissions</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r>
              <a:tr h="913125">
                <a:tc>
                  <a:txBody>
                    <a:bodyPr/>
                    <a:lstStyle/>
                    <a:p>
                      <a:pPr indent="0" lvl="0" marL="29845" marR="54610" rtl="0" algn="l">
                        <a:lnSpc>
                          <a:spcPct val="101000"/>
                        </a:lnSpc>
                        <a:spcBef>
                          <a:spcPts val="0"/>
                        </a:spcBef>
                        <a:spcAft>
                          <a:spcPts val="0"/>
                        </a:spcAft>
                        <a:buNone/>
                      </a:pPr>
                      <a:r>
                        <a:rPr lang="en-US" sz="1400" u="none" cap="none" strike="noStrike">
                          <a:latin typeface="Times New Roman"/>
                          <a:ea typeface="Times New Roman"/>
                          <a:cs typeface="Times New Roman"/>
                          <a:sym typeface="Times New Roman"/>
                        </a:rPr>
                        <a:t>Technological advancements in energy efficiency</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43180" rtl="0" algn="l">
                        <a:lnSpc>
                          <a:spcPct val="101000"/>
                        </a:lnSpc>
                        <a:spcBef>
                          <a:spcPts val="0"/>
                        </a:spcBef>
                        <a:spcAft>
                          <a:spcPts val="0"/>
                        </a:spcAft>
                        <a:buNone/>
                      </a:pPr>
                      <a:r>
                        <a:rPr lang="en-US" sz="1400" u="none" cap="none" strike="noStrike">
                          <a:latin typeface="Times New Roman"/>
                          <a:ea typeface="Times New Roman"/>
                          <a:cs typeface="Times New Roman"/>
                          <a:sym typeface="Times New Roman"/>
                        </a:rPr>
                        <a:t>No </a:t>
                      </a:r>
                      <a:r>
                        <a:rPr lang="en-US">
                          <a:latin typeface="Times New Roman"/>
                          <a:ea typeface="Times New Roman"/>
                          <a:cs typeface="Times New Roman"/>
                          <a:sym typeface="Times New Roman"/>
                        </a:rPr>
                        <a:t>significant</a:t>
                      </a:r>
                      <a:r>
                        <a:rPr lang="en-US" sz="1400" u="none" cap="none" strike="noStrike">
                          <a:latin typeface="Times New Roman"/>
                          <a:ea typeface="Times New Roman"/>
                          <a:cs typeface="Times New Roman"/>
                          <a:sym typeface="Times New Roman"/>
                        </a:rPr>
                        <a:t> change</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30%</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15%</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r>
              <a:tr h="694050">
                <a:tc>
                  <a:txBody>
                    <a:bodyPr/>
                    <a:lstStyle/>
                    <a:p>
                      <a:pPr indent="0" lvl="0" marL="29845" marR="34290" rtl="0" algn="l">
                        <a:lnSpc>
                          <a:spcPct val="101000"/>
                        </a:lnSpc>
                        <a:spcBef>
                          <a:spcPts val="0"/>
                        </a:spcBef>
                        <a:spcAft>
                          <a:spcPts val="0"/>
                        </a:spcAft>
                        <a:buNone/>
                      </a:pPr>
                      <a:r>
                        <a:rPr lang="en-US" sz="1400" u="none" cap="none" strike="noStrike">
                          <a:latin typeface="Times New Roman"/>
                          <a:ea typeface="Times New Roman"/>
                          <a:cs typeface="Times New Roman"/>
                          <a:sym typeface="Times New Roman"/>
                        </a:rPr>
                        <a:t>Improvements in water management</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40%</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5%</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lang="en-US" sz="1400" u="none" cap="none" strike="noStrike">
                          <a:latin typeface="Times New Roman"/>
                          <a:ea typeface="Times New Roman"/>
                          <a:cs typeface="Times New Roman"/>
                          <a:sym typeface="Times New Roman"/>
                        </a:rPr>
                        <a:t>increase</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5%</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20"/>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190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BEBE8"/>
                    </a:solidFill>
                  </a:tcPr>
                </a:tc>
              </a:tr>
              <a:tr h="691525">
                <a:tc>
                  <a:txBody>
                    <a:bodyPr/>
                    <a:lstStyle/>
                    <a:p>
                      <a:pPr indent="0" lvl="0" marL="29845" marR="323215" rtl="0" algn="l">
                        <a:lnSpc>
                          <a:spcPct val="101000"/>
                        </a:lnSpc>
                        <a:spcBef>
                          <a:spcPts val="0"/>
                        </a:spcBef>
                        <a:spcAft>
                          <a:spcPts val="0"/>
                        </a:spcAft>
                        <a:buNone/>
                      </a:pPr>
                      <a:r>
                        <a:rPr lang="en-US" sz="1400" u="none" cap="none" strike="noStrike">
                          <a:latin typeface="Times New Roman"/>
                          <a:ea typeface="Times New Roman"/>
                          <a:cs typeface="Times New Roman"/>
                          <a:sym typeface="Times New Roman"/>
                        </a:rPr>
                        <a:t>Climate adaptation strategies</a:t>
                      </a:r>
                      <a:endParaRPr sz="1400" u="none" cap="none" strike="noStrike">
                        <a:latin typeface="Times New Roman"/>
                        <a:ea typeface="Times New Roman"/>
                        <a:cs typeface="Times New Roman"/>
                        <a:sym typeface="Times New Roman"/>
                      </a:endParaRPr>
                    </a:p>
                  </a:txBody>
                  <a:tcPr marT="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25%</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15"/>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255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10%</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15"/>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255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c>
                  <a:txBody>
                    <a:bodyPr/>
                    <a:lstStyle/>
                    <a:p>
                      <a:pPr indent="0" lvl="0" marL="29845"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20%</a:t>
                      </a:r>
                      <a:endParaRPr sz="1400" u="none" cap="none" strike="noStrike">
                        <a:latin typeface="Times New Roman"/>
                        <a:ea typeface="Times New Roman"/>
                        <a:cs typeface="Times New Roman"/>
                        <a:sym typeface="Times New Roman"/>
                      </a:endParaRPr>
                    </a:p>
                    <a:p>
                      <a:pPr indent="0" lvl="0" marL="29845" marR="0" rtl="0" algn="l">
                        <a:lnSpc>
                          <a:spcPct val="100000"/>
                        </a:lnSpc>
                        <a:spcBef>
                          <a:spcPts val="15"/>
                        </a:spcBef>
                        <a:spcAft>
                          <a:spcPts val="0"/>
                        </a:spcAft>
                        <a:buNone/>
                      </a:pPr>
                      <a:r>
                        <a:rPr lang="en-US" sz="1400" u="none" cap="none" strike="noStrike">
                          <a:latin typeface="Times New Roman"/>
                          <a:ea typeface="Times New Roman"/>
                          <a:cs typeface="Times New Roman"/>
                          <a:sym typeface="Times New Roman"/>
                        </a:rPr>
                        <a:t>reduction</a:t>
                      </a:r>
                      <a:endParaRPr sz="1400" u="none" cap="none" strike="noStrike">
                        <a:latin typeface="Times New Roman"/>
                        <a:ea typeface="Times New Roman"/>
                        <a:cs typeface="Times New Roman"/>
                        <a:sym typeface="Times New Roman"/>
                      </a:endParaRPr>
                    </a:p>
                  </a:txBody>
                  <a:tcPr marT="2550" marB="0" marR="0" marL="0">
                    <a:lnL cap="flat" cmpd="sng" w="9525">
                      <a:solidFill>
                        <a:srgbClr val="EC7C30"/>
                      </a:solidFill>
                      <a:prstDash val="solid"/>
                      <a:round/>
                      <a:headEnd len="sm" w="sm" type="none"/>
                      <a:tailEnd len="sm" w="sm" type="none"/>
                    </a:lnL>
                    <a:lnR cap="flat" cmpd="sng" w="9525">
                      <a:solidFill>
                        <a:srgbClr val="EC7C30"/>
                      </a:solidFill>
                      <a:prstDash val="solid"/>
                      <a:round/>
                      <a:headEnd len="sm" w="sm" type="none"/>
                      <a:tailEnd len="sm" w="sm" type="none"/>
                    </a:lnR>
                    <a:lnT cap="flat" cmpd="sng" w="9525">
                      <a:solidFill>
                        <a:srgbClr val="EC7C30"/>
                      </a:solidFill>
                      <a:prstDash val="solid"/>
                      <a:round/>
                      <a:headEnd len="sm" w="sm" type="none"/>
                      <a:tailEnd len="sm" w="sm" type="none"/>
                    </a:lnT>
                    <a:lnB cap="flat" cmpd="sng" w="9525">
                      <a:solidFill>
                        <a:srgbClr val="EC7C30"/>
                      </a:solidFill>
                      <a:prstDash val="solid"/>
                      <a:round/>
                      <a:headEnd len="sm" w="sm" type="none"/>
                      <a:tailEnd len="sm" w="sm" type="none"/>
                    </a:lnB>
                    <a:solidFill>
                      <a:srgbClr val="F8D6CD"/>
                    </a:solidFill>
                  </a:tcPr>
                </a:tc>
              </a:tr>
            </a:tbl>
          </a:graphicData>
        </a:graphic>
      </p:graphicFrame>
      <p:sp>
        <p:nvSpPr>
          <p:cNvPr id="117" name="Google Shape;117;p8"/>
          <p:cNvSpPr txBox="1"/>
          <p:nvPr/>
        </p:nvSpPr>
        <p:spPr>
          <a:xfrm>
            <a:off x="5055707" y="7582830"/>
            <a:ext cx="3215005" cy="34861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1" lang="en-US" sz="2100">
                <a:solidFill>
                  <a:srgbClr val="500000"/>
                </a:solidFill>
                <a:latin typeface="Times New Roman"/>
                <a:ea typeface="Times New Roman"/>
                <a:cs typeface="Times New Roman"/>
                <a:sym typeface="Times New Roman"/>
              </a:rPr>
              <a:t>FUTURE IMPLICATIONS</a:t>
            </a:r>
            <a:endParaRPr sz="2100">
              <a:latin typeface="Times New Roman"/>
              <a:ea typeface="Times New Roman"/>
              <a:cs typeface="Times New Roman"/>
              <a:sym typeface="Times New Roman"/>
            </a:endParaRPr>
          </a:p>
        </p:txBody>
      </p:sp>
      <p:grpSp>
        <p:nvGrpSpPr>
          <p:cNvPr id="118" name="Google Shape;118;p8"/>
          <p:cNvGrpSpPr/>
          <p:nvPr/>
        </p:nvGrpSpPr>
        <p:grpSpPr>
          <a:xfrm>
            <a:off x="108298" y="7462001"/>
            <a:ext cx="8379568" cy="5275681"/>
            <a:chOff x="108298" y="7462001"/>
            <a:chExt cx="8379568" cy="5275681"/>
          </a:xfrm>
        </p:grpSpPr>
        <p:sp>
          <p:nvSpPr>
            <p:cNvPr id="119" name="Google Shape;119;p8"/>
            <p:cNvSpPr/>
            <p:nvPr/>
          </p:nvSpPr>
          <p:spPr>
            <a:xfrm>
              <a:off x="4892496" y="7462001"/>
              <a:ext cx="3595370" cy="546100"/>
            </a:xfrm>
            <a:custGeom>
              <a:rect b="b" l="l" r="r" t="t"/>
              <a:pathLst>
                <a:path extrusionOk="0" h="546100" w="3595370">
                  <a:moveTo>
                    <a:pt x="0" y="545732"/>
                  </a:moveTo>
                  <a:lnTo>
                    <a:pt x="3595253" y="545732"/>
                  </a:lnTo>
                  <a:lnTo>
                    <a:pt x="3595253" y="0"/>
                  </a:lnTo>
                  <a:lnTo>
                    <a:pt x="0" y="0"/>
                  </a:lnTo>
                  <a:lnTo>
                    <a:pt x="0" y="545732"/>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20" name="Google Shape;120;p8"/>
            <p:cNvPicPr preferRelativeResize="0"/>
            <p:nvPr/>
          </p:nvPicPr>
          <p:blipFill rotWithShape="1">
            <a:blip r:embed="rId4">
              <a:alphaModFix/>
            </a:blip>
            <a:srcRect b="0" l="0" r="0" t="0"/>
            <a:stretch/>
          </p:blipFill>
          <p:spPr>
            <a:xfrm>
              <a:off x="108298" y="12146825"/>
              <a:ext cx="2158498" cy="590857"/>
            </a:xfrm>
            <a:prstGeom prst="rect">
              <a:avLst/>
            </a:prstGeom>
            <a:noFill/>
            <a:ln>
              <a:noFill/>
            </a:ln>
          </p:spPr>
        </p:pic>
      </p:grpSp>
      <p:sp>
        <p:nvSpPr>
          <p:cNvPr id="121" name="Google Shape;121;p8"/>
          <p:cNvSpPr txBox="1"/>
          <p:nvPr/>
        </p:nvSpPr>
        <p:spPr>
          <a:xfrm>
            <a:off x="4941103" y="8077687"/>
            <a:ext cx="3299400" cy="1535400"/>
          </a:xfrm>
          <a:prstGeom prst="rect">
            <a:avLst/>
          </a:prstGeom>
          <a:noFill/>
          <a:ln>
            <a:noFill/>
          </a:ln>
        </p:spPr>
        <p:txBody>
          <a:bodyPr anchorCtr="0" anchor="t" bIns="0" lIns="0" spcFirstLastPara="1" rIns="0" wrap="square" tIns="13950">
            <a:spAutoFit/>
          </a:bodyPr>
          <a:lstStyle/>
          <a:p>
            <a:pPr indent="-142875" lvl="0" marL="154940" marR="324485" rtl="0" algn="l">
              <a:lnSpc>
                <a:spcPct val="101000"/>
              </a:lnSpc>
              <a:spcBef>
                <a:spcPts val="0"/>
              </a:spcBef>
              <a:spcAft>
                <a:spcPts val="0"/>
              </a:spcAft>
              <a:buSzPts val="1400"/>
              <a:buFont typeface="Arial"/>
              <a:buChar char="•"/>
            </a:pPr>
            <a:r>
              <a:rPr lang="en-US">
                <a:latin typeface="Times New Roman"/>
                <a:ea typeface="Times New Roman"/>
                <a:cs typeface="Times New Roman"/>
                <a:sym typeface="Times New Roman"/>
              </a:rPr>
              <a:t>Use the model to identify leverage points: small changes for large improvements</a:t>
            </a:r>
            <a:endParaRPr>
              <a:latin typeface="Times New Roman"/>
              <a:ea typeface="Times New Roman"/>
              <a:cs typeface="Times New Roman"/>
              <a:sym typeface="Times New Roman"/>
            </a:endParaRPr>
          </a:p>
          <a:p>
            <a:pPr indent="-142875" lvl="0" marL="154940" marR="324485"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Shift to a ML focus to begin time-based modeling</a:t>
            </a:r>
            <a:endParaRPr>
              <a:latin typeface="Times New Roman"/>
              <a:ea typeface="Times New Roman"/>
              <a:cs typeface="Times New Roman"/>
              <a:sym typeface="Times New Roman"/>
            </a:endParaRPr>
          </a:p>
          <a:p>
            <a:pPr indent="-142875" lvl="0" marL="154940" marR="324485" rtl="0" algn="l">
              <a:lnSpc>
                <a:spcPct val="101000"/>
              </a:lnSpc>
              <a:spcBef>
                <a:spcPts val="0"/>
              </a:spcBef>
              <a:spcAft>
                <a:spcPts val="0"/>
              </a:spcAft>
              <a:buSzPts val="1400"/>
              <a:buFont typeface="Times New Roman"/>
              <a:buChar char="•"/>
            </a:pPr>
            <a:r>
              <a:rPr lang="en-US">
                <a:latin typeface="Times New Roman"/>
                <a:ea typeface="Times New Roman"/>
                <a:cs typeface="Times New Roman"/>
                <a:sym typeface="Times New Roman"/>
              </a:rPr>
              <a:t>Agent-based simulation to capture cow-level behavior</a:t>
            </a:r>
            <a:endParaRPr>
              <a:latin typeface="Times New Roman"/>
              <a:ea typeface="Times New Roman"/>
              <a:cs typeface="Times New Roman"/>
              <a:sym typeface="Times New Roman"/>
            </a:endParaRPr>
          </a:p>
        </p:txBody>
      </p:sp>
      <p:sp>
        <p:nvSpPr>
          <p:cNvPr id="122" name="Google Shape;122;p8"/>
          <p:cNvSpPr txBox="1"/>
          <p:nvPr/>
        </p:nvSpPr>
        <p:spPr>
          <a:xfrm>
            <a:off x="5242487" y="12606212"/>
            <a:ext cx="2844800" cy="241300"/>
          </a:xfrm>
          <a:prstGeom prst="rect">
            <a:avLst/>
          </a:prstGeom>
          <a:noFill/>
          <a:ln>
            <a:noFill/>
          </a:ln>
        </p:spPr>
        <p:txBody>
          <a:bodyPr anchorCtr="0" anchor="t" bIns="0" lIns="0" spcFirstLastPara="1" rIns="0" wrap="square" tIns="14600">
            <a:spAutoFit/>
          </a:bodyPr>
          <a:lstStyle/>
          <a:p>
            <a:pPr indent="0" lvl="0" marL="12700" rtl="0" algn="l">
              <a:lnSpc>
                <a:spcPct val="100000"/>
              </a:lnSpc>
              <a:spcBef>
                <a:spcPts val="0"/>
              </a:spcBef>
              <a:spcAft>
                <a:spcPts val="0"/>
              </a:spcAft>
              <a:buNone/>
            </a:pPr>
            <a:r>
              <a:rPr lang="en-US" sz="1400">
                <a:latin typeface="Times New Roman"/>
                <a:ea typeface="Times New Roman"/>
                <a:cs typeface="Times New Roman"/>
                <a:sym typeface="Times New Roman"/>
              </a:rPr>
              <a:t>Table 1: Hypothetical scenario analysis</a:t>
            </a:r>
            <a:endParaRPr sz="1400">
              <a:latin typeface="Times New Roman"/>
              <a:ea typeface="Times New Roman"/>
              <a:cs typeface="Times New Roman"/>
              <a:sym typeface="Times New Roman"/>
            </a:endParaRPr>
          </a:p>
        </p:txBody>
      </p:sp>
      <p:sp>
        <p:nvSpPr>
          <p:cNvPr id="123" name="Google Shape;123;p8"/>
          <p:cNvSpPr txBox="1"/>
          <p:nvPr/>
        </p:nvSpPr>
        <p:spPr>
          <a:xfrm>
            <a:off x="266005" y="12215618"/>
            <a:ext cx="1835785" cy="34861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1" lang="en-US" sz="2100">
                <a:solidFill>
                  <a:srgbClr val="500000"/>
                </a:solidFill>
                <a:latin typeface="Times New Roman"/>
                <a:ea typeface="Times New Roman"/>
                <a:cs typeface="Times New Roman"/>
                <a:sym typeface="Times New Roman"/>
              </a:rPr>
              <a:t>REFERENCES</a:t>
            </a:r>
            <a:endParaRPr sz="2100">
              <a:latin typeface="Times New Roman"/>
              <a:ea typeface="Times New Roman"/>
              <a:cs typeface="Times New Roman"/>
              <a:sym typeface="Times New Roman"/>
            </a:endParaRPr>
          </a:p>
        </p:txBody>
      </p:sp>
      <p:grpSp>
        <p:nvGrpSpPr>
          <p:cNvPr id="124" name="Google Shape;124;p8"/>
          <p:cNvGrpSpPr/>
          <p:nvPr/>
        </p:nvGrpSpPr>
        <p:grpSpPr>
          <a:xfrm>
            <a:off x="19883" y="6543256"/>
            <a:ext cx="8306891" cy="6305986"/>
            <a:chOff x="19883" y="6543256"/>
            <a:chExt cx="8306891" cy="6305986"/>
          </a:xfrm>
        </p:grpSpPr>
        <p:pic>
          <p:nvPicPr>
            <p:cNvPr id="125" name="Google Shape;125;p8"/>
            <p:cNvPicPr preferRelativeResize="0"/>
            <p:nvPr/>
          </p:nvPicPr>
          <p:blipFill rotWithShape="1">
            <a:blip r:embed="rId5">
              <a:alphaModFix/>
            </a:blip>
            <a:srcRect b="0" l="0" r="0" t="0"/>
            <a:stretch/>
          </p:blipFill>
          <p:spPr>
            <a:xfrm>
              <a:off x="3516322" y="12046275"/>
              <a:ext cx="802967" cy="802967"/>
            </a:xfrm>
            <a:prstGeom prst="rect">
              <a:avLst/>
            </a:prstGeom>
            <a:noFill/>
            <a:ln>
              <a:noFill/>
            </a:ln>
          </p:spPr>
        </p:pic>
        <p:sp>
          <p:nvSpPr>
            <p:cNvPr id="126" name="Google Shape;126;p8"/>
            <p:cNvSpPr/>
            <p:nvPr/>
          </p:nvSpPr>
          <p:spPr>
            <a:xfrm>
              <a:off x="19883" y="7438666"/>
              <a:ext cx="4853940" cy="569595"/>
            </a:xfrm>
            <a:custGeom>
              <a:rect b="b" l="l" r="r" t="t"/>
              <a:pathLst>
                <a:path extrusionOk="0" h="569595" w="4853940">
                  <a:moveTo>
                    <a:pt x="0" y="569067"/>
                  </a:moveTo>
                  <a:lnTo>
                    <a:pt x="4853803" y="569067"/>
                  </a:lnTo>
                  <a:lnTo>
                    <a:pt x="4853803" y="0"/>
                  </a:lnTo>
                  <a:lnTo>
                    <a:pt x="0" y="0"/>
                  </a:lnTo>
                  <a:lnTo>
                    <a:pt x="0" y="569067"/>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7" name="Google Shape;127;p8"/>
            <p:cNvSpPr/>
            <p:nvPr/>
          </p:nvSpPr>
          <p:spPr>
            <a:xfrm>
              <a:off x="4669366" y="6543256"/>
              <a:ext cx="853440" cy="844550"/>
            </a:xfrm>
            <a:custGeom>
              <a:rect b="b" l="l" r="r" t="t"/>
              <a:pathLst>
                <a:path extrusionOk="0" h="844550" w="853439">
                  <a:moveTo>
                    <a:pt x="511577" y="0"/>
                  </a:moveTo>
                  <a:lnTo>
                    <a:pt x="0" y="481860"/>
                  </a:lnTo>
                  <a:lnTo>
                    <a:pt x="341450" y="844352"/>
                  </a:lnTo>
                  <a:lnTo>
                    <a:pt x="853028" y="362492"/>
                  </a:lnTo>
                  <a:lnTo>
                    <a:pt x="511577" y="0"/>
                  </a:lnTo>
                  <a:close/>
                </a:path>
              </a:pathLst>
            </a:custGeom>
            <a:solidFill>
              <a:srgbClr val="4471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8" name="Google Shape;128;p8"/>
            <p:cNvSpPr/>
            <p:nvPr/>
          </p:nvSpPr>
          <p:spPr>
            <a:xfrm>
              <a:off x="4669366" y="6543256"/>
              <a:ext cx="853440" cy="844550"/>
            </a:xfrm>
            <a:custGeom>
              <a:rect b="b" l="l" r="r" t="t"/>
              <a:pathLst>
                <a:path extrusionOk="0" h="844550" w="853439">
                  <a:moveTo>
                    <a:pt x="0" y="481860"/>
                  </a:moveTo>
                  <a:lnTo>
                    <a:pt x="511577" y="0"/>
                  </a:lnTo>
                  <a:lnTo>
                    <a:pt x="853028" y="362492"/>
                  </a:lnTo>
                  <a:lnTo>
                    <a:pt x="341450" y="844352"/>
                  </a:lnTo>
                  <a:lnTo>
                    <a:pt x="0" y="481860"/>
                  </a:lnTo>
                  <a:close/>
                </a:path>
              </a:pathLst>
            </a:custGeom>
            <a:noFill/>
            <a:ln cap="flat" cmpd="sng" w="9525">
              <a:solidFill>
                <a:srgbClr val="172C5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9" name="Google Shape;129;p8"/>
            <p:cNvSpPr/>
            <p:nvPr/>
          </p:nvSpPr>
          <p:spPr>
            <a:xfrm>
              <a:off x="4907005" y="6812516"/>
              <a:ext cx="376555" cy="309880"/>
            </a:xfrm>
            <a:custGeom>
              <a:rect b="b" l="l" r="r" t="t"/>
              <a:pathLst>
                <a:path extrusionOk="0" h="309879" w="376554">
                  <a:moveTo>
                    <a:pt x="50671" y="255270"/>
                  </a:moveTo>
                  <a:lnTo>
                    <a:pt x="11517" y="255270"/>
                  </a:lnTo>
                  <a:lnTo>
                    <a:pt x="13811" y="256540"/>
                  </a:lnTo>
                  <a:lnTo>
                    <a:pt x="17601" y="257810"/>
                  </a:lnTo>
                  <a:lnTo>
                    <a:pt x="21789" y="259080"/>
                  </a:lnTo>
                  <a:lnTo>
                    <a:pt x="28770" y="262890"/>
                  </a:lnTo>
                  <a:lnTo>
                    <a:pt x="122160" y="309880"/>
                  </a:lnTo>
                  <a:lnTo>
                    <a:pt x="124453" y="308610"/>
                  </a:lnTo>
                  <a:lnTo>
                    <a:pt x="113804" y="284480"/>
                  </a:lnTo>
                  <a:lnTo>
                    <a:pt x="105955" y="284480"/>
                  </a:lnTo>
                  <a:lnTo>
                    <a:pt x="50671" y="255270"/>
                  </a:lnTo>
                  <a:close/>
                </a:path>
                <a:path extrusionOk="0" h="309879" w="376554">
                  <a:moveTo>
                    <a:pt x="94270" y="217170"/>
                  </a:moveTo>
                  <a:lnTo>
                    <a:pt x="54897" y="217170"/>
                  </a:lnTo>
                  <a:lnTo>
                    <a:pt x="58836" y="218440"/>
                  </a:lnTo>
                  <a:lnTo>
                    <a:pt x="61628" y="219710"/>
                  </a:lnTo>
                  <a:lnTo>
                    <a:pt x="64520" y="220980"/>
                  </a:lnTo>
                  <a:lnTo>
                    <a:pt x="71999" y="224790"/>
                  </a:lnTo>
                  <a:lnTo>
                    <a:pt x="81423" y="229870"/>
                  </a:lnTo>
                  <a:lnTo>
                    <a:pt x="105955" y="284480"/>
                  </a:lnTo>
                  <a:lnTo>
                    <a:pt x="113804" y="284480"/>
                  </a:lnTo>
                  <a:lnTo>
                    <a:pt x="91944" y="234950"/>
                  </a:lnTo>
                  <a:lnTo>
                    <a:pt x="128200" y="234950"/>
                  </a:lnTo>
                  <a:lnTo>
                    <a:pt x="94270" y="217170"/>
                  </a:lnTo>
                  <a:close/>
                </a:path>
                <a:path extrusionOk="0" h="309879" w="376554">
                  <a:moveTo>
                    <a:pt x="128200" y="234950"/>
                  </a:moveTo>
                  <a:lnTo>
                    <a:pt x="91944" y="234950"/>
                  </a:lnTo>
                  <a:lnTo>
                    <a:pt x="163744" y="271780"/>
                  </a:lnTo>
                  <a:lnTo>
                    <a:pt x="166287" y="269240"/>
                  </a:lnTo>
                  <a:lnTo>
                    <a:pt x="155477" y="245110"/>
                  </a:lnTo>
                  <a:lnTo>
                    <a:pt x="147589" y="245110"/>
                  </a:lnTo>
                  <a:lnTo>
                    <a:pt x="128200" y="234950"/>
                  </a:lnTo>
                  <a:close/>
                </a:path>
                <a:path extrusionOk="0" h="309879" w="376554">
                  <a:moveTo>
                    <a:pt x="32060" y="228600"/>
                  </a:moveTo>
                  <a:lnTo>
                    <a:pt x="0" y="259080"/>
                  </a:lnTo>
                  <a:lnTo>
                    <a:pt x="2243" y="260350"/>
                  </a:lnTo>
                  <a:lnTo>
                    <a:pt x="4736" y="259080"/>
                  </a:lnTo>
                  <a:lnTo>
                    <a:pt x="7080" y="256540"/>
                  </a:lnTo>
                  <a:lnTo>
                    <a:pt x="11517" y="255270"/>
                  </a:lnTo>
                  <a:lnTo>
                    <a:pt x="50671" y="255270"/>
                  </a:lnTo>
                  <a:lnTo>
                    <a:pt x="36249" y="247650"/>
                  </a:lnTo>
                  <a:lnTo>
                    <a:pt x="32110" y="245110"/>
                  </a:lnTo>
                  <a:lnTo>
                    <a:pt x="29318" y="242570"/>
                  </a:lnTo>
                  <a:lnTo>
                    <a:pt x="28770" y="241300"/>
                  </a:lnTo>
                  <a:lnTo>
                    <a:pt x="29019" y="238760"/>
                  </a:lnTo>
                  <a:lnTo>
                    <a:pt x="29218" y="236220"/>
                  </a:lnTo>
                  <a:lnTo>
                    <a:pt x="30465" y="234950"/>
                  </a:lnTo>
                  <a:lnTo>
                    <a:pt x="32709" y="232410"/>
                  </a:lnTo>
                  <a:lnTo>
                    <a:pt x="34254" y="231140"/>
                  </a:lnTo>
                  <a:lnTo>
                    <a:pt x="32060" y="228600"/>
                  </a:lnTo>
                  <a:close/>
                </a:path>
                <a:path extrusionOk="0" h="309879" w="376554">
                  <a:moveTo>
                    <a:pt x="120265" y="166370"/>
                  </a:moveTo>
                  <a:lnTo>
                    <a:pt x="109545" y="166370"/>
                  </a:lnTo>
                  <a:lnTo>
                    <a:pt x="110742" y="167640"/>
                  </a:lnTo>
                  <a:lnTo>
                    <a:pt x="113584" y="170180"/>
                  </a:lnTo>
                  <a:lnTo>
                    <a:pt x="119168" y="181610"/>
                  </a:lnTo>
                  <a:lnTo>
                    <a:pt x="147589" y="245110"/>
                  </a:lnTo>
                  <a:lnTo>
                    <a:pt x="155477" y="245110"/>
                  </a:lnTo>
                  <a:lnTo>
                    <a:pt x="124753" y="176530"/>
                  </a:lnTo>
                  <a:lnTo>
                    <a:pt x="121262" y="168910"/>
                  </a:lnTo>
                  <a:lnTo>
                    <a:pt x="120265" y="166370"/>
                  </a:lnTo>
                  <a:close/>
                </a:path>
                <a:path extrusionOk="0" h="309879" w="376554">
                  <a:moveTo>
                    <a:pt x="202486" y="154940"/>
                  </a:moveTo>
                  <a:lnTo>
                    <a:pt x="180946" y="154940"/>
                  </a:lnTo>
                  <a:lnTo>
                    <a:pt x="185633" y="158750"/>
                  </a:lnTo>
                  <a:lnTo>
                    <a:pt x="191118" y="163830"/>
                  </a:lnTo>
                  <a:lnTo>
                    <a:pt x="193312" y="166370"/>
                  </a:lnTo>
                  <a:lnTo>
                    <a:pt x="188807" y="175260"/>
                  </a:lnTo>
                  <a:lnTo>
                    <a:pt x="185172" y="184150"/>
                  </a:lnTo>
                  <a:lnTo>
                    <a:pt x="182416" y="190500"/>
                  </a:lnTo>
                  <a:lnTo>
                    <a:pt x="180547" y="196850"/>
                  </a:lnTo>
                  <a:lnTo>
                    <a:pt x="178603" y="203200"/>
                  </a:lnTo>
                  <a:lnTo>
                    <a:pt x="178266" y="207010"/>
                  </a:lnTo>
                  <a:lnTo>
                    <a:pt x="178154" y="208280"/>
                  </a:lnTo>
                  <a:lnTo>
                    <a:pt x="179151" y="213360"/>
                  </a:lnTo>
                  <a:lnTo>
                    <a:pt x="198398" y="229870"/>
                  </a:lnTo>
                  <a:lnTo>
                    <a:pt x="203633" y="229870"/>
                  </a:lnTo>
                  <a:lnTo>
                    <a:pt x="208270" y="227330"/>
                  </a:lnTo>
                  <a:lnTo>
                    <a:pt x="214902" y="222250"/>
                  </a:lnTo>
                  <a:lnTo>
                    <a:pt x="216847" y="218440"/>
                  </a:lnTo>
                  <a:lnTo>
                    <a:pt x="218455" y="214630"/>
                  </a:lnTo>
                  <a:lnTo>
                    <a:pt x="205727" y="214630"/>
                  </a:lnTo>
                  <a:lnTo>
                    <a:pt x="198298" y="213360"/>
                  </a:lnTo>
                  <a:lnTo>
                    <a:pt x="187478" y="196850"/>
                  </a:lnTo>
                  <a:lnTo>
                    <a:pt x="188027" y="193040"/>
                  </a:lnTo>
                  <a:lnTo>
                    <a:pt x="190520" y="185420"/>
                  </a:lnTo>
                  <a:lnTo>
                    <a:pt x="192963" y="179070"/>
                  </a:lnTo>
                  <a:lnTo>
                    <a:pt x="196952" y="170180"/>
                  </a:lnTo>
                  <a:lnTo>
                    <a:pt x="216510" y="170180"/>
                  </a:lnTo>
                  <a:lnTo>
                    <a:pt x="202486" y="154940"/>
                  </a:lnTo>
                  <a:close/>
                </a:path>
                <a:path extrusionOk="0" h="309879" w="376554">
                  <a:moveTo>
                    <a:pt x="74792" y="187960"/>
                  </a:moveTo>
                  <a:lnTo>
                    <a:pt x="41085" y="219710"/>
                  </a:lnTo>
                  <a:lnTo>
                    <a:pt x="43329" y="222250"/>
                  </a:lnTo>
                  <a:lnTo>
                    <a:pt x="45074" y="220980"/>
                  </a:lnTo>
                  <a:lnTo>
                    <a:pt x="46470" y="219710"/>
                  </a:lnTo>
                  <a:lnTo>
                    <a:pt x="48913" y="218440"/>
                  </a:lnTo>
                  <a:lnTo>
                    <a:pt x="50459" y="218440"/>
                  </a:lnTo>
                  <a:lnTo>
                    <a:pt x="53600" y="217170"/>
                  </a:lnTo>
                  <a:lnTo>
                    <a:pt x="94270" y="217170"/>
                  </a:lnTo>
                  <a:lnTo>
                    <a:pt x="79728" y="209550"/>
                  </a:lnTo>
                  <a:lnTo>
                    <a:pt x="75190" y="207010"/>
                  </a:lnTo>
                  <a:lnTo>
                    <a:pt x="71501" y="203200"/>
                  </a:lnTo>
                  <a:lnTo>
                    <a:pt x="70753" y="200660"/>
                  </a:lnTo>
                  <a:lnTo>
                    <a:pt x="71052" y="196850"/>
                  </a:lnTo>
                  <a:lnTo>
                    <a:pt x="72348" y="194310"/>
                  </a:lnTo>
                  <a:lnTo>
                    <a:pt x="74692" y="193040"/>
                  </a:lnTo>
                  <a:lnTo>
                    <a:pt x="76985" y="190500"/>
                  </a:lnTo>
                  <a:lnTo>
                    <a:pt x="74792" y="187960"/>
                  </a:lnTo>
                  <a:close/>
                </a:path>
                <a:path extrusionOk="0" h="309879" w="376554">
                  <a:moveTo>
                    <a:pt x="216510" y="170180"/>
                  </a:moveTo>
                  <a:lnTo>
                    <a:pt x="196952" y="170180"/>
                  </a:lnTo>
                  <a:lnTo>
                    <a:pt x="217944" y="193040"/>
                  </a:lnTo>
                  <a:lnTo>
                    <a:pt x="216647" y="201930"/>
                  </a:lnTo>
                  <a:lnTo>
                    <a:pt x="214403" y="208280"/>
                  </a:lnTo>
                  <a:lnTo>
                    <a:pt x="211212" y="210820"/>
                  </a:lnTo>
                  <a:lnTo>
                    <a:pt x="208819" y="213360"/>
                  </a:lnTo>
                  <a:lnTo>
                    <a:pt x="205727" y="214630"/>
                  </a:lnTo>
                  <a:lnTo>
                    <a:pt x="218455" y="214630"/>
                  </a:lnTo>
                  <a:lnTo>
                    <a:pt x="218991" y="213360"/>
                  </a:lnTo>
                  <a:lnTo>
                    <a:pt x="220237" y="207010"/>
                  </a:lnTo>
                  <a:lnTo>
                    <a:pt x="221833" y="196850"/>
                  </a:lnTo>
                  <a:lnTo>
                    <a:pt x="240992" y="196850"/>
                  </a:lnTo>
                  <a:lnTo>
                    <a:pt x="242076" y="195580"/>
                  </a:lnTo>
                  <a:lnTo>
                    <a:pt x="243622" y="187960"/>
                  </a:lnTo>
                  <a:lnTo>
                    <a:pt x="243466" y="186690"/>
                  </a:lnTo>
                  <a:lnTo>
                    <a:pt x="232553" y="186690"/>
                  </a:lnTo>
                  <a:lnTo>
                    <a:pt x="229761" y="184150"/>
                  </a:lnTo>
                  <a:lnTo>
                    <a:pt x="226420" y="180340"/>
                  </a:lnTo>
                  <a:lnTo>
                    <a:pt x="221184" y="175260"/>
                  </a:lnTo>
                  <a:lnTo>
                    <a:pt x="216510" y="170180"/>
                  </a:lnTo>
                  <a:close/>
                </a:path>
                <a:path extrusionOk="0" h="309879" w="376554">
                  <a:moveTo>
                    <a:pt x="240992" y="196850"/>
                  </a:moveTo>
                  <a:lnTo>
                    <a:pt x="221833" y="196850"/>
                  </a:lnTo>
                  <a:lnTo>
                    <a:pt x="225173" y="200660"/>
                  </a:lnTo>
                  <a:lnTo>
                    <a:pt x="228115" y="201930"/>
                  </a:lnTo>
                  <a:lnTo>
                    <a:pt x="233301" y="203200"/>
                  </a:lnTo>
                  <a:lnTo>
                    <a:pt x="235644" y="201930"/>
                  </a:lnTo>
                  <a:lnTo>
                    <a:pt x="237738" y="200660"/>
                  </a:lnTo>
                  <a:lnTo>
                    <a:pt x="240992" y="196850"/>
                  </a:lnTo>
                  <a:close/>
                </a:path>
                <a:path extrusionOk="0" h="309879" w="376554">
                  <a:moveTo>
                    <a:pt x="186930" y="143510"/>
                  </a:moveTo>
                  <a:lnTo>
                    <a:pt x="183140" y="143510"/>
                  </a:lnTo>
                  <a:lnTo>
                    <a:pt x="174464" y="146050"/>
                  </a:lnTo>
                  <a:lnTo>
                    <a:pt x="151877" y="179070"/>
                  </a:lnTo>
                  <a:lnTo>
                    <a:pt x="153174" y="185420"/>
                  </a:lnTo>
                  <a:lnTo>
                    <a:pt x="158409" y="190500"/>
                  </a:lnTo>
                  <a:lnTo>
                    <a:pt x="160354" y="191770"/>
                  </a:lnTo>
                  <a:lnTo>
                    <a:pt x="164442" y="191770"/>
                  </a:lnTo>
                  <a:lnTo>
                    <a:pt x="163844" y="175260"/>
                  </a:lnTo>
                  <a:lnTo>
                    <a:pt x="162099" y="172720"/>
                  </a:lnTo>
                  <a:lnTo>
                    <a:pt x="161351" y="170180"/>
                  </a:lnTo>
                  <a:lnTo>
                    <a:pt x="161476" y="168910"/>
                  </a:lnTo>
                  <a:lnTo>
                    <a:pt x="161600" y="167640"/>
                  </a:lnTo>
                  <a:lnTo>
                    <a:pt x="173168" y="154940"/>
                  </a:lnTo>
                  <a:lnTo>
                    <a:pt x="202486" y="154940"/>
                  </a:lnTo>
                  <a:lnTo>
                    <a:pt x="193262" y="146050"/>
                  </a:lnTo>
                  <a:lnTo>
                    <a:pt x="186930" y="143510"/>
                  </a:lnTo>
                  <a:close/>
                </a:path>
                <a:path extrusionOk="0" h="309879" w="376554">
                  <a:moveTo>
                    <a:pt x="239035" y="173990"/>
                  </a:moveTo>
                  <a:lnTo>
                    <a:pt x="238997" y="175260"/>
                  </a:lnTo>
                  <a:lnTo>
                    <a:pt x="238885" y="179070"/>
                  </a:lnTo>
                  <a:lnTo>
                    <a:pt x="238761" y="180340"/>
                  </a:lnTo>
                  <a:lnTo>
                    <a:pt x="238636" y="181610"/>
                  </a:lnTo>
                  <a:lnTo>
                    <a:pt x="238237" y="184150"/>
                  </a:lnTo>
                  <a:lnTo>
                    <a:pt x="237988" y="184150"/>
                  </a:lnTo>
                  <a:lnTo>
                    <a:pt x="237539" y="185420"/>
                  </a:lnTo>
                  <a:lnTo>
                    <a:pt x="236891" y="185420"/>
                  </a:lnTo>
                  <a:lnTo>
                    <a:pt x="236243" y="186690"/>
                  </a:lnTo>
                  <a:lnTo>
                    <a:pt x="243466" y="186690"/>
                  </a:lnTo>
                  <a:lnTo>
                    <a:pt x="242376" y="177800"/>
                  </a:lnTo>
                  <a:lnTo>
                    <a:pt x="239035" y="173990"/>
                  </a:lnTo>
                  <a:close/>
                </a:path>
                <a:path extrusionOk="0" h="309879" w="376554">
                  <a:moveTo>
                    <a:pt x="120614" y="144780"/>
                  </a:moveTo>
                  <a:lnTo>
                    <a:pt x="94736" y="168910"/>
                  </a:lnTo>
                  <a:lnTo>
                    <a:pt x="96980" y="171450"/>
                  </a:lnTo>
                  <a:lnTo>
                    <a:pt x="99573" y="168910"/>
                  </a:lnTo>
                  <a:lnTo>
                    <a:pt x="101966" y="167640"/>
                  </a:lnTo>
                  <a:lnTo>
                    <a:pt x="104110" y="166370"/>
                  </a:lnTo>
                  <a:lnTo>
                    <a:pt x="120265" y="166370"/>
                  </a:lnTo>
                  <a:lnTo>
                    <a:pt x="119268" y="163830"/>
                  </a:lnTo>
                  <a:lnTo>
                    <a:pt x="117922" y="158750"/>
                  </a:lnTo>
                  <a:lnTo>
                    <a:pt x="117822" y="156210"/>
                  </a:lnTo>
                  <a:lnTo>
                    <a:pt x="119118" y="151130"/>
                  </a:lnTo>
                  <a:lnTo>
                    <a:pt x="120564" y="149860"/>
                  </a:lnTo>
                  <a:lnTo>
                    <a:pt x="122808" y="147320"/>
                  </a:lnTo>
                  <a:lnTo>
                    <a:pt x="120614" y="144780"/>
                  </a:lnTo>
                  <a:close/>
                </a:path>
                <a:path extrusionOk="0" h="309879" w="376554">
                  <a:moveTo>
                    <a:pt x="230256" y="121920"/>
                  </a:moveTo>
                  <a:lnTo>
                    <a:pt x="210215" y="121920"/>
                  </a:lnTo>
                  <a:lnTo>
                    <a:pt x="247212" y="161290"/>
                  </a:lnTo>
                  <a:lnTo>
                    <a:pt x="251201" y="165100"/>
                  </a:lnTo>
                  <a:lnTo>
                    <a:pt x="254542" y="167640"/>
                  </a:lnTo>
                  <a:lnTo>
                    <a:pt x="260176" y="170180"/>
                  </a:lnTo>
                  <a:lnTo>
                    <a:pt x="265910" y="170180"/>
                  </a:lnTo>
                  <a:lnTo>
                    <a:pt x="278518" y="156210"/>
                  </a:lnTo>
                  <a:lnTo>
                    <a:pt x="262918" y="156210"/>
                  </a:lnTo>
                  <a:lnTo>
                    <a:pt x="259977" y="153670"/>
                  </a:lnTo>
                  <a:lnTo>
                    <a:pt x="230256" y="121920"/>
                  </a:lnTo>
                  <a:close/>
                </a:path>
                <a:path extrusionOk="0" h="309879" w="376554">
                  <a:moveTo>
                    <a:pt x="276082" y="139700"/>
                  </a:moveTo>
                  <a:lnTo>
                    <a:pt x="273589" y="142240"/>
                  </a:lnTo>
                  <a:lnTo>
                    <a:pt x="274436" y="144780"/>
                  </a:lnTo>
                  <a:lnTo>
                    <a:pt x="274536" y="146050"/>
                  </a:lnTo>
                  <a:lnTo>
                    <a:pt x="274636" y="147320"/>
                  </a:lnTo>
                  <a:lnTo>
                    <a:pt x="273639" y="151130"/>
                  </a:lnTo>
                  <a:lnTo>
                    <a:pt x="272691" y="152400"/>
                  </a:lnTo>
                  <a:lnTo>
                    <a:pt x="271295" y="153670"/>
                  </a:lnTo>
                  <a:lnTo>
                    <a:pt x="269600" y="156210"/>
                  </a:lnTo>
                  <a:lnTo>
                    <a:pt x="278518" y="156210"/>
                  </a:lnTo>
                  <a:lnTo>
                    <a:pt x="279373" y="151130"/>
                  </a:lnTo>
                  <a:lnTo>
                    <a:pt x="278525" y="146050"/>
                  </a:lnTo>
                  <a:lnTo>
                    <a:pt x="276082" y="139700"/>
                  </a:lnTo>
                  <a:close/>
                </a:path>
                <a:path extrusionOk="0" h="309879" w="376554">
                  <a:moveTo>
                    <a:pt x="275733" y="52070"/>
                  </a:moveTo>
                  <a:lnTo>
                    <a:pt x="250988" y="81280"/>
                  </a:lnTo>
                  <a:lnTo>
                    <a:pt x="250353" y="87630"/>
                  </a:lnTo>
                  <a:lnTo>
                    <a:pt x="251335" y="96520"/>
                  </a:lnTo>
                  <a:lnTo>
                    <a:pt x="278288" y="129540"/>
                  </a:lnTo>
                  <a:lnTo>
                    <a:pt x="292985" y="133350"/>
                  </a:lnTo>
                  <a:lnTo>
                    <a:pt x="300286" y="133350"/>
                  </a:lnTo>
                  <a:lnTo>
                    <a:pt x="307008" y="132080"/>
                  </a:lnTo>
                  <a:lnTo>
                    <a:pt x="313151" y="129540"/>
                  </a:lnTo>
                  <a:lnTo>
                    <a:pt x="318713" y="124460"/>
                  </a:lnTo>
                  <a:lnTo>
                    <a:pt x="325195" y="119380"/>
                  </a:lnTo>
                  <a:lnTo>
                    <a:pt x="325711" y="118110"/>
                  </a:lnTo>
                  <a:lnTo>
                    <a:pt x="300713" y="118110"/>
                  </a:lnTo>
                  <a:lnTo>
                    <a:pt x="291788" y="116840"/>
                  </a:lnTo>
                  <a:lnTo>
                    <a:pt x="285198" y="115570"/>
                  </a:lnTo>
                  <a:lnTo>
                    <a:pt x="278743" y="113030"/>
                  </a:lnTo>
                  <a:lnTo>
                    <a:pt x="272429" y="107950"/>
                  </a:lnTo>
                  <a:lnTo>
                    <a:pt x="266259" y="102870"/>
                  </a:lnTo>
                  <a:lnTo>
                    <a:pt x="270298" y="99060"/>
                  </a:lnTo>
                  <a:lnTo>
                    <a:pt x="262769" y="99060"/>
                  </a:lnTo>
                  <a:lnTo>
                    <a:pt x="258630" y="92710"/>
                  </a:lnTo>
                  <a:lnTo>
                    <a:pt x="256686" y="87630"/>
                  </a:lnTo>
                  <a:lnTo>
                    <a:pt x="256736" y="86360"/>
                  </a:lnTo>
                  <a:lnTo>
                    <a:pt x="256835" y="83820"/>
                  </a:lnTo>
                  <a:lnTo>
                    <a:pt x="256935" y="81280"/>
                  </a:lnTo>
                  <a:lnTo>
                    <a:pt x="257035" y="78740"/>
                  </a:lnTo>
                  <a:lnTo>
                    <a:pt x="257085" y="77470"/>
                  </a:lnTo>
                  <a:lnTo>
                    <a:pt x="258930" y="72390"/>
                  </a:lnTo>
                  <a:lnTo>
                    <a:pt x="264763" y="67310"/>
                  </a:lnTo>
                  <a:lnTo>
                    <a:pt x="267605" y="66040"/>
                  </a:lnTo>
                  <a:lnTo>
                    <a:pt x="270996" y="64770"/>
                  </a:lnTo>
                  <a:lnTo>
                    <a:pt x="306647" y="64770"/>
                  </a:lnTo>
                  <a:lnTo>
                    <a:pt x="299816" y="57150"/>
                  </a:lnTo>
                  <a:lnTo>
                    <a:pt x="292287" y="53340"/>
                  </a:lnTo>
                  <a:lnTo>
                    <a:pt x="275733" y="52070"/>
                  </a:lnTo>
                  <a:close/>
                </a:path>
                <a:path extrusionOk="0" h="309879" w="376554">
                  <a:moveTo>
                    <a:pt x="198448" y="88900"/>
                  </a:moveTo>
                  <a:lnTo>
                    <a:pt x="196453" y="90170"/>
                  </a:lnTo>
                  <a:lnTo>
                    <a:pt x="198747" y="96520"/>
                  </a:lnTo>
                  <a:lnTo>
                    <a:pt x="200193" y="100330"/>
                  </a:lnTo>
                  <a:lnTo>
                    <a:pt x="200741" y="102870"/>
                  </a:lnTo>
                  <a:lnTo>
                    <a:pt x="201689" y="107950"/>
                  </a:lnTo>
                  <a:lnTo>
                    <a:pt x="201838" y="110490"/>
                  </a:lnTo>
                  <a:lnTo>
                    <a:pt x="201913" y="111760"/>
                  </a:lnTo>
                  <a:lnTo>
                    <a:pt x="201988" y="113030"/>
                  </a:lnTo>
                  <a:lnTo>
                    <a:pt x="201755" y="115570"/>
                  </a:lnTo>
                  <a:lnTo>
                    <a:pt x="201639" y="116840"/>
                  </a:lnTo>
                  <a:lnTo>
                    <a:pt x="201340" y="121920"/>
                  </a:lnTo>
                  <a:lnTo>
                    <a:pt x="200442" y="125730"/>
                  </a:lnTo>
                  <a:lnTo>
                    <a:pt x="198946" y="128270"/>
                  </a:lnTo>
                  <a:lnTo>
                    <a:pt x="200941" y="130810"/>
                  </a:lnTo>
                  <a:lnTo>
                    <a:pt x="210215" y="121920"/>
                  </a:lnTo>
                  <a:lnTo>
                    <a:pt x="230256" y="121920"/>
                  </a:lnTo>
                  <a:lnTo>
                    <a:pt x="220736" y="111760"/>
                  </a:lnTo>
                  <a:lnTo>
                    <a:pt x="224834" y="107950"/>
                  </a:lnTo>
                  <a:lnTo>
                    <a:pt x="216498" y="107950"/>
                  </a:lnTo>
                  <a:lnTo>
                    <a:pt x="198448" y="88900"/>
                  </a:lnTo>
                  <a:close/>
                </a:path>
                <a:path extrusionOk="0" h="309879" w="376554">
                  <a:moveTo>
                    <a:pt x="320907" y="78740"/>
                  </a:moveTo>
                  <a:lnTo>
                    <a:pt x="317716" y="80010"/>
                  </a:lnTo>
                  <a:lnTo>
                    <a:pt x="320608" y="86360"/>
                  </a:lnTo>
                  <a:lnTo>
                    <a:pt x="321605" y="92710"/>
                  </a:lnTo>
                  <a:lnTo>
                    <a:pt x="300713" y="118110"/>
                  </a:lnTo>
                  <a:lnTo>
                    <a:pt x="325711" y="118110"/>
                  </a:lnTo>
                  <a:lnTo>
                    <a:pt x="328287" y="111760"/>
                  </a:lnTo>
                  <a:lnTo>
                    <a:pt x="328173" y="106680"/>
                  </a:lnTo>
                  <a:lnTo>
                    <a:pt x="328087" y="102870"/>
                  </a:lnTo>
                  <a:lnTo>
                    <a:pt x="328002" y="99060"/>
                  </a:lnTo>
                  <a:lnTo>
                    <a:pt x="327888" y="93980"/>
                  </a:lnTo>
                  <a:lnTo>
                    <a:pt x="325494" y="86360"/>
                  </a:lnTo>
                  <a:lnTo>
                    <a:pt x="320907" y="78740"/>
                  </a:lnTo>
                  <a:close/>
                </a:path>
                <a:path extrusionOk="0" h="309879" w="376554">
                  <a:moveTo>
                    <a:pt x="230160" y="95250"/>
                  </a:moveTo>
                  <a:lnTo>
                    <a:pt x="216498" y="107950"/>
                  </a:lnTo>
                  <a:lnTo>
                    <a:pt x="224834" y="107950"/>
                  </a:lnTo>
                  <a:lnTo>
                    <a:pt x="234398" y="99060"/>
                  </a:lnTo>
                  <a:lnTo>
                    <a:pt x="230160" y="95250"/>
                  </a:lnTo>
                  <a:close/>
                </a:path>
                <a:path extrusionOk="0" h="309879" w="376554">
                  <a:moveTo>
                    <a:pt x="306647" y="64770"/>
                  </a:moveTo>
                  <a:lnTo>
                    <a:pt x="277727" y="64770"/>
                  </a:lnTo>
                  <a:lnTo>
                    <a:pt x="283162" y="67310"/>
                  </a:lnTo>
                  <a:lnTo>
                    <a:pt x="286104" y="69850"/>
                  </a:lnTo>
                  <a:lnTo>
                    <a:pt x="289844" y="73660"/>
                  </a:lnTo>
                  <a:lnTo>
                    <a:pt x="262769" y="99060"/>
                  </a:lnTo>
                  <a:lnTo>
                    <a:pt x="270298" y="99060"/>
                  </a:lnTo>
                  <a:lnTo>
                    <a:pt x="306647" y="64770"/>
                  </a:lnTo>
                  <a:close/>
                </a:path>
                <a:path extrusionOk="0" h="309879" w="376554">
                  <a:moveTo>
                    <a:pt x="328895" y="38100"/>
                  </a:moveTo>
                  <a:lnTo>
                    <a:pt x="308193" y="38100"/>
                  </a:lnTo>
                  <a:lnTo>
                    <a:pt x="311184" y="40640"/>
                  </a:lnTo>
                  <a:lnTo>
                    <a:pt x="315123" y="44450"/>
                  </a:lnTo>
                  <a:lnTo>
                    <a:pt x="321506" y="52070"/>
                  </a:lnTo>
                  <a:lnTo>
                    <a:pt x="342846" y="73660"/>
                  </a:lnTo>
                  <a:lnTo>
                    <a:pt x="346087" y="77470"/>
                  </a:lnTo>
                  <a:lnTo>
                    <a:pt x="347882" y="80010"/>
                  </a:lnTo>
                  <a:lnTo>
                    <a:pt x="348381" y="80010"/>
                  </a:lnTo>
                  <a:lnTo>
                    <a:pt x="349328" y="82550"/>
                  </a:lnTo>
                  <a:lnTo>
                    <a:pt x="343893" y="93980"/>
                  </a:lnTo>
                  <a:lnTo>
                    <a:pt x="346037" y="95250"/>
                  </a:lnTo>
                  <a:lnTo>
                    <a:pt x="371875" y="71120"/>
                  </a:lnTo>
                  <a:lnTo>
                    <a:pt x="364536" y="71120"/>
                  </a:lnTo>
                  <a:lnTo>
                    <a:pt x="362691" y="69850"/>
                  </a:lnTo>
                  <a:lnTo>
                    <a:pt x="361046" y="69850"/>
                  </a:lnTo>
                  <a:lnTo>
                    <a:pt x="358652" y="68580"/>
                  </a:lnTo>
                  <a:lnTo>
                    <a:pt x="355960" y="67310"/>
                  </a:lnTo>
                  <a:lnTo>
                    <a:pt x="328895" y="38100"/>
                  </a:lnTo>
                  <a:close/>
                </a:path>
                <a:path extrusionOk="0" h="309879" w="376554">
                  <a:moveTo>
                    <a:pt x="373810" y="64770"/>
                  </a:moveTo>
                  <a:lnTo>
                    <a:pt x="371167" y="67310"/>
                  </a:lnTo>
                  <a:lnTo>
                    <a:pt x="368774" y="69850"/>
                  </a:lnTo>
                  <a:lnTo>
                    <a:pt x="366680" y="69850"/>
                  </a:lnTo>
                  <a:lnTo>
                    <a:pt x="364536" y="71120"/>
                  </a:lnTo>
                  <a:lnTo>
                    <a:pt x="371875" y="71120"/>
                  </a:lnTo>
                  <a:lnTo>
                    <a:pt x="375954" y="67310"/>
                  </a:lnTo>
                  <a:lnTo>
                    <a:pt x="373810" y="64770"/>
                  </a:lnTo>
                  <a:close/>
                </a:path>
                <a:path extrusionOk="0" h="309879" w="376554">
                  <a:moveTo>
                    <a:pt x="309090" y="16510"/>
                  </a:moveTo>
                  <a:lnTo>
                    <a:pt x="306398" y="19050"/>
                  </a:lnTo>
                  <a:lnTo>
                    <a:pt x="295478" y="43180"/>
                  </a:lnTo>
                  <a:lnTo>
                    <a:pt x="298270" y="45720"/>
                  </a:lnTo>
                  <a:lnTo>
                    <a:pt x="299317" y="43180"/>
                  </a:lnTo>
                  <a:lnTo>
                    <a:pt x="300514" y="40640"/>
                  </a:lnTo>
                  <a:lnTo>
                    <a:pt x="302957" y="39370"/>
                  </a:lnTo>
                  <a:lnTo>
                    <a:pt x="304154" y="38100"/>
                  </a:lnTo>
                  <a:lnTo>
                    <a:pt x="328895" y="38100"/>
                  </a:lnTo>
                  <a:lnTo>
                    <a:pt x="326542" y="35560"/>
                  </a:lnTo>
                  <a:lnTo>
                    <a:pt x="325145" y="30480"/>
                  </a:lnTo>
                  <a:lnTo>
                    <a:pt x="321456" y="30480"/>
                  </a:lnTo>
                  <a:lnTo>
                    <a:pt x="309090" y="16510"/>
                  </a:lnTo>
                  <a:close/>
                </a:path>
                <a:path extrusionOk="0" h="309879" w="376554">
                  <a:moveTo>
                    <a:pt x="337162" y="0"/>
                  </a:moveTo>
                  <a:lnTo>
                    <a:pt x="329084" y="0"/>
                  </a:lnTo>
                  <a:lnTo>
                    <a:pt x="326492" y="1270"/>
                  </a:lnTo>
                  <a:lnTo>
                    <a:pt x="324148" y="2540"/>
                  </a:lnTo>
                  <a:lnTo>
                    <a:pt x="321091" y="7620"/>
                  </a:lnTo>
                  <a:lnTo>
                    <a:pt x="319623" y="13970"/>
                  </a:lnTo>
                  <a:lnTo>
                    <a:pt x="319745" y="21590"/>
                  </a:lnTo>
                  <a:lnTo>
                    <a:pt x="321456" y="30480"/>
                  </a:lnTo>
                  <a:lnTo>
                    <a:pt x="325145" y="30480"/>
                  </a:lnTo>
                  <a:lnTo>
                    <a:pt x="324796" y="29210"/>
                  </a:lnTo>
                  <a:lnTo>
                    <a:pt x="324098" y="25400"/>
                  </a:lnTo>
                  <a:lnTo>
                    <a:pt x="324360" y="21590"/>
                  </a:lnTo>
                  <a:lnTo>
                    <a:pt x="324447" y="20320"/>
                  </a:lnTo>
                  <a:lnTo>
                    <a:pt x="324846" y="19050"/>
                  </a:lnTo>
                  <a:lnTo>
                    <a:pt x="325644" y="17780"/>
                  </a:lnTo>
                  <a:lnTo>
                    <a:pt x="326542" y="16510"/>
                  </a:lnTo>
                  <a:lnTo>
                    <a:pt x="335068" y="16510"/>
                  </a:lnTo>
                  <a:lnTo>
                    <a:pt x="337411" y="15240"/>
                  </a:lnTo>
                  <a:lnTo>
                    <a:pt x="340453" y="12700"/>
                  </a:lnTo>
                  <a:lnTo>
                    <a:pt x="341201" y="10160"/>
                  </a:lnTo>
                  <a:lnTo>
                    <a:pt x="341251" y="6350"/>
                  </a:lnTo>
                  <a:lnTo>
                    <a:pt x="340503" y="3810"/>
                  </a:lnTo>
                  <a:lnTo>
                    <a:pt x="338907" y="2540"/>
                  </a:lnTo>
                  <a:lnTo>
                    <a:pt x="33716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0" name="Google Shape;130;p8"/>
            <p:cNvSpPr/>
            <p:nvPr/>
          </p:nvSpPr>
          <p:spPr>
            <a:xfrm>
              <a:off x="7464444" y="6589777"/>
              <a:ext cx="862330" cy="805180"/>
            </a:xfrm>
            <a:custGeom>
              <a:rect b="b" l="l" r="r" t="t"/>
              <a:pathLst>
                <a:path extrusionOk="0" h="805179" w="862329">
                  <a:moveTo>
                    <a:pt x="276281" y="0"/>
                  </a:moveTo>
                  <a:lnTo>
                    <a:pt x="0" y="415544"/>
                  </a:lnTo>
                  <a:lnTo>
                    <a:pt x="585920" y="805111"/>
                  </a:lnTo>
                  <a:lnTo>
                    <a:pt x="862202" y="389566"/>
                  </a:lnTo>
                  <a:lnTo>
                    <a:pt x="276281" y="0"/>
                  </a:lnTo>
                  <a:close/>
                </a:path>
              </a:pathLst>
            </a:custGeom>
            <a:solidFill>
              <a:srgbClr val="6FAC4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1" name="Google Shape;131;p8"/>
            <p:cNvSpPr/>
            <p:nvPr/>
          </p:nvSpPr>
          <p:spPr>
            <a:xfrm>
              <a:off x="7464444" y="6589777"/>
              <a:ext cx="862330" cy="805180"/>
            </a:xfrm>
            <a:custGeom>
              <a:rect b="b" l="l" r="r" t="t"/>
              <a:pathLst>
                <a:path extrusionOk="0" h="805179" w="862329">
                  <a:moveTo>
                    <a:pt x="276281" y="0"/>
                  </a:moveTo>
                  <a:lnTo>
                    <a:pt x="862202" y="389566"/>
                  </a:lnTo>
                  <a:lnTo>
                    <a:pt x="585920" y="805111"/>
                  </a:lnTo>
                  <a:lnTo>
                    <a:pt x="0" y="415544"/>
                  </a:lnTo>
                  <a:lnTo>
                    <a:pt x="276281" y="0"/>
                  </a:lnTo>
                  <a:close/>
                </a:path>
              </a:pathLst>
            </a:custGeom>
            <a:noFill/>
            <a:ln cap="flat" cmpd="sng" w="9525">
              <a:solidFill>
                <a:srgbClr val="172C5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2" name="Google Shape;132;p8"/>
            <p:cNvSpPr/>
            <p:nvPr/>
          </p:nvSpPr>
          <p:spPr>
            <a:xfrm>
              <a:off x="7707768" y="6848697"/>
              <a:ext cx="363855" cy="294640"/>
            </a:xfrm>
            <a:custGeom>
              <a:rect b="b" l="l" r="r" t="t"/>
              <a:pathLst>
                <a:path extrusionOk="0" h="294640" w="363854">
                  <a:moveTo>
                    <a:pt x="305131" y="278130"/>
                  </a:moveTo>
                  <a:lnTo>
                    <a:pt x="287151" y="278130"/>
                  </a:lnTo>
                  <a:lnTo>
                    <a:pt x="280819" y="288290"/>
                  </a:lnTo>
                  <a:lnTo>
                    <a:pt x="284159" y="290830"/>
                  </a:lnTo>
                  <a:lnTo>
                    <a:pt x="309489" y="294640"/>
                  </a:lnTo>
                  <a:lnTo>
                    <a:pt x="310386" y="292100"/>
                  </a:lnTo>
                  <a:lnTo>
                    <a:pt x="307644" y="292100"/>
                  </a:lnTo>
                  <a:lnTo>
                    <a:pt x="305650" y="290830"/>
                  </a:lnTo>
                  <a:lnTo>
                    <a:pt x="304303" y="289560"/>
                  </a:lnTo>
                  <a:lnTo>
                    <a:pt x="303256" y="289560"/>
                  </a:lnTo>
                  <a:lnTo>
                    <a:pt x="302558" y="288290"/>
                  </a:lnTo>
                  <a:lnTo>
                    <a:pt x="301860" y="285750"/>
                  </a:lnTo>
                  <a:lnTo>
                    <a:pt x="302060" y="284480"/>
                  </a:lnTo>
                  <a:lnTo>
                    <a:pt x="302857" y="281940"/>
                  </a:lnTo>
                  <a:lnTo>
                    <a:pt x="305131" y="278130"/>
                  </a:lnTo>
                  <a:close/>
                </a:path>
                <a:path extrusionOk="0" h="294640" w="363854">
                  <a:moveTo>
                    <a:pt x="298463" y="201930"/>
                  </a:moveTo>
                  <a:lnTo>
                    <a:pt x="290485" y="201930"/>
                  </a:lnTo>
                  <a:lnTo>
                    <a:pt x="282165" y="204470"/>
                  </a:lnTo>
                  <a:lnTo>
                    <a:pt x="251581" y="231140"/>
                  </a:lnTo>
                  <a:lnTo>
                    <a:pt x="247842" y="246380"/>
                  </a:lnTo>
                  <a:lnTo>
                    <a:pt x="248159" y="252730"/>
                  </a:lnTo>
                  <a:lnTo>
                    <a:pt x="264763" y="276860"/>
                  </a:lnTo>
                  <a:lnTo>
                    <a:pt x="268653" y="279400"/>
                  </a:lnTo>
                  <a:lnTo>
                    <a:pt x="272741" y="279400"/>
                  </a:lnTo>
                  <a:lnTo>
                    <a:pt x="276830" y="280670"/>
                  </a:lnTo>
                  <a:lnTo>
                    <a:pt x="281666" y="279400"/>
                  </a:lnTo>
                  <a:lnTo>
                    <a:pt x="287151" y="278130"/>
                  </a:lnTo>
                  <a:lnTo>
                    <a:pt x="305131" y="278130"/>
                  </a:lnTo>
                  <a:lnTo>
                    <a:pt x="306647" y="275590"/>
                  </a:lnTo>
                  <a:lnTo>
                    <a:pt x="283511" y="275590"/>
                  </a:lnTo>
                  <a:lnTo>
                    <a:pt x="277727" y="274320"/>
                  </a:lnTo>
                  <a:lnTo>
                    <a:pt x="268054" y="267970"/>
                  </a:lnTo>
                  <a:lnTo>
                    <a:pt x="265013" y="261620"/>
                  </a:lnTo>
                  <a:lnTo>
                    <a:pt x="264215" y="254000"/>
                  </a:lnTo>
                  <a:lnTo>
                    <a:pt x="264301" y="247650"/>
                  </a:lnTo>
                  <a:lnTo>
                    <a:pt x="288491" y="212090"/>
                  </a:lnTo>
                  <a:lnTo>
                    <a:pt x="300115" y="208280"/>
                  </a:lnTo>
                  <a:lnTo>
                    <a:pt x="315339" y="208280"/>
                  </a:lnTo>
                  <a:lnTo>
                    <a:pt x="313378" y="207010"/>
                  </a:lnTo>
                  <a:lnTo>
                    <a:pt x="306096" y="203200"/>
                  </a:lnTo>
                  <a:lnTo>
                    <a:pt x="298463" y="201930"/>
                  </a:lnTo>
                  <a:close/>
                </a:path>
                <a:path extrusionOk="0" h="294640" w="363854">
                  <a:moveTo>
                    <a:pt x="315339" y="208280"/>
                  </a:moveTo>
                  <a:lnTo>
                    <a:pt x="305201" y="208280"/>
                  </a:lnTo>
                  <a:lnTo>
                    <a:pt x="309489" y="210820"/>
                  </a:lnTo>
                  <a:lnTo>
                    <a:pt x="311783" y="213360"/>
                  </a:lnTo>
                  <a:lnTo>
                    <a:pt x="313677" y="214630"/>
                  </a:lnTo>
                  <a:lnTo>
                    <a:pt x="316669" y="220980"/>
                  </a:lnTo>
                  <a:lnTo>
                    <a:pt x="317217" y="224790"/>
                  </a:lnTo>
                  <a:lnTo>
                    <a:pt x="316636" y="231140"/>
                  </a:lnTo>
                  <a:lnTo>
                    <a:pt x="316519" y="232410"/>
                  </a:lnTo>
                  <a:lnTo>
                    <a:pt x="315373" y="234950"/>
                  </a:lnTo>
                  <a:lnTo>
                    <a:pt x="313478" y="238760"/>
                  </a:lnTo>
                  <a:lnTo>
                    <a:pt x="290592" y="273050"/>
                  </a:lnTo>
                  <a:lnTo>
                    <a:pt x="283511" y="275590"/>
                  </a:lnTo>
                  <a:lnTo>
                    <a:pt x="306647" y="275590"/>
                  </a:lnTo>
                  <a:lnTo>
                    <a:pt x="311832" y="267970"/>
                  </a:lnTo>
                  <a:lnTo>
                    <a:pt x="342171" y="222250"/>
                  </a:lnTo>
                  <a:lnTo>
                    <a:pt x="324248" y="222250"/>
                  </a:lnTo>
                  <a:lnTo>
                    <a:pt x="322902" y="215900"/>
                  </a:lnTo>
                  <a:lnTo>
                    <a:pt x="319262" y="210820"/>
                  </a:lnTo>
                  <a:lnTo>
                    <a:pt x="315339" y="208280"/>
                  </a:lnTo>
                  <a:close/>
                </a:path>
                <a:path extrusionOk="0" h="294640" w="363854">
                  <a:moveTo>
                    <a:pt x="213157" y="151130"/>
                  </a:moveTo>
                  <a:lnTo>
                    <a:pt x="178746" y="179070"/>
                  </a:lnTo>
                  <a:lnTo>
                    <a:pt x="174764" y="200660"/>
                  </a:lnTo>
                  <a:lnTo>
                    <a:pt x="176100" y="208280"/>
                  </a:lnTo>
                  <a:lnTo>
                    <a:pt x="203583" y="234950"/>
                  </a:lnTo>
                  <a:lnTo>
                    <a:pt x="217794" y="234950"/>
                  </a:lnTo>
                  <a:lnTo>
                    <a:pt x="224824" y="232410"/>
                  </a:lnTo>
                  <a:lnTo>
                    <a:pt x="231755" y="228600"/>
                  </a:lnTo>
                  <a:lnTo>
                    <a:pt x="202038" y="228600"/>
                  </a:lnTo>
                  <a:lnTo>
                    <a:pt x="191018" y="220980"/>
                  </a:lnTo>
                  <a:lnTo>
                    <a:pt x="188276" y="214630"/>
                  </a:lnTo>
                  <a:lnTo>
                    <a:pt x="189074" y="204470"/>
                  </a:lnTo>
                  <a:lnTo>
                    <a:pt x="190234" y="196850"/>
                  </a:lnTo>
                  <a:lnTo>
                    <a:pt x="212259" y="162560"/>
                  </a:lnTo>
                  <a:lnTo>
                    <a:pt x="216448" y="158750"/>
                  </a:lnTo>
                  <a:lnTo>
                    <a:pt x="220337" y="157480"/>
                  </a:lnTo>
                  <a:lnTo>
                    <a:pt x="238686" y="157480"/>
                  </a:lnTo>
                  <a:lnTo>
                    <a:pt x="233151" y="153670"/>
                  </a:lnTo>
                  <a:lnTo>
                    <a:pt x="226919" y="152400"/>
                  </a:lnTo>
                  <a:lnTo>
                    <a:pt x="213157" y="151130"/>
                  </a:lnTo>
                  <a:close/>
                </a:path>
                <a:path extrusionOk="0" h="294640" w="363854">
                  <a:moveTo>
                    <a:pt x="238686" y="157480"/>
                  </a:moveTo>
                  <a:lnTo>
                    <a:pt x="220337" y="157480"/>
                  </a:lnTo>
                  <a:lnTo>
                    <a:pt x="227567" y="158750"/>
                  </a:lnTo>
                  <a:lnTo>
                    <a:pt x="230658" y="160020"/>
                  </a:lnTo>
                  <a:lnTo>
                    <a:pt x="233251" y="161290"/>
                  </a:lnTo>
                  <a:lnTo>
                    <a:pt x="238586" y="165100"/>
                  </a:lnTo>
                  <a:lnTo>
                    <a:pt x="241478" y="170180"/>
                  </a:lnTo>
                  <a:lnTo>
                    <a:pt x="241548" y="171450"/>
                  </a:lnTo>
                  <a:lnTo>
                    <a:pt x="241618" y="172720"/>
                  </a:lnTo>
                  <a:lnTo>
                    <a:pt x="230858" y="209550"/>
                  </a:lnTo>
                  <a:lnTo>
                    <a:pt x="207223" y="228600"/>
                  </a:lnTo>
                  <a:lnTo>
                    <a:pt x="231755" y="228600"/>
                  </a:lnTo>
                  <a:lnTo>
                    <a:pt x="255410" y="193040"/>
                  </a:lnTo>
                  <a:lnTo>
                    <a:pt x="255389" y="185420"/>
                  </a:lnTo>
                  <a:lnTo>
                    <a:pt x="253761" y="177800"/>
                  </a:lnTo>
                  <a:lnTo>
                    <a:pt x="250441" y="170180"/>
                  </a:lnTo>
                  <a:lnTo>
                    <a:pt x="245419" y="163830"/>
                  </a:lnTo>
                  <a:lnTo>
                    <a:pt x="238686" y="157480"/>
                  </a:lnTo>
                  <a:close/>
                </a:path>
                <a:path extrusionOk="0" h="294640" w="363854">
                  <a:moveTo>
                    <a:pt x="334569" y="182880"/>
                  </a:moveTo>
                  <a:lnTo>
                    <a:pt x="333821" y="186690"/>
                  </a:lnTo>
                  <a:lnTo>
                    <a:pt x="336464" y="186690"/>
                  </a:lnTo>
                  <a:lnTo>
                    <a:pt x="338359" y="187960"/>
                  </a:lnTo>
                  <a:lnTo>
                    <a:pt x="339655" y="187960"/>
                  </a:lnTo>
                  <a:lnTo>
                    <a:pt x="340802" y="189230"/>
                  </a:lnTo>
                  <a:lnTo>
                    <a:pt x="341550" y="190500"/>
                  </a:lnTo>
                  <a:lnTo>
                    <a:pt x="341949" y="191770"/>
                  </a:lnTo>
                  <a:lnTo>
                    <a:pt x="342298" y="193040"/>
                  </a:lnTo>
                  <a:lnTo>
                    <a:pt x="342048" y="194310"/>
                  </a:lnTo>
                  <a:lnTo>
                    <a:pt x="340453" y="198120"/>
                  </a:lnTo>
                  <a:lnTo>
                    <a:pt x="337511" y="203200"/>
                  </a:lnTo>
                  <a:lnTo>
                    <a:pt x="332425" y="210820"/>
                  </a:lnTo>
                  <a:lnTo>
                    <a:pt x="324248" y="222250"/>
                  </a:lnTo>
                  <a:lnTo>
                    <a:pt x="342171" y="222250"/>
                  </a:lnTo>
                  <a:lnTo>
                    <a:pt x="363240" y="190500"/>
                  </a:lnTo>
                  <a:lnTo>
                    <a:pt x="359949" y="187960"/>
                  </a:lnTo>
                  <a:lnTo>
                    <a:pt x="334569" y="182880"/>
                  </a:lnTo>
                  <a:close/>
                </a:path>
                <a:path extrusionOk="0" h="294640" w="363854">
                  <a:moveTo>
                    <a:pt x="138415" y="101600"/>
                  </a:moveTo>
                  <a:lnTo>
                    <a:pt x="104004" y="129540"/>
                  </a:lnTo>
                  <a:lnTo>
                    <a:pt x="100021" y="149860"/>
                  </a:lnTo>
                  <a:lnTo>
                    <a:pt x="101358" y="158750"/>
                  </a:lnTo>
                  <a:lnTo>
                    <a:pt x="135922" y="185420"/>
                  </a:lnTo>
                  <a:lnTo>
                    <a:pt x="143052" y="185420"/>
                  </a:lnTo>
                  <a:lnTo>
                    <a:pt x="150082" y="182880"/>
                  </a:lnTo>
                  <a:lnTo>
                    <a:pt x="157038" y="179070"/>
                  </a:lnTo>
                  <a:lnTo>
                    <a:pt x="127296" y="179070"/>
                  </a:lnTo>
                  <a:lnTo>
                    <a:pt x="122609" y="175260"/>
                  </a:lnTo>
                  <a:lnTo>
                    <a:pt x="116276" y="171450"/>
                  </a:lnTo>
                  <a:lnTo>
                    <a:pt x="113534" y="163830"/>
                  </a:lnTo>
                  <a:lnTo>
                    <a:pt x="114332" y="154940"/>
                  </a:lnTo>
                  <a:lnTo>
                    <a:pt x="129290" y="119380"/>
                  </a:lnTo>
                  <a:lnTo>
                    <a:pt x="145595" y="107950"/>
                  </a:lnTo>
                  <a:lnTo>
                    <a:pt x="163944" y="107950"/>
                  </a:lnTo>
                  <a:lnTo>
                    <a:pt x="158409" y="104140"/>
                  </a:lnTo>
                  <a:lnTo>
                    <a:pt x="152176" y="102870"/>
                  </a:lnTo>
                  <a:lnTo>
                    <a:pt x="138415" y="101600"/>
                  </a:lnTo>
                  <a:close/>
                </a:path>
                <a:path extrusionOk="0" h="294640" w="363854">
                  <a:moveTo>
                    <a:pt x="163944" y="107950"/>
                  </a:moveTo>
                  <a:lnTo>
                    <a:pt x="145595" y="107950"/>
                  </a:lnTo>
                  <a:lnTo>
                    <a:pt x="152825" y="109220"/>
                  </a:lnTo>
                  <a:lnTo>
                    <a:pt x="155966" y="109220"/>
                  </a:lnTo>
                  <a:lnTo>
                    <a:pt x="158509" y="111760"/>
                  </a:lnTo>
                  <a:lnTo>
                    <a:pt x="163894" y="115570"/>
                  </a:lnTo>
                  <a:lnTo>
                    <a:pt x="166736" y="120650"/>
                  </a:lnTo>
                  <a:lnTo>
                    <a:pt x="166806" y="121920"/>
                  </a:lnTo>
                  <a:lnTo>
                    <a:pt x="166875" y="123190"/>
                  </a:lnTo>
                  <a:lnTo>
                    <a:pt x="166960" y="129540"/>
                  </a:lnTo>
                  <a:lnTo>
                    <a:pt x="166773" y="133350"/>
                  </a:lnTo>
                  <a:lnTo>
                    <a:pt x="166710" y="134620"/>
                  </a:lnTo>
                  <a:lnTo>
                    <a:pt x="149783" y="170180"/>
                  </a:lnTo>
                  <a:lnTo>
                    <a:pt x="132481" y="179070"/>
                  </a:lnTo>
                  <a:lnTo>
                    <a:pt x="157038" y="179070"/>
                  </a:lnTo>
                  <a:lnTo>
                    <a:pt x="180667" y="143510"/>
                  </a:lnTo>
                  <a:lnTo>
                    <a:pt x="180647" y="135890"/>
                  </a:lnTo>
                  <a:lnTo>
                    <a:pt x="179040" y="127000"/>
                  </a:lnTo>
                  <a:lnTo>
                    <a:pt x="175717" y="120650"/>
                  </a:lnTo>
                  <a:lnTo>
                    <a:pt x="170684" y="114300"/>
                  </a:lnTo>
                  <a:lnTo>
                    <a:pt x="163944" y="107950"/>
                  </a:lnTo>
                  <a:close/>
                </a:path>
                <a:path extrusionOk="0" h="294640" w="363854">
                  <a:moveTo>
                    <a:pt x="1795" y="95250"/>
                  </a:moveTo>
                  <a:lnTo>
                    <a:pt x="0" y="97790"/>
                  </a:lnTo>
                  <a:lnTo>
                    <a:pt x="42481" y="127000"/>
                  </a:lnTo>
                  <a:lnTo>
                    <a:pt x="44276" y="124460"/>
                  </a:lnTo>
                  <a:lnTo>
                    <a:pt x="40686" y="121920"/>
                  </a:lnTo>
                  <a:lnTo>
                    <a:pt x="38393" y="119380"/>
                  </a:lnTo>
                  <a:lnTo>
                    <a:pt x="36498" y="118110"/>
                  </a:lnTo>
                  <a:lnTo>
                    <a:pt x="34155" y="113030"/>
                  </a:lnTo>
                  <a:lnTo>
                    <a:pt x="33855" y="111760"/>
                  </a:lnTo>
                  <a:lnTo>
                    <a:pt x="34155" y="110490"/>
                  </a:lnTo>
                  <a:lnTo>
                    <a:pt x="34603" y="107950"/>
                  </a:lnTo>
                  <a:lnTo>
                    <a:pt x="36498" y="104140"/>
                  </a:lnTo>
                  <a:lnTo>
                    <a:pt x="38211" y="101600"/>
                  </a:lnTo>
                  <a:lnTo>
                    <a:pt x="13163" y="101600"/>
                  </a:lnTo>
                  <a:lnTo>
                    <a:pt x="9373" y="100330"/>
                  </a:lnTo>
                  <a:lnTo>
                    <a:pt x="5285" y="97790"/>
                  </a:lnTo>
                  <a:lnTo>
                    <a:pt x="1795" y="95250"/>
                  </a:lnTo>
                  <a:close/>
                </a:path>
                <a:path extrusionOk="0" h="294640" w="363854">
                  <a:moveTo>
                    <a:pt x="73765" y="68580"/>
                  </a:moveTo>
                  <a:lnTo>
                    <a:pt x="60481" y="68580"/>
                  </a:lnTo>
                  <a:lnTo>
                    <a:pt x="81822" y="82550"/>
                  </a:lnTo>
                  <a:lnTo>
                    <a:pt x="84016" y="85090"/>
                  </a:lnTo>
                  <a:lnTo>
                    <a:pt x="86210" y="88900"/>
                  </a:lnTo>
                  <a:lnTo>
                    <a:pt x="86609" y="91440"/>
                  </a:lnTo>
                  <a:lnTo>
                    <a:pt x="86235" y="95250"/>
                  </a:lnTo>
                  <a:lnTo>
                    <a:pt x="86110" y="96520"/>
                  </a:lnTo>
                  <a:lnTo>
                    <a:pt x="84714" y="99060"/>
                  </a:lnTo>
                  <a:lnTo>
                    <a:pt x="82221" y="102870"/>
                  </a:lnTo>
                  <a:lnTo>
                    <a:pt x="84913" y="105410"/>
                  </a:lnTo>
                  <a:lnTo>
                    <a:pt x="102249" y="78740"/>
                  </a:lnTo>
                  <a:lnTo>
                    <a:pt x="90348" y="78740"/>
                  </a:lnTo>
                  <a:lnTo>
                    <a:pt x="86708" y="77470"/>
                  </a:lnTo>
                  <a:lnTo>
                    <a:pt x="73765" y="68580"/>
                  </a:lnTo>
                  <a:close/>
                </a:path>
                <a:path extrusionOk="0" h="294640" w="363854">
                  <a:moveTo>
                    <a:pt x="65816" y="0"/>
                  </a:moveTo>
                  <a:lnTo>
                    <a:pt x="64021" y="2540"/>
                  </a:lnTo>
                  <a:lnTo>
                    <a:pt x="69905" y="6350"/>
                  </a:lnTo>
                  <a:lnTo>
                    <a:pt x="71750" y="7620"/>
                  </a:lnTo>
                  <a:lnTo>
                    <a:pt x="73046" y="10160"/>
                  </a:lnTo>
                  <a:lnTo>
                    <a:pt x="73994" y="12700"/>
                  </a:lnTo>
                  <a:lnTo>
                    <a:pt x="74293" y="13970"/>
                  </a:lnTo>
                  <a:lnTo>
                    <a:pt x="73994" y="15240"/>
                  </a:lnTo>
                  <a:lnTo>
                    <a:pt x="73545" y="17780"/>
                  </a:lnTo>
                  <a:lnTo>
                    <a:pt x="21889" y="96520"/>
                  </a:lnTo>
                  <a:lnTo>
                    <a:pt x="13163" y="101600"/>
                  </a:lnTo>
                  <a:lnTo>
                    <a:pt x="38211" y="101600"/>
                  </a:lnTo>
                  <a:lnTo>
                    <a:pt x="60481" y="68580"/>
                  </a:lnTo>
                  <a:lnTo>
                    <a:pt x="73765" y="68580"/>
                  </a:lnTo>
                  <a:lnTo>
                    <a:pt x="64520" y="62230"/>
                  </a:lnTo>
                  <a:lnTo>
                    <a:pt x="90398" y="24130"/>
                  </a:lnTo>
                  <a:lnTo>
                    <a:pt x="102639" y="24130"/>
                  </a:lnTo>
                  <a:lnTo>
                    <a:pt x="65816" y="0"/>
                  </a:lnTo>
                  <a:close/>
                </a:path>
                <a:path extrusionOk="0" h="294640" w="363854">
                  <a:moveTo>
                    <a:pt x="104509" y="69850"/>
                  </a:moveTo>
                  <a:lnTo>
                    <a:pt x="100271" y="74930"/>
                  </a:lnTo>
                  <a:lnTo>
                    <a:pt x="96581" y="77470"/>
                  </a:lnTo>
                  <a:lnTo>
                    <a:pt x="90348" y="78740"/>
                  </a:lnTo>
                  <a:lnTo>
                    <a:pt x="102249" y="78740"/>
                  </a:lnTo>
                  <a:lnTo>
                    <a:pt x="107201" y="71120"/>
                  </a:lnTo>
                  <a:lnTo>
                    <a:pt x="104509" y="69850"/>
                  </a:lnTo>
                  <a:close/>
                </a:path>
                <a:path extrusionOk="0" h="294640" w="363854">
                  <a:moveTo>
                    <a:pt x="102639" y="24130"/>
                  </a:moveTo>
                  <a:lnTo>
                    <a:pt x="90398" y="24130"/>
                  </a:lnTo>
                  <a:lnTo>
                    <a:pt x="112237" y="38100"/>
                  </a:lnTo>
                  <a:lnTo>
                    <a:pt x="117373" y="41910"/>
                  </a:lnTo>
                  <a:lnTo>
                    <a:pt x="120863" y="44450"/>
                  </a:lnTo>
                  <a:lnTo>
                    <a:pt x="124453" y="49530"/>
                  </a:lnTo>
                  <a:lnTo>
                    <a:pt x="125501" y="52070"/>
                  </a:lnTo>
                  <a:lnTo>
                    <a:pt x="125999" y="59690"/>
                  </a:lnTo>
                  <a:lnTo>
                    <a:pt x="125201" y="63500"/>
                  </a:lnTo>
                  <a:lnTo>
                    <a:pt x="123406" y="68580"/>
                  </a:lnTo>
                  <a:lnTo>
                    <a:pt x="125949" y="71120"/>
                  </a:lnTo>
                  <a:lnTo>
                    <a:pt x="139462" y="48260"/>
                  </a:lnTo>
                  <a:lnTo>
                    <a:pt x="102639" y="2413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33" name="Google Shape;133;p8"/>
          <p:cNvSpPr txBox="1"/>
          <p:nvPr/>
        </p:nvSpPr>
        <p:spPr>
          <a:xfrm>
            <a:off x="6079096" y="3684904"/>
            <a:ext cx="704215" cy="499109"/>
          </a:xfrm>
          <a:prstGeom prst="rect">
            <a:avLst/>
          </a:prstGeom>
          <a:solidFill>
            <a:srgbClr val="FFC000"/>
          </a:solidFill>
          <a:ln cap="flat" cmpd="sng" w="9525">
            <a:solidFill>
              <a:srgbClr val="172C51"/>
            </a:solidFill>
            <a:prstDash val="solid"/>
            <a:round/>
            <a:headEnd len="sm" w="sm" type="none"/>
            <a:tailEnd len="sm" w="sm" type="none"/>
          </a:ln>
        </p:spPr>
        <p:txBody>
          <a:bodyPr anchorCtr="0" anchor="t" bIns="0" lIns="0" spcFirstLastPara="1" rIns="0" wrap="square" tIns="137775">
            <a:spAutoFit/>
          </a:bodyPr>
          <a:lstStyle/>
          <a:p>
            <a:pPr indent="0" lvl="0" marL="93980" rtl="0" algn="l">
              <a:lnSpc>
                <a:spcPct val="100000"/>
              </a:lnSpc>
              <a:spcBef>
                <a:spcPts val="0"/>
              </a:spcBef>
              <a:spcAft>
                <a:spcPts val="0"/>
              </a:spcAft>
              <a:buNone/>
            </a:pPr>
            <a:r>
              <a:rPr lang="en-US" sz="1400">
                <a:solidFill>
                  <a:srgbClr val="FFFFFF"/>
                </a:solidFill>
                <a:latin typeface="Times New Roman"/>
                <a:ea typeface="Times New Roman"/>
                <a:cs typeface="Times New Roman"/>
                <a:sym typeface="Times New Roman"/>
              </a:rPr>
              <a:t>Energy</a:t>
            </a:r>
            <a:endParaRPr sz="1400">
              <a:latin typeface="Times New Roman"/>
              <a:ea typeface="Times New Roman"/>
              <a:cs typeface="Times New Roman"/>
              <a:sym typeface="Times New Roman"/>
            </a:endParaRPr>
          </a:p>
        </p:txBody>
      </p:sp>
      <p:pic>
        <p:nvPicPr>
          <p:cNvPr id="134" name="Google Shape;134;p8"/>
          <p:cNvPicPr preferRelativeResize="0"/>
          <p:nvPr/>
        </p:nvPicPr>
        <p:blipFill>
          <a:blip r:embed="rId6">
            <a:alphaModFix/>
          </a:blip>
          <a:stretch>
            <a:fillRect/>
          </a:stretch>
        </p:blipFill>
        <p:spPr>
          <a:xfrm>
            <a:off x="8850400" y="3656575"/>
            <a:ext cx="10662822" cy="5956500"/>
          </a:xfrm>
          <a:prstGeom prst="rect">
            <a:avLst/>
          </a:prstGeom>
          <a:noFill/>
          <a:ln>
            <a:noFill/>
          </a:ln>
        </p:spPr>
      </p:pic>
      <p:sp>
        <p:nvSpPr>
          <p:cNvPr id="135" name="Google Shape;135;p8"/>
          <p:cNvSpPr txBox="1"/>
          <p:nvPr/>
        </p:nvSpPr>
        <p:spPr>
          <a:xfrm>
            <a:off x="8745275" y="9751650"/>
            <a:ext cx="10983600" cy="26475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6 stocks, all interconnected ultimately to herd size, showing it as the central driver of all three WEF subsystems.</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Char char="●"/>
            </a:pPr>
            <a:r>
              <a:rPr lang="en-US" sz="2000">
                <a:solidFill>
                  <a:schemeClr val="dk1"/>
                </a:solidFill>
                <a:latin typeface="Times New Roman"/>
                <a:ea typeface="Times New Roman"/>
                <a:cs typeface="Times New Roman"/>
                <a:sym typeface="Times New Roman"/>
              </a:rPr>
              <a:t>The </a:t>
            </a:r>
            <a:r>
              <a:rPr b="1" lang="en-US" sz="2000">
                <a:solidFill>
                  <a:schemeClr val="dk1"/>
                </a:solidFill>
                <a:latin typeface="Times New Roman"/>
                <a:ea typeface="Times New Roman"/>
                <a:cs typeface="Times New Roman"/>
                <a:sym typeface="Times New Roman"/>
              </a:rPr>
              <a:t>Feed → Energy → Milk production </a:t>
            </a:r>
            <a:r>
              <a:rPr lang="en-US" sz="2000">
                <a:solidFill>
                  <a:schemeClr val="dk1"/>
                </a:solidFill>
                <a:latin typeface="Times New Roman"/>
                <a:ea typeface="Times New Roman"/>
                <a:cs typeface="Times New Roman"/>
                <a:sym typeface="Times New Roman"/>
              </a:rPr>
              <a:t>chain captures the core biological pathway of organic dairy systems, where DMI is converted into net energy for lactation (NEL), determining milk output.</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Water is the most independent, and therefore vulnerable stock in the diagram, making it a primary test case for stress-scenario testing.</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