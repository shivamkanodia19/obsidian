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2928600" cx="20104100"/>
  <p:notesSz cx="20104100" cy="129286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7" roundtripDataSignature="AMtx7mgL1h1YcIGVsmc+xR/Qwy8BtlPpK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6141075"/>
            <a:ext cx="16083275" cy="581785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1:notes"/>
          <p:cNvSpPr txBox="1"/>
          <p:nvPr>
            <p:ph idx="1" type="body"/>
          </p:nvPr>
        </p:nvSpPr>
        <p:spPr>
          <a:xfrm>
            <a:off x="2010400" y="6141075"/>
            <a:ext cx="16083275" cy="581785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1:notes"/>
          <p:cNvSpPr/>
          <p:nvPr>
            <p:ph idx="2" type="sldImg"/>
          </p:nvPr>
        </p:nvSpPr>
        <p:spPr>
          <a:xfrm>
            <a:off x="3351350" y="969625"/>
            <a:ext cx="13403400" cy="484822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obj">
  <p:cSld name="OBJECT">
    <p:spTree>
      <p:nvGrpSpPr>
        <p:cNvPr id="13" name="Shape 13"/>
        <p:cNvGrpSpPr/>
        <p:nvPr/>
      </p:nvGrpSpPr>
      <p:grpSpPr>
        <a:xfrm>
          <a:off x="0" y="0"/>
          <a:ext cx="0" cy="0"/>
          <a:chOff x="0" y="0"/>
          <a:chExt cx="0" cy="0"/>
        </a:xfrm>
      </p:grpSpPr>
      <p:sp>
        <p:nvSpPr>
          <p:cNvPr id="14" name="Google Shape;14;p3"/>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3"/>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3"/>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7" name="Shape 17"/>
        <p:cNvGrpSpPr/>
        <p:nvPr/>
      </p:nvGrpSpPr>
      <p:grpSpPr>
        <a:xfrm>
          <a:off x="0" y="0"/>
          <a:ext cx="0" cy="0"/>
          <a:chOff x="0" y="0"/>
          <a:chExt cx="0" cy="0"/>
        </a:xfrm>
      </p:grpSpPr>
      <p:sp>
        <p:nvSpPr>
          <p:cNvPr id="18" name="Google Shape;18;p4"/>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 name="Google Shape;20;p4"/>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4"/>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4"/>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3" name="Shape 23"/>
        <p:cNvGrpSpPr/>
        <p:nvPr/>
      </p:nvGrpSpPr>
      <p:grpSpPr>
        <a:xfrm>
          <a:off x="0" y="0"/>
          <a:ext cx="0" cy="0"/>
          <a:chOff x="0" y="0"/>
          <a:chExt cx="0" cy="0"/>
        </a:xfrm>
      </p:grpSpPr>
      <p:sp>
        <p:nvSpPr>
          <p:cNvPr id="24" name="Google Shape;24;p5"/>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
          <p:cNvSpPr txBox="1"/>
          <p:nvPr>
            <p:ph idx="1" type="body"/>
          </p:nvPr>
        </p:nvSpPr>
        <p:spPr>
          <a:xfrm>
            <a:off x="1005205" y="2973578"/>
            <a:ext cx="8745284" cy="85328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6" name="Google Shape;26;p5"/>
          <p:cNvSpPr txBox="1"/>
          <p:nvPr>
            <p:ph idx="2" type="body"/>
          </p:nvPr>
        </p:nvSpPr>
        <p:spPr>
          <a:xfrm>
            <a:off x="10353611" y="2973578"/>
            <a:ext cx="8745284" cy="853287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7" name="Google Shape;27;p5"/>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5"/>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0" name="Shape 30"/>
        <p:cNvGrpSpPr/>
        <p:nvPr/>
      </p:nvGrpSpPr>
      <p:grpSpPr>
        <a:xfrm>
          <a:off x="0" y="0"/>
          <a:ext cx="0" cy="0"/>
          <a:chOff x="0" y="0"/>
          <a:chExt cx="0" cy="0"/>
        </a:xfrm>
      </p:grpSpPr>
      <p:sp>
        <p:nvSpPr>
          <p:cNvPr id="31" name="Google Shape;31;p6"/>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6"/>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6"/>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pic>
        <p:nvPicPr>
          <p:cNvPr id="6" name="Google Shape;6;p2"/>
          <p:cNvPicPr preferRelativeResize="0"/>
          <p:nvPr/>
        </p:nvPicPr>
        <p:blipFill rotWithShape="1">
          <a:blip r:embed="rId1">
            <a:alphaModFix/>
          </a:blip>
          <a:srcRect b="0" l="0" r="0" t="0"/>
          <a:stretch/>
        </p:blipFill>
        <p:spPr>
          <a:xfrm>
            <a:off x="0" y="0"/>
            <a:ext cx="20104100" cy="12924061"/>
          </a:xfrm>
          <a:prstGeom prst="rect">
            <a:avLst/>
          </a:prstGeom>
          <a:noFill/>
          <a:ln>
            <a:noFill/>
          </a:ln>
        </p:spPr>
      </p:pic>
      <p:sp>
        <p:nvSpPr>
          <p:cNvPr id="7" name="Google Shape;7;p2"/>
          <p:cNvSpPr/>
          <p:nvPr/>
        </p:nvSpPr>
        <p:spPr>
          <a:xfrm>
            <a:off x="1502123" y="0"/>
            <a:ext cx="18602325" cy="1376045"/>
          </a:xfrm>
          <a:custGeom>
            <a:rect b="b" l="l" r="r" t="t"/>
            <a:pathLst>
              <a:path extrusionOk="0" h="1376045" w="18602325">
                <a:moveTo>
                  <a:pt x="0" y="0"/>
                </a:moveTo>
                <a:lnTo>
                  <a:pt x="0" y="1375575"/>
                </a:lnTo>
                <a:lnTo>
                  <a:pt x="18601977" y="1375575"/>
                </a:lnTo>
                <a:lnTo>
                  <a:pt x="18601977" y="0"/>
                </a:lnTo>
                <a:lnTo>
                  <a:pt x="0" y="0"/>
                </a:lnTo>
                <a:close/>
              </a:path>
            </a:pathLst>
          </a:custGeom>
          <a:solidFill>
            <a:srgbClr val="5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2"/>
          <p:cNvSpPr txBox="1"/>
          <p:nvPr>
            <p:ph type="title"/>
          </p:nvPr>
        </p:nvSpPr>
        <p:spPr>
          <a:xfrm>
            <a:off x="1005205" y="517144"/>
            <a:ext cx="18093690" cy="2068576"/>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9" name="Google Shape;9;p2"/>
          <p:cNvSpPr txBox="1"/>
          <p:nvPr>
            <p:ph idx="1" type="body"/>
          </p:nvPr>
        </p:nvSpPr>
        <p:spPr>
          <a:xfrm>
            <a:off x="1005205" y="2973578"/>
            <a:ext cx="18093690" cy="8532876"/>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0" name="Google Shape;10;p2"/>
          <p:cNvSpPr txBox="1"/>
          <p:nvPr>
            <p:ph idx="11" type="ftr"/>
          </p:nvPr>
        </p:nvSpPr>
        <p:spPr>
          <a:xfrm>
            <a:off x="6835394" y="12023598"/>
            <a:ext cx="6433312" cy="646430"/>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2"/>
          <p:cNvSpPr txBox="1"/>
          <p:nvPr>
            <p:ph idx="10" type="dt"/>
          </p:nvPr>
        </p:nvSpPr>
        <p:spPr>
          <a:xfrm>
            <a:off x="1005205" y="12023598"/>
            <a:ext cx="4623943" cy="64643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 name="Google Shape;12;p2"/>
          <p:cNvSpPr txBox="1"/>
          <p:nvPr>
            <p:ph idx="12" type="sldNum"/>
          </p:nvPr>
        </p:nvSpPr>
        <p:spPr>
          <a:xfrm>
            <a:off x="14474953" y="12023598"/>
            <a:ext cx="4623943" cy="646430"/>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png"/><Relationship Id="rId5" Type="http://schemas.openxmlformats.org/officeDocument/2006/relationships/image" Target="../media/image2.jpg"/><Relationship Id="rId6" Type="http://schemas.openxmlformats.org/officeDocument/2006/relationships/image" Target="../media/image4.png"/><Relationship Id="rId7"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AE5F1"/>
        </a:solidFill>
      </p:bgPr>
    </p:bg>
    <p:spTree>
      <p:nvGrpSpPr>
        <p:cNvPr id="38" name="Shape 38"/>
        <p:cNvGrpSpPr/>
        <p:nvPr/>
      </p:nvGrpSpPr>
      <p:grpSpPr>
        <a:xfrm>
          <a:off x="0" y="0"/>
          <a:ext cx="0" cy="0"/>
          <a:chOff x="0" y="0"/>
          <a:chExt cx="0" cy="0"/>
        </a:xfrm>
      </p:grpSpPr>
      <p:sp>
        <p:nvSpPr>
          <p:cNvPr id="39" name="Google Shape;39;p1"/>
          <p:cNvSpPr/>
          <p:nvPr/>
        </p:nvSpPr>
        <p:spPr>
          <a:xfrm>
            <a:off x="1524000" y="0"/>
            <a:ext cx="15982200" cy="1436316"/>
          </a:xfrm>
          <a:prstGeom prst="rect">
            <a:avLst/>
          </a:prstGeom>
          <a:solidFill>
            <a:srgbClr val="500000"/>
          </a:solidFill>
          <a:ln cap="flat" cmpd="sng" w="9525">
            <a:solidFill>
              <a:srgbClr val="5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40" name="Google Shape;40;p1"/>
          <p:cNvSpPr txBox="1"/>
          <p:nvPr/>
        </p:nvSpPr>
        <p:spPr>
          <a:xfrm>
            <a:off x="4853699" y="205717"/>
            <a:ext cx="9907800" cy="499800"/>
          </a:xfrm>
          <a:prstGeom prst="rect">
            <a:avLst/>
          </a:prstGeom>
          <a:noFill/>
          <a:ln>
            <a:noFill/>
          </a:ln>
        </p:spPr>
        <p:txBody>
          <a:bodyPr anchorCtr="0" anchor="t" bIns="0" lIns="0" spcFirstLastPara="1" rIns="0" wrap="square" tIns="11425">
            <a:spAutoFit/>
          </a:bodyPr>
          <a:lstStyle/>
          <a:p>
            <a:pPr indent="-628015" lvl="0" marL="678180" marR="43180" rtl="0" algn="ctr">
              <a:lnSpc>
                <a:spcPct val="101400"/>
              </a:lnSpc>
              <a:spcBef>
                <a:spcPts val="0"/>
              </a:spcBef>
              <a:spcAft>
                <a:spcPts val="0"/>
              </a:spcAft>
              <a:buNone/>
            </a:pPr>
            <a:r>
              <a:rPr b="0" i="1" lang="en-US" sz="1550" u="none" cap="none" strike="noStrike">
                <a:solidFill>
                  <a:schemeClr val="lt1"/>
                </a:solidFill>
                <a:latin typeface="Times New Roman"/>
                <a:ea typeface="Times New Roman"/>
                <a:cs typeface="Times New Roman"/>
                <a:sym typeface="Times New Roman"/>
              </a:rPr>
              <a:t>Shivam Kanodia</a:t>
            </a:r>
            <a:r>
              <a:rPr b="0" baseline="30000" i="1" lang="en-US" sz="1550" u="none" cap="none" strike="noStrike">
                <a:solidFill>
                  <a:schemeClr val="lt1"/>
                </a:solidFill>
                <a:latin typeface="Times New Roman"/>
                <a:ea typeface="Times New Roman"/>
                <a:cs typeface="Times New Roman"/>
                <a:sym typeface="Times New Roman"/>
              </a:rPr>
              <a:t>1</a:t>
            </a:r>
            <a:r>
              <a:rPr b="0" i="1" lang="en-US" sz="1550" u="none" cap="none" strike="noStrike">
                <a:solidFill>
                  <a:schemeClr val="lt1"/>
                </a:solidFill>
                <a:latin typeface="Times New Roman"/>
                <a:ea typeface="Times New Roman"/>
                <a:cs typeface="Times New Roman"/>
                <a:sym typeface="Times New Roman"/>
              </a:rPr>
              <a:t>, Rishab Prakash</a:t>
            </a:r>
            <a:r>
              <a:rPr b="0" baseline="30000" i="1" lang="en-US" sz="1550" u="none" cap="none" strike="noStrike">
                <a:solidFill>
                  <a:schemeClr val="lt1"/>
                </a:solidFill>
                <a:latin typeface="Times New Roman"/>
                <a:ea typeface="Times New Roman"/>
                <a:cs typeface="Times New Roman"/>
                <a:sym typeface="Times New Roman"/>
              </a:rPr>
              <a:t>1</a:t>
            </a:r>
            <a:r>
              <a:rPr b="0" i="1" lang="en-US" sz="1550" u="none" cap="none" strike="noStrike">
                <a:solidFill>
                  <a:schemeClr val="lt1"/>
                </a:solidFill>
                <a:latin typeface="Times New Roman"/>
                <a:ea typeface="Times New Roman"/>
                <a:cs typeface="Times New Roman"/>
                <a:sym typeface="Times New Roman"/>
              </a:rPr>
              <a:t>,  Aparna Pushkaran Ajitha</a:t>
            </a:r>
            <a:r>
              <a:rPr b="0" baseline="30000" i="0" lang="en-US" sz="1600" u="none" cap="none" strike="noStrike">
                <a:solidFill>
                  <a:srgbClr val="E7E6E6"/>
                </a:solidFill>
                <a:latin typeface="Times New Roman"/>
                <a:ea typeface="Times New Roman"/>
                <a:cs typeface="Times New Roman"/>
                <a:sym typeface="Times New Roman"/>
              </a:rPr>
              <a:t>2</a:t>
            </a:r>
            <a:r>
              <a:rPr b="0" i="1" lang="en-US" sz="1550" u="none" cap="none" strike="noStrike">
                <a:solidFill>
                  <a:schemeClr val="lt1"/>
                </a:solidFill>
                <a:latin typeface="Times New Roman"/>
                <a:ea typeface="Times New Roman"/>
                <a:cs typeface="Times New Roman"/>
                <a:sym typeface="Times New Roman"/>
              </a:rPr>
              <a:t>, Sushil Paudyal</a:t>
            </a:r>
            <a:r>
              <a:rPr b="0" baseline="30000" i="0" lang="en-US" sz="1600" u="none" cap="none" strike="noStrike">
                <a:solidFill>
                  <a:srgbClr val="E7E6E6"/>
                </a:solidFill>
                <a:latin typeface="Times New Roman"/>
                <a:ea typeface="Times New Roman"/>
                <a:cs typeface="Times New Roman"/>
                <a:sym typeface="Times New Roman"/>
              </a:rPr>
              <a:t>2 </a:t>
            </a:r>
            <a:r>
              <a:rPr b="0" i="0" lang="en-US" sz="1600" u="none" cap="none" strike="noStrike">
                <a:solidFill>
                  <a:srgbClr val="E7E6E6"/>
                </a:solidFill>
                <a:latin typeface="Times New Roman"/>
                <a:ea typeface="Times New Roman"/>
                <a:cs typeface="Times New Roman"/>
                <a:sym typeface="Times New Roman"/>
              </a:rPr>
              <a:t>, </a:t>
            </a:r>
            <a:r>
              <a:rPr b="0" i="1" lang="en-US" sz="1550" u="none" cap="none" strike="noStrike">
                <a:solidFill>
                  <a:schemeClr val="lt1"/>
                </a:solidFill>
                <a:latin typeface="Times New Roman"/>
                <a:ea typeface="Times New Roman"/>
                <a:cs typeface="Times New Roman"/>
                <a:sym typeface="Times New Roman"/>
              </a:rPr>
              <a:t>Karun Kaniyamattan</a:t>
            </a:r>
            <a:r>
              <a:rPr b="0" baseline="30000" i="0" lang="en-US" sz="1600" u="none" cap="none" strike="noStrike">
                <a:solidFill>
                  <a:srgbClr val="E7E6E6"/>
                </a:solidFill>
                <a:latin typeface="Times New Roman"/>
                <a:ea typeface="Times New Roman"/>
                <a:cs typeface="Times New Roman"/>
                <a:sym typeface="Times New Roman"/>
              </a:rPr>
              <a:t>2</a:t>
            </a:r>
            <a:r>
              <a:rPr b="0" baseline="30000" i="0" lang="en-US" sz="1550" u="none" cap="none" strike="noStrike">
                <a:solidFill>
                  <a:schemeClr val="lt1"/>
                </a:solidFill>
                <a:latin typeface="Times New Roman"/>
                <a:ea typeface="Times New Roman"/>
                <a:cs typeface="Times New Roman"/>
                <a:sym typeface="Times New Roman"/>
              </a:rPr>
              <a:t> </a:t>
            </a:r>
            <a:endParaRPr b="0" baseline="30000" i="0" sz="1550" u="none" cap="none" strike="noStrike">
              <a:solidFill>
                <a:schemeClr val="lt1"/>
              </a:solidFill>
              <a:latin typeface="Times New Roman"/>
              <a:ea typeface="Times New Roman"/>
              <a:cs typeface="Times New Roman"/>
              <a:sym typeface="Times New Roman"/>
            </a:endParaRPr>
          </a:p>
          <a:p>
            <a:pPr indent="-628015" lvl="0" marL="1135380" marR="43180" rtl="0" algn="ctr">
              <a:lnSpc>
                <a:spcPct val="101400"/>
              </a:lnSpc>
              <a:spcBef>
                <a:spcPts val="0"/>
              </a:spcBef>
              <a:spcAft>
                <a:spcPts val="0"/>
              </a:spcAft>
              <a:buClr>
                <a:srgbClr val="000000"/>
              </a:buClr>
              <a:buSzPts val="1550"/>
              <a:buFont typeface="Arial"/>
              <a:buNone/>
            </a:pPr>
            <a:r>
              <a:rPr b="0" i="0" lang="en-US" sz="1550" u="none" cap="none" strike="noStrike">
                <a:solidFill>
                  <a:srgbClr val="E7E6E6"/>
                </a:solidFill>
                <a:latin typeface="Times New Roman"/>
                <a:ea typeface="Times New Roman"/>
                <a:cs typeface="Times New Roman"/>
                <a:sym typeface="Times New Roman"/>
              </a:rPr>
              <a:t>College of Engineering</a:t>
            </a:r>
            <a:r>
              <a:rPr b="0" baseline="30000" i="0" lang="en-US" sz="1550" u="none" cap="none" strike="noStrike">
                <a:solidFill>
                  <a:srgbClr val="E7E6E6"/>
                </a:solidFill>
                <a:latin typeface="Times New Roman"/>
                <a:ea typeface="Times New Roman"/>
                <a:cs typeface="Times New Roman"/>
                <a:sym typeface="Times New Roman"/>
              </a:rPr>
              <a:t>1</a:t>
            </a:r>
            <a:r>
              <a:rPr b="0" i="0" lang="en-US" sz="1550" u="none" cap="none" strike="noStrike">
                <a:solidFill>
                  <a:srgbClr val="E7E6E6"/>
                </a:solidFill>
                <a:latin typeface="Times New Roman"/>
                <a:ea typeface="Times New Roman"/>
                <a:cs typeface="Times New Roman"/>
                <a:sym typeface="Times New Roman"/>
              </a:rPr>
              <a:t>, Department of Animal Science</a:t>
            </a:r>
            <a:r>
              <a:rPr b="0" baseline="30000" i="0" lang="en-US" sz="1550" u="none" cap="none" strike="noStrike">
                <a:solidFill>
                  <a:srgbClr val="E7E6E6"/>
                </a:solidFill>
                <a:latin typeface="Times New Roman"/>
                <a:ea typeface="Times New Roman"/>
                <a:cs typeface="Times New Roman"/>
                <a:sym typeface="Times New Roman"/>
              </a:rPr>
              <a:t>2</a:t>
            </a:r>
            <a:r>
              <a:rPr b="0" i="0" lang="en-US" sz="1550" u="none" cap="none" strike="noStrike">
                <a:solidFill>
                  <a:srgbClr val="E7E6E6"/>
                </a:solidFill>
                <a:latin typeface="Times New Roman"/>
                <a:ea typeface="Times New Roman"/>
                <a:cs typeface="Times New Roman"/>
                <a:sym typeface="Times New Roman"/>
              </a:rPr>
              <a:t>, Texas A&amp;M University</a:t>
            </a:r>
            <a:endParaRPr b="0" baseline="30000" i="0" sz="2550" u="none" cap="none" strike="noStrike">
              <a:solidFill>
                <a:srgbClr val="000000"/>
              </a:solidFill>
              <a:latin typeface="Times New Roman"/>
              <a:ea typeface="Times New Roman"/>
              <a:cs typeface="Times New Roman"/>
              <a:sym typeface="Times New Roman"/>
            </a:endParaRPr>
          </a:p>
        </p:txBody>
      </p:sp>
      <p:sp>
        <p:nvSpPr>
          <p:cNvPr id="41" name="Google Shape;41;p1"/>
          <p:cNvSpPr txBox="1"/>
          <p:nvPr/>
        </p:nvSpPr>
        <p:spPr>
          <a:xfrm>
            <a:off x="2002075" y="1985407"/>
            <a:ext cx="19037100" cy="906900"/>
          </a:xfrm>
          <a:prstGeom prst="rect">
            <a:avLst/>
          </a:prstGeom>
          <a:noFill/>
          <a:ln>
            <a:noFill/>
          </a:ln>
        </p:spPr>
        <p:txBody>
          <a:bodyPr anchorCtr="0" anchor="t" bIns="0" lIns="0" spcFirstLastPara="1" rIns="0" wrap="square" tIns="13325">
            <a:spAutoFit/>
          </a:bodyPr>
          <a:lstStyle/>
          <a:p>
            <a:pPr indent="0" lvl="0" marL="0" marR="0" rtl="0" algn="ctr">
              <a:lnSpc>
                <a:spcPct val="115000"/>
              </a:lnSpc>
              <a:spcBef>
                <a:spcPts val="0"/>
              </a:spcBef>
              <a:spcAft>
                <a:spcPts val="0"/>
              </a:spcAft>
              <a:buClr>
                <a:schemeClr val="dk1"/>
              </a:buClr>
              <a:buSzPts val="1100"/>
              <a:buFont typeface="Arial"/>
              <a:buNone/>
            </a:pPr>
            <a:r>
              <a:rPr b="1" i="0" lang="en-US" sz="2700" u="none" cap="none" strike="noStrike">
                <a:solidFill>
                  <a:schemeClr val="lt1"/>
                </a:solidFill>
                <a:latin typeface="Times New Roman"/>
                <a:ea typeface="Times New Roman"/>
                <a:cs typeface="Times New Roman"/>
                <a:sym typeface="Times New Roman"/>
              </a:rPr>
              <a:t>Modeling Resource Flows in Dairy Production: A Systems Dynamics Approach to the WEF Nexus</a:t>
            </a:r>
            <a:endParaRPr b="1" i="0" sz="2700" u="none" cap="none" strike="noStrike">
              <a:solidFill>
                <a:schemeClr val="lt1"/>
              </a:solidFill>
              <a:latin typeface="Times New Roman"/>
              <a:ea typeface="Times New Roman"/>
              <a:cs typeface="Times New Roman"/>
              <a:sym typeface="Times New Roman"/>
            </a:endParaRPr>
          </a:p>
          <a:p>
            <a:pPr indent="0" lvl="0" marL="12700" marR="0" rtl="0" algn="l">
              <a:lnSpc>
                <a:spcPct val="100000"/>
              </a:lnSpc>
              <a:spcBef>
                <a:spcPts val="0"/>
              </a:spcBef>
              <a:spcAft>
                <a:spcPts val="0"/>
              </a:spcAft>
              <a:buClr>
                <a:srgbClr val="000000"/>
              </a:buClr>
              <a:buSzPts val="2700"/>
              <a:buFont typeface="Arial"/>
              <a:buNone/>
            </a:pPr>
            <a:r>
              <a:t/>
            </a:r>
            <a:endParaRPr b="0" i="0" sz="2700" u="none" cap="none" strike="noStrike">
              <a:solidFill>
                <a:schemeClr val="lt1"/>
              </a:solidFill>
              <a:latin typeface="Times New Roman"/>
              <a:ea typeface="Times New Roman"/>
              <a:cs typeface="Times New Roman"/>
              <a:sym typeface="Times New Roman"/>
            </a:endParaRPr>
          </a:p>
        </p:txBody>
      </p:sp>
      <p:sp>
        <p:nvSpPr>
          <p:cNvPr id="42" name="Google Shape;42;p1"/>
          <p:cNvSpPr txBox="1"/>
          <p:nvPr/>
        </p:nvSpPr>
        <p:spPr>
          <a:xfrm>
            <a:off x="19550826" y="10904349"/>
            <a:ext cx="69900" cy="98700"/>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FF0000"/>
                </a:solidFill>
                <a:latin typeface="Arial"/>
                <a:ea typeface="Arial"/>
                <a:cs typeface="Arial"/>
                <a:sym typeface="Arial"/>
              </a:rPr>
              <a:t>+</a:t>
            </a:r>
            <a:endParaRPr b="0" i="0" sz="550" u="none" cap="none" strike="noStrike">
              <a:solidFill>
                <a:srgbClr val="000000"/>
              </a:solidFill>
              <a:latin typeface="Arial"/>
              <a:ea typeface="Arial"/>
              <a:cs typeface="Arial"/>
              <a:sym typeface="Arial"/>
            </a:endParaRPr>
          </a:p>
        </p:txBody>
      </p:sp>
      <p:sp>
        <p:nvSpPr>
          <p:cNvPr id="43" name="Google Shape;43;p1"/>
          <p:cNvSpPr txBox="1"/>
          <p:nvPr/>
        </p:nvSpPr>
        <p:spPr>
          <a:xfrm>
            <a:off x="9085857" y="10540815"/>
            <a:ext cx="69900" cy="98700"/>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808000"/>
                </a:solidFill>
                <a:latin typeface="Arial"/>
                <a:ea typeface="Arial"/>
                <a:cs typeface="Arial"/>
                <a:sym typeface="Arial"/>
              </a:rPr>
              <a:t>+</a:t>
            </a:r>
            <a:endParaRPr b="0" i="0" sz="550" u="none" cap="none" strike="noStrike">
              <a:solidFill>
                <a:srgbClr val="000000"/>
              </a:solidFill>
              <a:latin typeface="Arial"/>
              <a:ea typeface="Arial"/>
              <a:cs typeface="Arial"/>
              <a:sym typeface="Arial"/>
            </a:endParaRPr>
          </a:p>
        </p:txBody>
      </p:sp>
      <p:sp>
        <p:nvSpPr>
          <p:cNvPr id="44" name="Google Shape;44;p1"/>
          <p:cNvSpPr txBox="1"/>
          <p:nvPr/>
        </p:nvSpPr>
        <p:spPr>
          <a:xfrm>
            <a:off x="8996949" y="8212204"/>
            <a:ext cx="69900" cy="98700"/>
          </a:xfrm>
          <a:prstGeom prst="rect">
            <a:avLst/>
          </a:prstGeom>
          <a:noFill/>
          <a:ln>
            <a:noFill/>
          </a:ln>
        </p:spPr>
        <p:txBody>
          <a:bodyPr anchorCtr="0" anchor="t" bIns="0" lIns="0" spcFirstLastPara="1" rIns="0" wrap="square" tIns="13950">
            <a:spAutoFit/>
          </a:bodyPr>
          <a:lstStyle/>
          <a:p>
            <a:pPr indent="0" lvl="0" marL="12700" marR="0" rtl="0" algn="l">
              <a:lnSpc>
                <a:spcPct val="100000"/>
              </a:lnSpc>
              <a:spcBef>
                <a:spcPts val="0"/>
              </a:spcBef>
              <a:spcAft>
                <a:spcPts val="0"/>
              </a:spcAft>
              <a:buClr>
                <a:srgbClr val="000000"/>
              </a:buClr>
              <a:buSzPts val="550"/>
              <a:buFont typeface="Arial"/>
              <a:buNone/>
            </a:pPr>
            <a:r>
              <a:rPr b="0" i="0" lang="en-US" sz="550" u="none" cap="none" strike="noStrike">
                <a:solidFill>
                  <a:srgbClr val="008080"/>
                </a:solidFill>
                <a:latin typeface="Arial"/>
                <a:ea typeface="Arial"/>
                <a:cs typeface="Arial"/>
                <a:sym typeface="Arial"/>
              </a:rPr>
              <a:t>+</a:t>
            </a:r>
            <a:endParaRPr b="0" i="0" sz="550" u="none" cap="none" strike="noStrike">
              <a:solidFill>
                <a:srgbClr val="000000"/>
              </a:solidFill>
              <a:latin typeface="Arial"/>
              <a:ea typeface="Arial"/>
              <a:cs typeface="Arial"/>
              <a:sym typeface="Arial"/>
            </a:endParaRPr>
          </a:p>
        </p:txBody>
      </p:sp>
      <p:grpSp>
        <p:nvGrpSpPr>
          <p:cNvPr id="45" name="Google Shape;45;p1"/>
          <p:cNvGrpSpPr/>
          <p:nvPr/>
        </p:nvGrpSpPr>
        <p:grpSpPr>
          <a:xfrm>
            <a:off x="-41564" y="1456861"/>
            <a:ext cx="20145664" cy="1967364"/>
            <a:chOff x="0" y="1394721"/>
            <a:chExt cx="20145664" cy="1967364"/>
          </a:xfrm>
        </p:grpSpPr>
        <p:sp>
          <p:nvSpPr>
            <p:cNvPr id="46" name="Google Shape;46;p1"/>
            <p:cNvSpPr/>
            <p:nvPr/>
          </p:nvSpPr>
          <p:spPr>
            <a:xfrm>
              <a:off x="0" y="1394721"/>
              <a:ext cx="20145664" cy="891342"/>
            </a:xfrm>
            <a:custGeom>
              <a:rect b="b" l="l" r="r" t="t"/>
              <a:pathLst>
                <a:path extrusionOk="0" h="889000" w="20104100">
                  <a:moveTo>
                    <a:pt x="20104100" y="0"/>
                  </a:moveTo>
                  <a:lnTo>
                    <a:pt x="0" y="0"/>
                  </a:lnTo>
                  <a:lnTo>
                    <a:pt x="0" y="888529"/>
                  </a:lnTo>
                  <a:lnTo>
                    <a:pt x="20104100" y="888529"/>
                  </a:lnTo>
                </a:path>
              </a:pathLst>
            </a:custGeom>
            <a:noFill/>
            <a:ln cap="flat" cmpd="sng" w="29900">
              <a:solidFill>
                <a:srgbClr val="0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1"/>
            <p:cNvSpPr/>
            <p:nvPr/>
          </p:nvSpPr>
          <p:spPr>
            <a:xfrm>
              <a:off x="0" y="2291428"/>
              <a:ext cx="20145664" cy="649605"/>
            </a:xfrm>
            <a:custGeom>
              <a:rect b="b" l="l" r="r" t="t"/>
              <a:pathLst>
                <a:path extrusionOk="0" h="649605" w="20104100">
                  <a:moveTo>
                    <a:pt x="20103700" y="0"/>
                  </a:moveTo>
                  <a:lnTo>
                    <a:pt x="0" y="0"/>
                  </a:lnTo>
                  <a:lnTo>
                    <a:pt x="0" y="649095"/>
                  </a:lnTo>
                  <a:lnTo>
                    <a:pt x="20103700" y="649095"/>
                  </a:lnTo>
                  <a:lnTo>
                    <a:pt x="20103700" y="0"/>
                  </a:lnTo>
                  <a:close/>
                </a:path>
              </a:pathLst>
            </a:custGeom>
            <a:solidFill>
              <a:srgbClr val="FAE4D5"/>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p1"/>
            <p:cNvSpPr/>
            <p:nvPr/>
          </p:nvSpPr>
          <p:spPr>
            <a:xfrm>
              <a:off x="0" y="2291428"/>
              <a:ext cx="20145664" cy="649605"/>
            </a:xfrm>
            <a:custGeom>
              <a:rect b="b" l="l" r="r" t="t"/>
              <a:pathLst>
                <a:path extrusionOk="0" h="649605" w="20104100">
                  <a:moveTo>
                    <a:pt x="0" y="649095"/>
                  </a:moveTo>
                  <a:lnTo>
                    <a:pt x="20103700" y="649095"/>
                  </a:lnTo>
                  <a:lnTo>
                    <a:pt x="20103700" y="0"/>
                  </a:lnTo>
                  <a:lnTo>
                    <a:pt x="0" y="0"/>
                  </a:lnTo>
                  <a:lnTo>
                    <a:pt x="0" y="649095"/>
                  </a:lnTo>
                  <a:close/>
                </a:path>
              </a:pathLst>
            </a:custGeom>
            <a:noFill/>
            <a:ln cap="flat" cmpd="sng" w="14950">
              <a:solidFill>
                <a:srgbClr val="172C5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1"/>
            <p:cNvSpPr/>
            <p:nvPr/>
          </p:nvSpPr>
          <p:spPr>
            <a:xfrm>
              <a:off x="0" y="2952510"/>
              <a:ext cx="8470900" cy="409575"/>
            </a:xfrm>
            <a:custGeom>
              <a:rect b="b" l="l" r="r" t="t"/>
              <a:pathLst>
                <a:path extrusionOk="0" h="409575" w="8470900">
                  <a:moveTo>
                    <a:pt x="0" y="409042"/>
                  </a:moveTo>
                  <a:lnTo>
                    <a:pt x="8470696" y="409042"/>
                  </a:lnTo>
                  <a:lnTo>
                    <a:pt x="8470696" y="0"/>
                  </a:lnTo>
                  <a:lnTo>
                    <a:pt x="0" y="0"/>
                  </a:lnTo>
                  <a:lnTo>
                    <a:pt x="0" y="409042"/>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0" name="Google Shape;50;p1"/>
          <p:cNvSpPr txBox="1"/>
          <p:nvPr/>
        </p:nvSpPr>
        <p:spPr>
          <a:xfrm>
            <a:off x="136779" y="3554977"/>
            <a:ext cx="5089800" cy="1595400"/>
          </a:xfrm>
          <a:prstGeom prst="rect">
            <a:avLst/>
          </a:prstGeom>
          <a:noFill/>
          <a:ln>
            <a:noFill/>
          </a:ln>
        </p:spPr>
        <p:txBody>
          <a:bodyPr anchorCtr="0" anchor="t" bIns="0" lIns="0" spcFirstLastPara="1" rIns="0" wrap="square" tIns="12050">
            <a:spAutoFit/>
          </a:bodyPr>
          <a:lstStyle/>
          <a:p>
            <a:pPr indent="0" lvl="0" marL="0" marR="5080" rtl="0" algn="l">
              <a:lnSpc>
                <a:spcPct val="101000"/>
              </a:lnSpc>
              <a:spcBef>
                <a:spcPts val="0"/>
              </a:spcBef>
              <a:spcAft>
                <a:spcPts val="0"/>
              </a:spcAft>
              <a:buClr>
                <a:srgbClr val="000000"/>
              </a:buClr>
              <a:buSzPts val="1700"/>
              <a:buFont typeface="Arial"/>
              <a:buNone/>
            </a:pPr>
            <a:r>
              <a:rPr b="0" i="0" lang="en-US" sz="1700" u="none" cap="none" strike="noStrike">
                <a:solidFill>
                  <a:srgbClr val="000000"/>
                </a:solidFill>
                <a:latin typeface="Times New Roman"/>
                <a:ea typeface="Times New Roman"/>
                <a:cs typeface="Times New Roman"/>
                <a:sym typeface="Times New Roman"/>
              </a:rPr>
              <a:t>U.S. organic dairy production faces simultaneous pressures from climate variability, input cost volatility, and growing regulatory scrutiny on environmental impact.</a:t>
            </a:r>
            <a:endParaRPr b="0" i="0" sz="1700" u="none" cap="none" strike="noStrike">
              <a:solidFill>
                <a:srgbClr val="000000"/>
              </a:solidFill>
              <a:latin typeface="Times New Roman"/>
              <a:ea typeface="Times New Roman"/>
              <a:cs typeface="Times New Roman"/>
              <a:sym typeface="Times New Roman"/>
            </a:endParaRPr>
          </a:p>
          <a:p>
            <a:pPr indent="0" lvl="0" marL="0" marR="5080" rtl="0" algn="l">
              <a:lnSpc>
                <a:spcPct val="101000"/>
              </a:lnSpc>
              <a:spcBef>
                <a:spcPts val="0"/>
              </a:spcBef>
              <a:spcAft>
                <a:spcPts val="0"/>
              </a:spcAft>
              <a:buClr>
                <a:srgbClr val="000000"/>
              </a:buClr>
              <a:buSzPts val="1700"/>
              <a:buFont typeface="Arial"/>
              <a:buNone/>
            </a:pPr>
            <a:r>
              <a:t/>
            </a:r>
            <a:endParaRPr b="0" i="0" sz="1700" u="none" cap="none" strike="noStrike">
              <a:solidFill>
                <a:srgbClr val="000000"/>
              </a:solidFill>
              <a:latin typeface="Times New Roman"/>
              <a:ea typeface="Times New Roman"/>
              <a:cs typeface="Times New Roman"/>
              <a:sym typeface="Times New Roman"/>
            </a:endParaRPr>
          </a:p>
          <a:p>
            <a:pPr indent="0" lvl="0" marL="0" marR="5080" rtl="0" algn="l">
              <a:lnSpc>
                <a:spcPct val="101000"/>
              </a:lnSpc>
              <a:spcBef>
                <a:spcPts val="0"/>
              </a:spcBef>
              <a:spcAft>
                <a:spcPts val="0"/>
              </a:spcAft>
              <a:buClr>
                <a:srgbClr val="000000"/>
              </a:buClr>
              <a:buSzPts val="1700"/>
              <a:buFont typeface="Arial"/>
              <a:buNone/>
            </a:pPr>
            <a:r>
              <a:t/>
            </a:r>
            <a:endParaRPr b="0" i="0" sz="1700" u="none" cap="none" strike="noStrike">
              <a:solidFill>
                <a:srgbClr val="000000"/>
              </a:solidFill>
              <a:latin typeface="Times New Roman"/>
              <a:ea typeface="Times New Roman"/>
              <a:cs typeface="Times New Roman"/>
              <a:sym typeface="Times New Roman"/>
            </a:endParaRPr>
          </a:p>
          <a:p>
            <a:pPr indent="0" lvl="0" marL="457200" marR="5080" rtl="0" algn="l">
              <a:lnSpc>
                <a:spcPct val="101000"/>
              </a:lnSpc>
              <a:spcBef>
                <a:spcPts val="0"/>
              </a:spcBef>
              <a:spcAft>
                <a:spcPts val="0"/>
              </a:spcAft>
              <a:buClr>
                <a:srgbClr val="000000"/>
              </a:buClr>
              <a:buSzPts val="1700"/>
              <a:buFont typeface="Arial"/>
              <a:buNone/>
            </a:pPr>
            <a:r>
              <a:t/>
            </a:r>
            <a:endParaRPr b="0" i="0" sz="1700" u="none" cap="none" strike="noStrike">
              <a:solidFill>
                <a:srgbClr val="000000"/>
              </a:solidFill>
              <a:latin typeface="Times New Roman"/>
              <a:ea typeface="Times New Roman"/>
              <a:cs typeface="Times New Roman"/>
              <a:sym typeface="Times New Roman"/>
            </a:endParaRPr>
          </a:p>
        </p:txBody>
      </p:sp>
      <p:sp>
        <p:nvSpPr>
          <p:cNvPr id="51" name="Google Shape;51;p1"/>
          <p:cNvSpPr txBox="1"/>
          <p:nvPr/>
        </p:nvSpPr>
        <p:spPr>
          <a:xfrm>
            <a:off x="108300" y="4668738"/>
            <a:ext cx="3215100" cy="1315800"/>
          </a:xfrm>
          <a:prstGeom prst="rect">
            <a:avLst/>
          </a:prstGeom>
          <a:noFill/>
          <a:ln>
            <a:noFill/>
          </a:ln>
        </p:spPr>
        <p:txBody>
          <a:bodyPr anchorCtr="0" anchor="t" bIns="0" lIns="0" spcFirstLastPara="1" rIns="0" wrap="square" tIns="12050">
            <a:spAutoFit/>
          </a:bodyPr>
          <a:lstStyle/>
          <a:p>
            <a:pPr indent="-111760" lvl="0" marL="124460" marR="5080" rtl="0" algn="l">
              <a:lnSpc>
                <a:spcPct val="101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Raising populations - resource scarcity </a:t>
            </a:r>
            <a:r>
              <a:rPr b="0" i="0" lang="en-US" sz="1400" u="none" cap="none" strike="noStrike">
                <a:solidFill>
                  <a:srgbClr val="FF0000"/>
                </a:solidFill>
                <a:latin typeface="Times New Roman"/>
                <a:ea typeface="Times New Roman"/>
                <a:cs typeface="Times New Roman"/>
                <a:sym typeface="Times New Roman"/>
              </a:rPr>
              <a:t>(Perveen et al., 2018)</a:t>
            </a:r>
            <a:endParaRPr b="0" i="0" sz="1400" u="none" cap="none" strike="noStrike">
              <a:solidFill>
                <a:srgbClr val="FF0000"/>
              </a:solidFill>
              <a:latin typeface="Times New Roman"/>
              <a:ea typeface="Times New Roman"/>
              <a:cs typeface="Times New Roman"/>
              <a:sym typeface="Times New Roman"/>
            </a:endParaRPr>
          </a:p>
          <a:p>
            <a:pPr indent="0" lvl="0" marL="0" marR="5080" rtl="0" algn="l">
              <a:lnSpc>
                <a:spcPct val="101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a:p>
            <a:pPr indent="-111760" lvl="0" marL="124460" marR="5080" rtl="0" algn="l">
              <a:lnSpc>
                <a:spcPct val="101000"/>
              </a:lnSpc>
              <a:spcBef>
                <a:spcPts val="0"/>
              </a:spcBef>
              <a:spcAft>
                <a:spcPts val="0"/>
              </a:spcAft>
              <a:buClr>
                <a:srgbClr val="000000"/>
              </a:buClr>
              <a:buSzPts val="1400"/>
              <a:buFont typeface="Times New Roman"/>
              <a:buChar char="•"/>
            </a:pPr>
            <a:r>
              <a:rPr b="0" i="0" lang="en-US" sz="1400" u="none" cap="none" strike="noStrike">
                <a:solidFill>
                  <a:srgbClr val="000000"/>
                </a:solidFill>
                <a:latin typeface="Times New Roman"/>
                <a:ea typeface="Times New Roman"/>
                <a:cs typeface="Times New Roman"/>
                <a:sym typeface="Times New Roman"/>
              </a:rPr>
              <a:t>Climate variability - unpredictable energy efficiency </a:t>
            </a:r>
            <a:r>
              <a:rPr b="0" i="0" lang="en-US" sz="1400" u="none" cap="none" strike="noStrike">
                <a:solidFill>
                  <a:srgbClr val="FF0000"/>
                </a:solidFill>
                <a:latin typeface="Times New Roman"/>
                <a:ea typeface="Times New Roman"/>
                <a:cs typeface="Times New Roman"/>
                <a:sym typeface="Times New Roman"/>
              </a:rPr>
              <a:t>(Sejian et al., 2024)</a:t>
            </a:r>
            <a:endParaRPr b="0" i="0" sz="1400" u="none" cap="none" strike="noStrike">
              <a:solidFill>
                <a:srgbClr val="FF0000"/>
              </a:solidFill>
              <a:latin typeface="Times New Roman"/>
              <a:ea typeface="Times New Roman"/>
              <a:cs typeface="Times New Roman"/>
              <a:sym typeface="Times New Roman"/>
            </a:endParaRPr>
          </a:p>
          <a:p>
            <a:pPr indent="0" lvl="0" marL="457200" marR="5080" rtl="0" algn="l">
              <a:lnSpc>
                <a:spcPct val="101000"/>
              </a:lnSpc>
              <a:spcBef>
                <a:spcPts val="0"/>
              </a:spcBef>
              <a:spcAft>
                <a:spcPts val="0"/>
              </a:spcAft>
              <a:buClr>
                <a:srgbClr val="000000"/>
              </a:buClr>
              <a:buSzPts val="1400"/>
              <a:buFont typeface="Arial"/>
              <a:buNone/>
            </a:pPr>
            <a:r>
              <a:t/>
            </a:r>
            <a:endParaRPr b="0" i="0" sz="1400" u="none" cap="none" strike="noStrike">
              <a:solidFill>
                <a:srgbClr val="000000"/>
              </a:solidFill>
              <a:latin typeface="Times New Roman"/>
              <a:ea typeface="Times New Roman"/>
              <a:cs typeface="Times New Roman"/>
              <a:sym typeface="Times New Roman"/>
            </a:endParaRPr>
          </a:p>
        </p:txBody>
      </p:sp>
      <p:sp>
        <p:nvSpPr>
          <p:cNvPr id="52" name="Google Shape;52;p1"/>
          <p:cNvSpPr txBox="1"/>
          <p:nvPr/>
        </p:nvSpPr>
        <p:spPr>
          <a:xfrm>
            <a:off x="108299" y="5984546"/>
            <a:ext cx="4745400" cy="6630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Leads to a need for Water Energy Food Nexus (WEF) to understand resource interdependencies and find “leverage points” </a:t>
            </a:r>
            <a:r>
              <a:rPr b="0" i="0" lang="en-US" sz="1400" u="none" cap="none" strike="noStrike">
                <a:solidFill>
                  <a:srgbClr val="FF0000"/>
                </a:solidFill>
                <a:latin typeface="Times New Roman"/>
                <a:ea typeface="Times New Roman"/>
                <a:cs typeface="Times New Roman"/>
                <a:sym typeface="Times New Roman"/>
              </a:rPr>
              <a:t>(Yıldız, 2021)</a:t>
            </a:r>
            <a:endParaRPr b="0" i="0" sz="1400" u="none" cap="none" strike="noStrike">
              <a:solidFill>
                <a:srgbClr val="FF0000"/>
              </a:solidFill>
              <a:latin typeface="Times New Roman"/>
              <a:ea typeface="Times New Roman"/>
              <a:cs typeface="Times New Roman"/>
              <a:sym typeface="Times New Roman"/>
            </a:endParaRPr>
          </a:p>
        </p:txBody>
      </p:sp>
      <p:sp>
        <p:nvSpPr>
          <p:cNvPr id="53" name="Google Shape;53;p1"/>
          <p:cNvSpPr txBox="1"/>
          <p:nvPr/>
        </p:nvSpPr>
        <p:spPr>
          <a:xfrm>
            <a:off x="108299" y="6755676"/>
            <a:ext cx="4455300" cy="445200"/>
          </a:xfrm>
          <a:prstGeom prst="rect">
            <a:avLst/>
          </a:prstGeom>
          <a:noFill/>
          <a:ln>
            <a:noFill/>
          </a:ln>
        </p:spPr>
        <p:txBody>
          <a:bodyPr anchorCtr="0" anchor="t" bIns="0" lIns="0" spcFirstLastPara="1" rIns="0" wrap="square" tIns="12050">
            <a:spAutoFit/>
          </a:bodyPr>
          <a:lstStyle/>
          <a:p>
            <a:pPr indent="-111760" lvl="0" marL="123825" marR="5080" rtl="0" algn="l">
              <a:lnSpc>
                <a:spcPct val="101000"/>
              </a:lnSpc>
              <a:spcBef>
                <a:spcPts val="0"/>
              </a:spcBef>
              <a:spcAft>
                <a:spcPts val="0"/>
              </a:spcAft>
              <a:buClr>
                <a:srgbClr val="000000"/>
              </a:buClr>
              <a:buSzPts val="1400"/>
              <a:buFont typeface="Arial"/>
              <a:buChar char="•"/>
            </a:pPr>
            <a:r>
              <a:rPr b="0" i="0" lang="en-US" sz="1400" u="none" cap="none" strike="noStrike">
                <a:solidFill>
                  <a:srgbClr val="000000"/>
                </a:solidFill>
                <a:latin typeface="Times New Roman"/>
                <a:ea typeface="Times New Roman"/>
                <a:cs typeface="Times New Roman"/>
                <a:sym typeface="Times New Roman"/>
              </a:rPr>
              <a:t>System dynamics modeling: visually and mathematically show behaviors of complex systems </a:t>
            </a:r>
            <a:r>
              <a:rPr b="0" i="0" lang="en-US" sz="1400" u="none" cap="none" strike="noStrike">
                <a:solidFill>
                  <a:srgbClr val="FF0000"/>
                </a:solidFill>
                <a:latin typeface="Times New Roman"/>
                <a:ea typeface="Times New Roman"/>
                <a:cs typeface="Times New Roman"/>
                <a:sym typeface="Times New Roman"/>
              </a:rPr>
              <a:t>(Hülsmann et al., 2025)</a:t>
            </a:r>
            <a:endParaRPr b="0" i="0" sz="1400" u="none" cap="none" strike="noStrike">
              <a:solidFill>
                <a:srgbClr val="FF0000"/>
              </a:solidFill>
              <a:latin typeface="Times New Roman"/>
              <a:ea typeface="Times New Roman"/>
              <a:cs typeface="Times New Roman"/>
              <a:sym typeface="Times New Roman"/>
            </a:endParaRPr>
          </a:p>
        </p:txBody>
      </p:sp>
      <p:grpSp>
        <p:nvGrpSpPr>
          <p:cNvPr id="54" name="Google Shape;54;p1"/>
          <p:cNvGrpSpPr/>
          <p:nvPr/>
        </p:nvGrpSpPr>
        <p:grpSpPr>
          <a:xfrm>
            <a:off x="-41564" y="3441411"/>
            <a:ext cx="8596771" cy="9533210"/>
            <a:chOff x="0" y="3350550"/>
            <a:chExt cx="8596771" cy="9573673"/>
          </a:xfrm>
        </p:grpSpPr>
        <p:sp>
          <p:nvSpPr>
            <p:cNvPr id="55" name="Google Shape;55;p1"/>
            <p:cNvSpPr/>
            <p:nvPr/>
          </p:nvSpPr>
          <p:spPr>
            <a:xfrm>
              <a:off x="0" y="3350550"/>
              <a:ext cx="8470900" cy="4040155"/>
            </a:xfrm>
            <a:custGeom>
              <a:rect b="b" l="l" r="r" t="t"/>
              <a:pathLst>
                <a:path extrusionOk="0" h="4077970" w="8470900">
                  <a:moveTo>
                    <a:pt x="0" y="4077761"/>
                  </a:moveTo>
                  <a:lnTo>
                    <a:pt x="8470716" y="4077761"/>
                  </a:lnTo>
                  <a:lnTo>
                    <a:pt x="8470716" y="0"/>
                  </a:lnTo>
                  <a:lnTo>
                    <a:pt x="0" y="0"/>
                  </a:lnTo>
                </a:path>
              </a:pathLst>
            </a:custGeom>
            <a:noFill/>
            <a:ln cap="flat" cmpd="sng" w="9525">
              <a:solidFill>
                <a:srgbClr val="43434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A cow and water supply  AI-generated content may be incorrect." id="56" name="Google Shape;56;p1"/>
            <p:cNvPicPr preferRelativeResize="0"/>
            <p:nvPr/>
          </p:nvPicPr>
          <p:blipFill rotWithShape="1">
            <a:blip r:embed="rId3">
              <a:alphaModFix/>
            </a:blip>
            <a:srcRect b="0" l="0" r="0" t="0"/>
            <a:stretch/>
          </p:blipFill>
          <p:spPr>
            <a:xfrm>
              <a:off x="4727829" y="3866569"/>
              <a:ext cx="3868942" cy="3168340"/>
            </a:xfrm>
            <a:prstGeom prst="rect">
              <a:avLst/>
            </a:prstGeom>
            <a:noFill/>
            <a:ln>
              <a:noFill/>
            </a:ln>
          </p:spPr>
        </p:pic>
        <p:sp>
          <p:nvSpPr>
            <p:cNvPr id="57" name="Google Shape;57;p1"/>
            <p:cNvSpPr/>
            <p:nvPr/>
          </p:nvSpPr>
          <p:spPr>
            <a:xfrm>
              <a:off x="19883" y="11993948"/>
              <a:ext cx="4853940" cy="930275"/>
            </a:xfrm>
            <a:custGeom>
              <a:rect b="b" l="l" r="r" t="t"/>
              <a:pathLst>
                <a:path extrusionOk="0" h="930275" w="4853940">
                  <a:moveTo>
                    <a:pt x="0" y="930113"/>
                  </a:moveTo>
                  <a:lnTo>
                    <a:pt x="4853803" y="930113"/>
                  </a:lnTo>
                  <a:lnTo>
                    <a:pt x="4853803" y="0"/>
                  </a:lnTo>
                  <a:lnTo>
                    <a:pt x="0" y="0"/>
                  </a:lnTo>
                  <a:lnTo>
                    <a:pt x="0" y="930113"/>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 name="Google Shape;58;p1"/>
          <p:cNvSpPr txBox="1"/>
          <p:nvPr/>
        </p:nvSpPr>
        <p:spPr>
          <a:xfrm>
            <a:off x="-416911" y="7538418"/>
            <a:ext cx="8418922" cy="415483"/>
          </a:xfrm>
          <a:prstGeom prst="rect">
            <a:avLst/>
          </a:prstGeom>
          <a:noFill/>
          <a:ln>
            <a:noFill/>
          </a:ln>
        </p:spPr>
        <p:txBody>
          <a:bodyPr anchorCtr="0" anchor="t" bIns="0" lIns="0" spcFirstLastPara="1" rIns="0" wrap="square" tIns="15225">
            <a:spAutoFit/>
          </a:bodyPr>
          <a:lstStyle/>
          <a:p>
            <a:pPr indent="0" lvl="0" marL="12700" marR="0" rtl="0" algn="ctr">
              <a:lnSpc>
                <a:spcPct val="100000"/>
              </a:lnSpc>
              <a:spcBef>
                <a:spcPts val="0"/>
              </a:spcBef>
              <a:spcAft>
                <a:spcPts val="0"/>
              </a:spcAft>
              <a:buClr>
                <a:srgbClr val="000000"/>
              </a:buClr>
              <a:buSzPts val="2600"/>
              <a:buFont typeface="Arial"/>
              <a:buNone/>
            </a:pPr>
            <a:r>
              <a:rPr b="1" i="1" lang="en-US" sz="2600" u="none" cap="none" strike="noStrike">
                <a:solidFill>
                  <a:srgbClr val="500000"/>
                </a:solidFill>
                <a:latin typeface="Times New Roman"/>
                <a:ea typeface="Times New Roman"/>
                <a:cs typeface="Times New Roman"/>
                <a:sym typeface="Times New Roman"/>
              </a:rPr>
              <a:t>MATERIALS AND METHODS</a:t>
            </a:r>
            <a:endParaRPr b="0" i="1" sz="2600" u="none" cap="none" strike="noStrike">
              <a:solidFill>
                <a:srgbClr val="000000"/>
              </a:solidFill>
              <a:latin typeface="Times New Roman"/>
              <a:ea typeface="Times New Roman"/>
              <a:cs typeface="Times New Roman"/>
              <a:sym typeface="Times New Roman"/>
            </a:endParaRPr>
          </a:p>
        </p:txBody>
      </p:sp>
      <p:sp>
        <p:nvSpPr>
          <p:cNvPr id="59" name="Google Shape;59;p1"/>
          <p:cNvSpPr txBox="1"/>
          <p:nvPr/>
        </p:nvSpPr>
        <p:spPr>
          <a:xfrm>
            <a:off x="-41564" y="1491255"/>
            <a:ext cx="20056500" cy="734866"/>
          </a:xfrm>
          <a:prstGeom prst="rect">
            <a:avLst/>
          </a:prstGeom>
          <a:noFill/>
          <a:ln>
            <a:noFill/>
          </a:ln>
        </p:spPr>
        <p:txBody>
          <a:bodyPr anchorCtr="0" anchor="t" bIns="0" lIns="0" spcFirstLastPara="1" rIns="0" wrap="square" tIns="12050">
            <a:spAutoFit/>
          </a:bodyPr>
          <a:lstStyle/>
          <a:p>
            <a:pPr indent="0" lvl="0" marL="199390" marR="59689" rtl="0" algn="just">
              <a:lnSpc>
                <a:spcPct val="101299"/>
              </a:lnSpc>
              <a:spcBef>
                <a:spcPts val="0"/>
              </a:spcBef>
              <a:spcAft>
                <a:spcPts val="0"/>
              </a:spcAft>
              <a:buClr>
                <a:srgbClr val="000000"/>
              </a:buClr>
              <a:buSzPts val="1550"/>
              <a:buFont typeface="Arial"/>
              <a:buNone/>
            </a:pPr>
            <a:r>
              <a:rPr b="1" i="0" lang="en-US" sz="1550" u="none" cap="none" strike="noStrike">
                <a:solidFill>
                  <a:srgbClr val="000000"/>
                </a:solidFill>
                <a:latin typeface="Times New Roman"/>
                <a:ea typeface="Times New Roman"/>
                <a:cs typeface="Times New Roman"/>
                <a:sym typeface="Times New Roman"/>
              </a:rPr>
              <a:t>SUMMARY</a:t>
            </a:r>
            <a:r>
              <a:rPr b="0" i="0" lang="en-US" sz="1550" u="none" cap="none" strike="noStrike">
                <a:solidFill>
                  <a:srgbClr val="000000"/>
                </a:solidFill>
                <a:latin typeface="Times New Roman"/>
                <a:ea typeface="Times New Roman"/>
                <a:cs typeface="Times New Roman"/>
                <a:sym typeface="Times New Roman"/>
              </a:rPr>
              <a:t>: This study develops a multi-year dynamics model of an organic dairy farm using Vensim PLE, simulating six core stocks: Herd Size, Feed Inventory, Water Storage, Energy Reserve, Milk Output, and Manure Stock. This is all within a Water-Energy-Food (WEF) nexus framework. Key auxiliary variables include Water Use Efficiency (WUE), Energy Use Efficiency (EUE), Heat Stress Factor (THI), Enteric Methane Emissions (IPCC Tier 2), and Nutrient Leaching. Baseline simulations reveal strong interdependencies across subsystems, where feed and energy availability jointly drive milk output. Future work will incorporate stress scenario testing under water scarcity, energy price shocks, and feed disruption conditions.</a:t>
            </a:r>
            <a:endParaRPr b="0" i="0" sz="1550" u="none" cap="none" strike="noStrike">
              <a:solidFill>
                <a:srgbClr val="000000"/>
              </a:solidFill>
              <a:latin typeface="Times New Roman"/>
              <a:ea typeface="Times New Roman"/>
              <a:cs typeface="Times New Roman"/>
              <a:sym typeface="Times New Roman"/>
            </a:endParaRPr>
          </a:p>
        </p:txBody>
      </p:sp>
      <p:sp>
        <p:nvSpPr>
          <p:cNvPr id="60" name="Google Shape;60;p1"/>
          <p:cNvSpPr txBox="1"/>
          <p:nvPr/>
        </p:nvSpPr>
        <p:spPr>
          <a:xfrm>
            <a:off x="2285759" y="3016429"/>
            <a:ext cx="15223002" cy="415483"/>
          </a:xfrm>
          <a:prstGeom prst="rect">
            <a:avLst/>
          </a:prstGeom>
          <a:noFill/>
          <a:ln>
            <a:noFill/>
          </a:ln>
        </p:spPr>
        <p:txBody>
          <a:bodyPr anchorCtr="0" anchor="t" bIns="0" lIns="0" spcFirstLastPara="1" rIns="0" wrap="square" tIns="15225">
            <a:spAutoFit/>
          </a:bodyPr>
          <a:lstStyle/>
          <a:p>
            <a:pPr indent="0" lvl="0" marL="12700" marR="0" rtl="0" algn="l">
              <a:lnSpc>
                <a:spcPct val="100000"/>
              </a:lnSpc>
              <a:spcBef>
                <a:spcPts val="0"/>
              </a:spcBef>
              <a:spcAft>
                <a:spcPts val="0"/>
              </a:spcAft>
              <a:buNone/>
            </a:pPr>
            <a:r>
              <a:rPr b="1" i="1" lang="en-US" sz="2600" u="none" cap="none" strike="noStrike">
                <a:solidFill>
                  <a:srgbClr val="500000"/>
                </a:solidFill>
                <a:latin typeface="Times New Roman"/>
                <a:ea typeface="Times New Roman"/>
                <a:cs typeface="Times New Roman"/>
                <a:sym typeface="Times New Roman"/>
              </a:rPr>
              <a:t> INTRODUCTION</a:t>
            </a:r>
            <a:r>
              <a:rPr b="1" i="0" lang="en-US" sz="2600" u="none" cap="none" strike="noStrike">
                <a:solidFill>
                  <a:srgbClr val="500000"/>
                </a:solidFill>
                <a:latin typeface="Times New Roman"/>
                <a:ea typeface="Times New Roman"/>
                <a:cs typeface="Times New Roman"/>
                <a:sym typeface="Times New Roman"/>
              </a:rPr>
              <a:t>								 </a:t>
            </a:r>
            <a:r>
              <a:rPr b="1" i="1" lang="en-US" sz="2600" u="none" cap="none" strike="noStrike">
                <a:solidFill>
                  <a:srgbClr val="500000"/>
                </a:solidFill>
                <a:latin typeface="Times New Roman"/>
                <a:ea typeface="Times New Roman"/>
                <a:cs typeface="Times New Roman"/>
                <a:sym typeface="Times New Roman"/>
              </a:rPr>
              <a:t>RESULT: Stock and Flow Diagram</a:t>
            </a:r>
            <a:endParaRPr b="0" i="1" sz="2600" u="none" cap="none" strike="noStrike">
              <a:solidFill>
                <a:srgbClr val="000000"/>
              </a:solidFill>
              <a:latin typeface="Times New Roman"/>
              <a:ea typeface="Times New Roman"/>
              <a:cs typeface="Times New Roman"/>
              <a:sym typeface="Times New Roman"/>
            </a:endParaRPr>
          </a:p>
        </p:txBody>
      </p:sp>
      <p:sp>
        <p:nvSpPr>
          <p:cNvPr id="61" name="Google Shape;61;p1"/>
          <p:cNvSpPr txBox="1"/>
          <p:nvPr/>
        </p:nvSpPr>
        <p:spPr>
          <a:xfrm>
            <a:off x="4941103" y="8077687"/>
            <a:ext cx="3299400" cy="231710"/>
          </a:xfrm>
          <a:prstGeom prst="rect">
            <a:avLst/>
          </a:prstGeom>
          <a:noFill/>
          <a:ln>
            <a:noFill/>
          </a:ln>
        </p:spPr>
        <p:txBody>
          <a:bodyPr anchorCtr="0" anchor="t" bIns="0" lIns="0" spcFirstLastPara="1" rIns="0" wrap="square" tIns="13950">
            <a:spAutoFit/>
          </a:bodyPr>
          <a:lstStyle/>
          <a:p>
            <a:pPr indent="0" lvl="0" marL="12065" marR="324485" rtl="0" algn="l">
              <a:lnSpc>
                <a:spcPct val="101000"/>
              </a:lnSpc>
              <a:spcBef>
                <a:spcPts val="0"/>
              </a:spcBef>
              <a:spcAft>
                <a:spcPts val="0"/>
              </a:spcAft>
              <a:buNone/>
            </a:pPr>
            <a:r>
              <a:rPr b="0" i="0" lang="en-US" sz="1400" u="none" cap="none" strike="noStrike">
                <a:solidFill>
                  <a:srgbClr val="000000"/>
                </a:solidFill>
                <a:latin typeface="Times New Roman"/>
                <a:ea typeface="Times New Roman"/>
                <a:cs typeface="Times New Roman"/>
                <a:sym typeface="Times New Roman"/>
              </a:rPr>
              <a:t> </a:t>
            </a:r>
            <a:endParaRPr b="0" i="0" sz="1400" u="none" cap="none" strike="noStrike">
              <a:solidFill>
                <a:srgbClr val="000000"/>
              </a:solidFill>
              <a:latin typeface="Times New Roman"/>
              <a:ea typeface="Times New Roman"/>
              <a:cs typeface="Times New Roman"/>
              <a:sym typeface="Times New Roman"/>
            </a:endParaRPr>
          </a:p>
        </p:txBody>
      </p:sp>
      <p:grpSp>
        <p:nvGrpSpPr>
          <p:cNvPr id="62" name="Google Shape;62;p1"/>
          <p:cNvGrpSpPr/>
          <p:nvPr/>
        </p:nvGrpSpPr>
        <p:grpSpPr>
          <a:xfrm>
            <a:off x="-49728" y="6562446"/>
            <a:ext cx="8479064" cy="6305986"/>
            <a:chOff x="19883" y="6543256"/>
            <a:chExt cx="8479064" cy="6305986"/>
          </a:xfrm>
        </p:grpSpPr>
        <p:pic>
          <p:nvPicPr>
            <p:cNvPr id="63" name="Google Shape;63;p1"/>
            <p:cNvPicPr preferRelativeResize="0"/>
            <p:nvPr/>
          </p:nvPicPr>
          <p:blipFill rotWithShape="1">
            <a:blip r:embed="rId4">
              <a:alphaModFix/>
            </a:blip>
            <a:srcRect b="0" l="0" r="0" t="0"/>
            <a:stretch/>
          </p:blipFill>
          <p:spPr>
            <a:xfrm>
              <a:off x="3516322" y="12046275"/>
              <a:ext cx="802967" cy="802967"/>
            </a:xfrm>
            <a:prstGeom prst="rect">
              <a:avLst/>
            </a:prstGeom>
            <a:noFill/>
            <a:ln>
              <a:noFill/>
            </a:ln>
          </p:spPr>
        </p:pic>
        <p:sp>
          <p:nvSpPr>
            <p:cNvPr id="64" name="Google Shape;64;p1"/>
            <p:cNvSpPr/>
            <p:nvPr/>
          </p:nvSpPr>
          <p:spPr>
            <a:xfrm>
              <a:off x="19883" y="7438666"/>
              <a:ext cx="8479064" cy="550157"/>
            </a:xfrm>
            <a:custGeom>
              <a:rect b="b" l="l" r="r" t="t"/>
              <a:pathLst>
                <a:path extrusionOk="0" h="569595" w="4853940">
                  <a:moveTo>
                    <a:pt x="0" y="569067"/>
                  </a:moveTo>
                  <a:lnTo>
                    <a:pt x="4853803" y="569067"/>
                  </a:lnTo>
                  <a:lnTo>
                    <a:pt x="4853803" y="0"/>
                  </a:lnTo>
                  <a:lnTo>
                    <a:pt x="0" y="0"/>
                  </a:lnTo>
                  <a:lnTo>
                    <a:pt x="0" y="569067"/>
                  </a:lnTo>
                  <a:close/>
                </a:path>
              </a:pathLst>
            </a:custGeom>
            <a:noFill/>
            <a:ln cap="flat" cmpd="sng" w="29900">
              <a:solidFill>
                <a:srgbClr val="500000"/>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1"/>
            <p:cNvSpPr/>
            <p:nvPr/>
          </p:nvSpPr>
          <p:spPr>
            <a:xfrm>
              <a:off x="4669366" y="6543256"/>
              <a:ext cx="853439" cy="844550"/>
            </a:xfrm>
            <a:custGeom>
              <a:rect b="b" l="l" r="r" t="t"/>
              <a:pathLst>
                <a:path extrusionOk="0" h="844550" w="853439">
                  <a:moveTo>
                    <a:pt x="511577" y="0"/>
                  </a:moveTo>
                  <a:lnTo>
                    <a:pt x="0" y="481860"/>
                  </a:lnTo>
                  <a:lnTo>
                    <a:pt x="341450" y="844352"/>
                  </a:lnTo>
                  <a:lnTo>
                    <a:pt x="853028" y="362492"/>
                  </a:lnTo>
                  <a:lnTo>
                    <a:pt x="511577" y="0"/>
                  </a:lnTo>
                  <a:close/>
                </a:path>
              </a:pathLst>
            </a:custGeom>
            <a:solidFill>
              <a:srgbClr val="4471C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1"/>
            <p:cNvSpPr/>
            <p:nvPr/>
          </p:nvSpPr>
          <p:spPr>
            <a:xfrm>
              <a:off x="4669366" y="6543256"/>
              <a:ext cx="853439" cy="844550"/>
            </a:xfrm>
            <a:custGeom>
              <a:rect b="b" l="l" r="r" t="t"/>
              <a:pathLst>
                <a:path extrusionOk="0" h="844550" w="853439">
                  <a:moveTo>
                    <a:pt x="0" y="481860"/>
                  </a:moveTo>
                  <a:lnTo>
                    <a:pt x="511577" y="0"/>
                  </a:lnTo>
                  <a:lnTo>
                    <a:pt x="853028" y="362492"/>
                  </a:lnTo>
                  <a:lnTo>
                    <a:pt x="341450" y="844352"/>
                  </a:lnTo>
                  <a:lnTo>
                    <a:pt x="0" y="48186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4907005" y="6812516"/>
              <a:ext cx="376554" cy="309879"/>
            </a:xfrm>
            <a:custGeom>
              <a:rect b="b" l="l" r="r" t="t"/>
              <a:pathLst>
                <a:path extrusionOk="0" h="309879" w="376554">
                  <a:moveTo>
                    <a:pt x="50671" y="255270"/>
                  </a:moveTo>
                  <a:lnTo>
                    <a:pt x="11517" y="255270"/>
                  </a:lnTo>
                  <a:lnTo>
                    <a:pt x="13811" y="256540"/>
                  </a:lnTo>
                  <a:lnTo>
                    <a:pt x="17601" y="257810"/>
                  </a:lnTo>
                  <a:lnTo>
                    <a:pt x="21789" y="259080"/>
                  </a:lnTo>
                  <a:lnTo>
                    <a:pt x="28770" y="262890"/>
                  </a:lnTo>
                  <a:lnTo>
                    <a:pt x="122160" y="309880"/>
                  </a:lnTo>
                  <a:lnTo>
                    <a:pt x="124453" y="308610"/>
                  </a:lnTo>
                  <a:lnTo>
                    <a:pt x="113804" y="284480"/>
                  </a:lnTo>
                  <a:lnTo>
                    <a:pt x="105955" y="284480"/>
                  </a:lnTo>
                  <a:lnTo>
                    <a:pt x="50671" y="255270"/>
                  </a:lnTo>
                  <a:close/>
                </a:path>
                <a:path extrusionOk="0" h="309879" w="376554">
                  <a:moveTo>
                    <a:pt x="94270" y="217170"/>
                  </a:moveTo>
                  <a:lnTo>
                    <a:pt x="54897" y="217170"/>
                  </a:lnTo>
                  <a:lnTo>
                    <a:pt x="58836" y="218440"/>
                  </a:lnTo>
                  <a:lnTo>
                    <a:pt x="61628" y="219710"/>
                  </a:lnTo>
                  <a:lnTo>
                    <a:pt x="64520" y="220980"/>
                  </a:lnTo>
                  <a:lnTo>
                    <a:pt x="71999" y="224790"/>
                  </a:lnTo>
                  <a:lnTo>
                    <a:pt x="81423" y="229870"/>
                  </a:lnTo>
                  <a:lnTo>
                    <a:pt x="105955" y="284480"/>
                  </a:lnTo>
                  <a:lnTo>
                    <a:pt x="113804" y="284480"/>
                  </a:lnTo>
                  <a:lnTo>
                    <a:pt x="91944" y="234950"/>
                  </a:lnTo>
                  <a:lnTo>
                    <a:pt x="128200" y="234950"/>
                  </a:lnTo>
                  <a:lnTo>
                    <a:pt x="94270" y="217170"/>
                  </a:lnTo>
                  <a:close/>
                </a:path>
                <a:path extrusionOk="0" h="309879" w="376554">
                  <a:moveTo>
                    <a:pt x="128200" y="234950"/>
                  </a:moveTo>
                  <a:lnTo>
                    <a:pt x="91944" y="234950"/>
                  </a:lnTo>
                  <a:lnTo>
                    <a:pt x="163744" y="271780"/>
                  </a:lnTo>
                  <a:lnTo>
                    <a:pt x="166287" y="269240"/>
                  </a:lnTo>
                  <a:lnTo>
                    <a:pt x="155477" y="245110"/>
                  </a:lnTo>
                  <a:lnTo>
                    <a:pt x="147589" y="245110"/>
                  </a:lnTo>
                  <a:lnTo>
                    <a:pt x="128200" y="234950"/>
                  </a:lnTo>
                  <a:close/>
                </a:path>
                <a:path extrusionOk="0" h="309879" w="376554">
                  <a:moveTo>
                    <a:pt x="32060" y="228600"/>
                  </a:moveTo>
                  <a:lnTo>
                    <a:pt x="0" y="259080"/>
                  </a:lnTo>
                  <a:lnTo>
                    <a:pt x="2243" y="260350"/>
                  </a:lnTo>
                  <a:lnTo>
                    <a:pt x="4736" y="259080"/>
                  </a:lnTo>
                  <a:lnTo>
                    <a:pt x="7080" y="256540"/>
                  </a:lnTo>
                  <a:lnTo>
                    <a:pt x="11517" y="255270"/>
                  </a:lnTo>
                  <a:lnTo>
                    <a:pt x="50671" y="255270"/>
                  </a:lnTo>
                  <a:lnTo>
                    <a:pt x="36249" y="247650"/>
                  </a:lnTo>
                  <a:lnTo>
                    <a:pt x="32110" y="245110"/>
                  </a:lnTo>
                  <a:lnTo>
                    <a:pt x="29318" y="242570"/>
                  </a:lnTo>
                  <a:lnTo>
                    <a:pt x="28770" y="241300"/>
                  </a:lnTo>
                  <a:lnTo>
                    <a:pt x="29019" y="238760"/>
                  </a:lnTo>
                  <a:lnTo>
                    <a:pt x="29218" y="236220"/>
                  </a:lnTo>
                  <a:lnTo>
                    <a:pt x="30465" y="234950"/>
                  </a:lnTo>
                  <a:lnTo>
                    <a:pt x="32709" y="232410"/>
                  </a:lnTo>
                  <a:lnTo>
                    <a:pt x="34254" y="231140"/>
                  </a:lnTo>
                  <a:lnTo>
                    <a:pt x="32060" y="228600"/>
                  </a:lnTo>
                  <a:close/>
                </a:path>
                <a:path extrusionOk="0" h="309879" w="376554">
                  <a:moveTo>
                    <a:pt x="120265" y="166370"/>
                  </a:moveTo>
                  <a:lnTo>
                    <a:pt x="109545" y="166370"/>
                  </a:lnTo>
                  <a:lnTo>
                    <a:pt x="110742" y="167640"/>
                  </a:lnTo>
                  <a:lnTo>
                    <a:pt x="113584" y="170180"/>
                  </a:lnTo>
                  <a:lnTo>
                    <a:pt x="119168" y="181610"/>
                  </a:lnTo>
                  <a:lnTo>
                    <a:pt x="147589" y="245110"/>
                  </a:lnTo>
                  <a:lnTo>
                    <a:pt x="155477" y="245110"/>
                  </a:lnTo>
                  <a:lnTo>
                    <a:pt x="124753" y="176530"/>
                  </a:lnTo>
                  <a:lnTo>
                    <a:pt x="121262" y="168910"/>
                  </a:lnTo>
                  <a:lnTo>
                    <a:pt x="120265" y="166370"/>
                  </a:lnTo>
                  <a:close/>
                </a:path>
                <a:path extrusionOk="0" h="309879" w="376554">
                  <a:moveTo>
                    <a:pt x="202486" y="154940"/>
                  </a:moveTo>
                  <a:lnTo>
                    <a:pt x="180946" y="154940"/>
                  </a:lnTo>
                  <a:lnTo>
                    <a:pt x="185633" y="158750"/>
                  </a:lnTo>
                  <a:lnTo>
                    <a:pt x="191118" y="163830"/>
                  </a:lnTo>
                  <a:lnTo>
                    <a:pt x="193312" y="166370"/>
                  </a:lnTo>
                  <a:lnTo>
                    <a:pt x="188807" y="175260"/>
                  </a:lnTo>
                  <a:lnTo>
                    <a:pt x="185172" y="184150"/>
                  </a:lnTo>
                  <a:lnTo>
                    <a:pt x="182416" y="190500"/>
                  </a:lnTo>
                  <a:lnTo>
                    <a:pt x="180547" y="196850"/>
                  </a:lnTo>
                  <a:lnTo>
                    <a:pt x="178603" y="203200"/>
                  </a:lnTo>
                  <a:lnTo>
                    <a:pt x="178266" y="207010"/>
                  </a:lnTo>
                  <a:lnTo>
                    <a:pt x="178154" y="208280"/>
                  </a:lnTo>
                  <a:lnTo>
                    <a:pt x="179151" y="213360"/>
                  </a:lnTo>
                  <a:lnTo>
                    <a:pt x="198398" y="229870"/>
                  </a:lnTo>
                  <a:lnTo>
                    <a:pt x="203633" y="229870"/>
                  </a:lnTo>
                  <a:lnTo>
                    <a:pt x="208270" y="227330"/>
                  </a:lnTo>
                  <a:lnTo>
                    <a:pt x="214902" y="222250"/>
                  </a:lnTo>
                  <a:lnTo>
                    <a:pt x="216847" y="218440"/>
                  </a:lnTo>
                  <a:lnTo>
                    <a:pt x="218455" y="214630"/>
                  </a:lnTo>
                  <a:lnTo>
                    <a:pt x="205727" y="214630"/>
                  </a:lnTo>
                  <a:lnTo>
                    <a:pt x="198298" y="213360"/>
                  </a:lnTo>
                  <a:lnTo>
                    <a:pt x="187478" y="196850"/>
                  </a:lnTo>
                  <a:lnTo>
                    <a:pt x="188027" y="193040"/>
                  </a:lnTo>
                  <a:lnTo>
                    <a:pt x="190520" y="185420"/>
                  </a:lnTo>
                  <a:lnTo>
                    <a:pt x="192963" y="179070"/>
                  </a:lnTo>
                  <a:lnTo>
                    <a:pt x="196952" y="170180"/>
                  </a:lnTo>
                  <a:lnTo>
                    <a:pt x="216510" y="170180"/>
                  </a:lnTo>
                  <a:lnTo>
                    <a:pt x="202486" y="154940"/>
                  </a:lnTo>
                  <a:close/>
                </a:path>
                <a:path extrusionOk="0" h="309879" w="376554">
                  <a:moveTo>
                    <a:pt x="74792" y="187960"/>
                  </a:moveTo>
                  <a:lnTo>
                    <a:pt x="41085" y="219710"/>
                  </a:lnTo>
                  <a:lnTo>
                    <a:pt x="43329" y="222250"/>
                  </a:lnTo>
                  <a:lnTo>
                    <a:pt x="45074" y="220980"/>
                  </a:lnTo>
                  <a:lnTo>
                    <a:pt x="46470" y="219710"/>
                  </a:lnTo>
                  <a:lnTo>
                    <a:pt x="48913" y="218440"/>
                  </a:lnTo>
                  <a:lnTo>
                    <a:pt x="50459" y="218440"/>
                  </a:lnTo>
                  <a:lnTo>
                    <a:pt x="53600" y="217170"/>
                  </a:lnTo>
                  <a:lnTo>
                    <a:pt x="94270" y="217170"/>
                  </a:lnTo>
                  <a:lnTo>
                    <a:pt x="79728" y="209550"/>
                  </a:lnTo>
                  <a:lnTo>
                    <a:pt x="75190" y="207010"/>
                  </a:lnTo>
                  <a:lnTo>
                    <a:pt x="71501" y="203200"/>
                  </a:lnTo>
                  <a:lnTo>
                    <a:pt x="70753" y="200660"/>
                  </a:lnTo>
                  <a:lnTo>
                    <a:pt x="71052" y="196850"/>
                  </a:lnTo>
                  <a:lnTo>
                    <a:pt x="72348" y="194310"/>
                  </a:lnTo>
                  <a:lnTo>
                    <a:pt x="74692" y="193040"/>
                  </a:lnTo>
                  <a:lnTo>
                    <a:pt x="76985" y="190500"/>
                  </a:lnTo>
                  <a:lnTo>
                    <a:pt x="74792" y="187960"/>
                  </a:lnTo>
                  <a:close/>
                </a:path>
                <a:path extrusionOk="0" h="309879" w="376554">
                  <a:moveTo>
                    <a:pt x="216510" y="170180"/>
                  </a:moveTo>
                  <a:lnTo>
                    <a:pt x="196952" y="170180"/>
                  </a:lnTo>
                  <a:lnTo>
                    <a:pt x="217944" y="193040"/>
                  </a:lnTo>
                  <a:lnTo>
                    <a:pt x="216647" y="201930"/>
                  </a:lnTo>
                  <a:lnTo>
                    <a:pt x="214403" y="208280"/>
                  </a:lnTo>
                  <a:lnTo>
                    <a:pt x="211212" y="210820"/>
                  </a:lnTo>
                  <a:lnTo>
                    <a:pt x="208819" y="213360"/>
                  </a:lnTo>
                  <a:lnTo>
                    <a:pt x="205727" y="214630"/>
                  </a:lnTo>
                  <a:lnTo>
                    <a:pt x="218455" y="214630"/>
                  </a:lnTo>
                  <a:lnTo>
                    <a:pt x="218991" y="213360"/>
                  </a:lnTo>
                  <a:lnTo>
                    <a:pt x="220237" y="207010"/>
                  </a:lnTo>
                  <a:lnTo>
                    <a:pt x="221833" y="196850"/>
                  </a:lnTo>
                  <a:lnTo>
                    <a:pt x="240992" y="196850"/>
                  </a:lnTo>
                  <a:lnTo>
                    <a:pt x="242076" y="195580"/>
                  </a:lnTo>
                  <a:lnTo>
                    <a:pt x="243622" y="187960"/>
                  </a:lnTo>
                  <a:lnTo>
                    <a:pt x="243466" y="186690"/>
                  </a:lnTo>
                  <a:lnTo>
                    <a:pt x="232553" y="186690"/>
                  </a:lnTo>
                  <a:lnTo>
                    <a:pt x="229761" y="184150"/>
                  </a:lnTo>
                  <a:lnTo>
                    <a:pt x="226420" y="180340"/>
                  </a:lnTo>
                  <a:lnTo>
                    <a:pt x="221184" y="175260"/>
                  </a:lnTo>
                  <a:lnTo>
                    <a:pt x="216510" y="170180"/>
                  </a:lnTo>
                  <a:close/>
                </a:path>
                <a:path extrusionOk="0" h="309879" w="376554">
                  <a:moveTo>
                    <a:pt x="240992" y="196850"/>
                  </a:moveTo>
                  <a:lnTo>
                    <a:pt x="221833" y="196850"/>
                  </a:lnTo>
                  <a:lnTo>
                    <a:pt x="225173" y="200660"/>
                  </a:lnTo>
                  <a:lnTo>
                    <a:pt x="228115" y="201930"/>
                  </a:lnTo>
                  <a:lnTo>
                    <a:pt x="233301" y="203200"/>
                  </a:lnTo>
                  <a:lnTo>
                    <a:pt x="235644" y="201930"/>
                  </a:lnTo>
                  <a:lnTo>
                    <a:pt x="237738" y="200660"/>
                  </a:lnTo>
                  <a:lnTo>
                    <a:pt x="240992" y="196850"/>
                  </a:lnTo>
                  <a:close/>
                </a:path>
                <a:path extrusionOk="0" h="309879" w="376554">
                  <a:moveTo>
                    <a:pt x="186930" y="143510"/>
                  </a:moveTo>
                  <a:lnTo>
                    <a:pt x="183140" y="143510"/>
                  </a:lnTo>
                  <a:lnTo>
                    <a:pt x="174464" y="146050"/>
                  </a:lnTo>
                  <a:lnTo>
                    <a:pt x="151877" y="179070"/>
                  </a:lnTo>
                  <a:lnTo>
                    <a:pt x="153174" y="185420"/>
                  </a:lnTo>
                  <a:lnTo>
                    <a:pt x="158409" y="190500"/>
                  </a:lnTo>
                  <a:lnTo>
                    <a:pt x="160354" y="191770"/>
                  </a:lnTo>
                  <a:lnTo>
                    <a:pt x="164442" y="191770"/>
                  </a:lnTo>
                  <a:lnTo>
                    <a:pt x="163844" y="175260"/>
                  </a:lnTo>
                  <a:lnTo>
                    <a:pt x="162099" y="172720"/>
                  </a:lnTo>
                  <a:lnTo>
                    <a:pt x="161351" y="170180"/>
                  </a:lnTo>
                  <a:lnTo>
                    <a:pt x="161476" y="168910"/>
                  </a:lnTo>
                  <a:lnTo>
                    <a:pt x="161600" y="167640"/>
                  </a:lnTo>
                  <a:lnTo>
                    <a:pt x="173168" y="154940"/>
                  </a:lnTo>
                  <a:lnTo>
                    <a:pt x="202486" y="154940"/>
                  </a:lnTo>
                  <a:lnTo>
                    <a:pt x="193262" y="146050"/>
                  </a:lnTo>
                  <a:lnTo>
                    <a:pt x="186930" y="143510"/>
                  </a:lnTo>
                  <a:close/>
                </a:path>
                <a:path extrusionOk="0" h="309879" w="376554">
                  <a:moveTo>
                    <a:pt x="239035" y="173990"/>
                  </a:moveTo>
                  <a:lnTo>
                    <a:pt x="238997" y="175260"/>
                  </a:lnTo>
                  <a:lnTo>
                    <a:pt x="238885" y="179070"/>
                  </a:lnTo>
                  <a:lnTo>
                    <a:pt x="238761" y="180340"/>
                  </a:lnTo>
                  <a:lnTo>
                    <a:pt x="238636" y="181610"/>
                  </a:lnTo>
                  <a:lnTo>
                    <a:pt x="238237" y="184150"/>
                  </a:lnTo>
                  <a:lnTo>
                    <a:pt x="237988" y="184150"/>
                  </a:lnTo>
                  <a:lnTo>
                    <a:pt x="237539" y="185420"/>
                  </a:lnTo>
                  <a:lnTo>
                    <a:pt x="236891" y="185420"/>
                  </a:lnTo>
                  <a:lnTo>
                    <a:pt x="236243" y="186690"/>
                  </a:lnTo>
                  <a:lnTo>
                    <a:pt x="243466" y="186690"/>
                  </a:lnTo>
                  <a:lnTo>
                    <a:pt x="242376" y="177800"/>
                  </a:lnTo>
                  <a:lnTo>
                    <a:pt x="239035" y="173990"/>
                  </a:lnTo>
                  <a:close/>
                </a:path>
                <a:path extrusionOk="0" h="309879" w="376554">
                  <a:moveTo>
                    <a:pt x="120614" y="144780"/>
                  </a:moveTo>
                  <a:lnTo>
                    <a:pt x="94736" y="168910"/>
                  </a:lnTo>
                  <a:lnTo>
                    <a:pt x="96980" y="171450"/>
                  </a:lnTo>
                  <a:lnTo>
                    <a:pt x="99573" y="168910"/>
                  </a:lnTo>
                  <a:lnTo>
                    <a:pt x="101966" y="167640"/>
                  </a:lnTo>
                  <a:lnTo>
                    <a:pt x="104110" y="166370"/>
                  </a:lnTo>
                  <a:lnTo>
                    <a:pt x="120265" y="166370"/>
                  </a:lnTo>
                  <a:lnTo>
                    <a:pt x="119268" y="163830"/>
                  </a:lnTo>
                  <a:lnTo>
                    <a:pt x="117922" y="158750"/>
                  </a:lnTo>
                  <a:lnTo>
                    <a:pt x="117822" y="156210"/>
                  </a:lnTo>
                  <a:lnTo>
                    <a:pt x="119118" y="151130"/>
                  </a:lnTo>
                  <a:lnTo>
                    <a:pt x="120564" y="149860"/>
                  </a:lnTo>
                  <a:lnTo>
                    <a:pt x="122808" y="147320"/>
                  </a:lnTo>
                  <a:lnTo>
                    <a:pt x="120614" y="144780"/>
                  </a:lnTo>
                  <a:close/>
                </a:path>
                <a:path extrusionOk="0" h="309879" w="376554">
                  <a:moveTo>
                    <a:pt x="230256" y="121920"/>
                  </a:moveTo>
                  <a:lnTo>
                    <a:pt x="210215" y="121920"/>
                  </a:lnTo>
                  <a:lnTo>
                    <a:pt x="247212" y="161290"/>
                  </a:lnTo>
                  <a:lnTo>
                    <a:pt x="251201" y="165100"/>
                  </a:lnTo>
                  <a:lnTo>
                    <a:pt x="254542" y="167640"/>
                  </a:lnTo>
                  <a:lnTo>
                    <a:pt x="260176" y="170180"/>
                  </a:lnTo>
                  <a:lnTo>
                    <a:pt x="265910" y="170180"/>
                  </a:lnTo>
                  <a:lnTo>
                    <a:pt x="278518" y="156210"/>
                  </a:lnTo>
                  <a:lnTo>
                    <a:pt x="262918" y="156210"/>
                  </a:lnTo>
                  <a:lnTo>
                    <a:pt x="259977" y="153670"/>
                  </a:lnTo>
                  <a:lnTo>
                    <a:pt x="230256" y="121920"/>
                  </a:lnTo>
                  <a:close/>
                </a:path>
                <a:path extrusionOk="0" h="309879" w="376554">
                  <a:moveTo>
                    <a:pt x="276082" y="139700"/>
                  </a:moveTo>
                  <a:lnTo>
                    <a:pt x="273589" y="142240"/>
                  </a:lnTo>
                  <a:lnTo>
                    <a:pt x="274436" y="144780"/>
                  </a:lnTo>
                  <a:lnTo>
                    <a:pt x="274536" y="146050"/>
                  </a:lnTo>
                  <a:lnTo>
                    <a:pt x="274636" y="147320"/>
                  </a:lnTo>
                  <a:lnTo>
                    <a:pt x="273639" y="151130"/>
                  </a:lnTo>
                  <a:lnTo>
                    <a:pt x="272691" y="152400"/>
                  </a:lnTo>
                  <a:lnTo>
                    <a:pt x="271295" y="153670"/>
                  </a:lnTo>
                  <a:lnTo>
                    <a:pt x="269600" y="156210"/>
                  </a:lnTo>
                  <a:lnTo>
                    <a:pt x="278518" y="156210"/>
                  </a:lnTo>
                  <a:lnTo>
                    <a:pt x="279373" y="151130"/>
                  </a:lnTo>
                  <a:lnTo>
                    <a:pt x="278525" y="146050"/>
                  </a:lnTo>
                  <a:lnTo>
                    <a:pt x="276082" y="139700"/>
                  </a:lnTo>
                  <a:close/>
                </a:path>
                <a:path extrusionOk="0" h="309879" w="376554">
                  <a:moveTo>
                    <a:pt x="275733" y="52070"/>
                  </a:moveTo>
                  <a:lnTo>
                    <a:pt x="250988" y="81280"/>
                  </a:lnTo>
                  <a:lnTo>
                    <a:pt x="250353" y="87630"/>
                  </a:lnTo>
                  <a:lnTo>
                    <a:pt x="251335" y="96520"/>
                  </a:lnTo>
                  <a:lnTo>
                    <a:pt x="278288" y="129540"/>
                  </a:lnTo>
                  <a:lnTo>
                    <a:pt x="292985" y="133350"/>
                  </a:lnTo>
                  <a:lnTo>
                    <a:pt x="300286" y="133350"/>
                  </a:lnTo>
                  <a:lnTo>
                    <a:pt x="307008" y="132080"/>
                  </a:lnTo>
                  <a:lnTo>
                    <a:pt x="313151" y="129540"/>
                  </a:lnTo>
                  <a:lnTo>
                    <a:pt x="318713" y="124460"/>
                  </a:lnTo>
                  <a:lnTo>
                    <a:pt x="325195" y="119380"/>
                  </a:lnTo>
                  <a:lnTo>
                    <a:pt x="325711" y="118110"/>
                  </a:lnTo>
                  <a:lnTo>
                    <a:pt x="300713" y="118110"/>
                  </a:lnTo>
                  <a:lnTo>
                    <a:pt x="291788" y="116840"/>
                  </a:lnTo>
                  <a:lnTo>
                    <a:pt x="285198" y="115570"/>
                  </a:lnTo>
                  <a:lnTo>
                    <a:pt x="278743" y="113030"/>
                  </a:lnTo>
                  <a:lnTo>
                    <a:pt x="272429" y="107950"/>
                  </a:lnTo>
                  <a:lnTo>
                    <a:pt x="266259" y="102870"/>
                  </a:lnTo>
                  <a:lnTo>
                    <a:pt x="270298" y="99060"/>
                  </a:lnTo>
                  <a:lnTo>
                    <a:pt x="262769" y="99060"/>
                  </a:lnTo>
                  <a:lnTo>
                    <a:pt x="258630" y="92710"/>
                  </a:lnTo>
                  <a:lnTo>
                    <a:pt x="256686" y="87630"/>
                  </a:lnTo>
                  <a:lnTo>
                    <a:pt x="256736" y="86360"/>
                  </a:lnTo>
                  <a:lnTo>
                    <a:pt x="256835" y="83820"/>
                  </a:lnTo>
                  <a:lnTo>
                    <a:pt x="256935" y="81280"/>
                  </a:lnTo>
                  <a:lnTo>
                    <a:pt x="257035" y="78740"/>
                  </a:lnTo>
                  <a:lnTo>
                    <a:pt x="257085" y="77470"/>
                  </a:lnTo>
                  <a:lnTo>
                    <a:pt x="258930" y="72390"/>
                  </a:lnTo>
                  <a:lnTo>
                    <a:pt x="264763" y="67310"/>
                  </a:lnTo>
                  <a:lnTo>
                    <a:pt x="267605" y="66040"/>
                  </a:lnTo>
                  <a:lnTo>
                    <a:pt x="270996" y="64770"/>
                  </a:lnTo>
                  <a:lnTo>
                    <a:pt x="306647" y="64770"/>
                  </a:lnTo>
                  <a:lnTo>
                    <a:pt x="299816" y="57150"/>
                  </a:lnTo>
                  <a:lnTo>
                    <a:pt x="292287" y="53340"/>
                  </a:lnTo>
                  <a:lnTo>
                    <a:pt x="275733" y="52070"/>
                  </a:lnTo>
                  <a:close/>
                </a:path>
                <a:path extrusionOk="0" h="309879" w="376554">
                  <a:moveTo>
                    <a:pt x="198448" y="88900"/>
                  </a:moveTo>
                  <a:lnTo>
                    <a:pt x="196453" y="90170"/>
                  </a:lnTo>
                  <a:lnTo>
                    <a:pt x="198747" y="96520"/>
                  </a:lnTo>
                  <a:lnTo>
                    <a:pt x="200193" y="100330"/>
                  </a:lnTo>
                  <a:lnTo>
                    <a:pt x="200741" y="102870"/>
                  </a:lnTo>
                  <a:lnTo>
                    <a:pt x="201689" y="107950"/>
                  </a:lnTo>
                  <a:lnTo>
                    <a:pt x="201838" y="110490"/>
                  </a:lnTo>
                  <a:lnTo>
                    <a:pt x="201913" y="111760"/>
                  </a:lnTo>
                  <a:lnTo>
                    <a:pt x="201988" y="113030"/>
                  </a:lnTo>
                  <a:lnTo>
                    <a:pt x="201755" y="115570"/>
                  </a:lnTo>
                  <a:lnTo>
                    <a:pt x="201639" y="116840"/>
                  </a:lnTo>
                  <a:lnTo>
                    <a:pt x="201340" y="121920"/>
                  </a:lnTo>
                  <a:lnTo>
                    <a:pt x="200442" y="125730"/>
                  </a:lnTo>
                  <a:lnTo>
                    <a:pt x="198946" y="128270"/>
                  </a:lnTo>
                  <a:lnTo>
                    <a:pt x="200941" y="130810"/>
                  </a:lnTo>
                  <a:lnTo>
                    <a:pt x="210215" y="121920"/>
                  </a:lnTo>
                  <a:lnTo>
                    <a:pt x="230256" y="121920"/>
                  </a:lnTo>
                  <a:lnTo>
                    <a:pt x="220736" y="111760"/>
                  </a:lnTo>
                  <a:lnTo>
                    <a:pt x="224834" y="107950"/>
                  </a:lnTo>
                  <a:lnTo>
                    <a:pt x="216498" y="107950"/>
                  </a:lnTo>
                  <a:lnTo>
                    <a:pt x="198448" y="88900"/>
                  </a:lnTo>
                  <a:close/>
                </a:path>
                <a:path extrusionOk="0" h="309879" w="376554">
                  <a:moveTo>
                    <a:pt x="320907" y="78740"/>
                  </a:moveTo>
                  <a:lnTo>
                    <a:pt x="317716" y="80010"/>
                  </a:lnTo>
                  <a:lnTo>
                    <a:pt x="320608" y="86360"/>
                  </a:lnTo>
                  <a:lnTo>
                    <a:pt x="321605" y="92710"/>
                  </a:lnTo>
                  <a:lnTo>
                    <a:pt x="300713" y="118110"/>
                  </a:lnTo>
                  <a:lnTo>
                    <a:pt x="325711" y="118110"/>
                  </a:lnTo>
                  <a:lnTo>
                    <a:pt x="328287" y="111760"/>
                  </a:lnTo>
                  <a:lnTo>
                    <a:pt x="328173" y="106680"/>
                  </a:lnTo>
                  <a:lnTo>
                    <a:pt x="328087" y="102870"/>
                  </a:lnTo>
                  <a:lnTo>
                    <a:pt x="328002" y="99060"/>
                  </a:lnTo>
                  <a:lnTo>
                    <a:pt x="327888" y="93980"/>
                  </a:lnTo>
                  <a:lnTo>
                    <a:pt x="325494" y="86360"/>
                  </a:lnTo>
                  <a:lnTo>
                    <a:pt x="320907" y="78740"/>
                  </a:lnTo>
                  <a:close/>
                </a:path>
                <a:path extrusionOk="0" h="309879" w="376554">
                  <a:moveTo>
                    <a:pt x="230160" y="95250"/>
                  </a:moveTo>
                  <a:lnTo>
                    <a:pt x="216498" y="107950"/>
                  </a:lnTo>
                  <a:lnTo>
                    <a:pt x="224834" y="107950"/>
                  </a:lnTo>
                  <a:lnTo>
                    <a:pt x="234398" y="99060"/>
                  </a:lnTo>
                  <a:lnTo>
                    <a:pt x="230160" y="95250"/>
                  </a:lnTo>
                  <a:close/>
                </a:path>
                <a:path extrusionOk="0" h="309879" w="376554">
                  <a:moveTo>
                    <a:pt x="306647" y="64770"/>
                  </a:moveTo>
                  <a:lnTo>
                    <a:pt x="277727" y="64770"/>
                  </a:lnTo>
                  <a:lnTo>
                    <a:pt x="283162" y="67310"/>
                  </a:lnTo>
                  <a:lnTo>
                    <a:pt x="286104" y="69850"/>
                  </a:lnTo>
                  <a:lnTo>
                    <a:pt x="289844" y="73660"/>
                  </a:lnTo>
                  <a:lnTo>
                    <a:pt x="262769" y="99060"/>
                  </a:lnTo>
                  <a:lnTo>
                    <a:pt x="270298" y="99060"/>
                  </a:lnTo>
                  <a:lnTo>
                    <a:pt x="306647" y="64770"/>
                  </a:lnTo>
                  <a:close/>
                </a:path>
                <a:path extrusionOk="0" h="309879" w="376554">
                  <a:moveTo>
                    <a:pt x="328895" y="38100"/>
                  </a:moveTo>
                  <a:lnTo>
                    <a:pt x="308193" y="38100"/>
                  </a:lnTo>
                  <a:lnTo>
                    <a:pt x="311184" y="40640"/>
                  </a:lnTo>
                  <a:lnTo>
                    <a:pt x="315123" y="44450"/>
                  </a:lnTo>
                  <a:lnTo>
                    <a:pt x="321506" y="52070"/>
                  </a:lnTo>
                  <a:lnTo>
                    <a:pt x="342846" y="73660"/>
                  </a:lnTo>
                  <a:lnTo>
                    <a:pt x="346087" y="77470"/>
                  </a:lnTo>
                  <a:lnTo>
                    <a:pt x="347882" y="80010"/>
                  </a:lnTo>
                  <a:lnTo>
                    <a:pt x="348381" y="80010"/>
                  </a:lnTo>
                  <a:lnTo>
                    <a:pt x="349328" y="82550"/>
                  </a:lnTo>
                  <a:lnTo>
                    <a:pt x="343893" y="93980"/>
                  </a:lnTo>
                  <a:lnTo>
                    <a:pt x="346037" y="95250"/>
                  </a:lnTo>
                  <a:lnTo>
                    <a:pt x="371875" y="71120"/>
                  </a:lnTo>
                  <a:lnTo>
                    <a:pt x="364536" y="71120"/>
                  </a:lnTo>
                  <a:lnTo>
                    <a:pt x="362691" y="69850"/>
                  </a:lnTo>
                  <a:lnTo>
                    <a:pt x="361046" y="69850"/>
                  </a:lnTo>
                  <a:lnTo>
                    <a:pt x="358652" y="68580"/>
                  </a:lnTo>
                  <a:lnTo>
                    <a:pt x="355960" y="67310"/>
                  </a:lnTo>
                  <a:lnTo>
                    <a:pt x="328895" y="38100"/>
                  </a:lnTo>
                  <a:close/>
                </a:path>
                <a:path extrusionOk="0" h="309879" w="376554">
                  <a:moveTo>
                    <a:pt x="373810" y="64770"/>
                  </a:moveTo>
                  <a:lnTo>
                    <a:pt x="371167" y="67310"/>
                  </a:lnTo>
                  <a:lnTo>
                    <a:pt x="368774" y="69850"/>
                  </a:lnTo>
                  <a:lnTo>
                    <a:pt x="366680" y="69850"/>
                  </a:lnTo>
                  <a:lnTo>
                    <a:pt x="364536" y="71120"/>
                  </a:lnTo>
                  <a:lnTo>
                    <a:pt x="371875" y="71120"/>
                  </a:lnTo>
                  <a:lnTo>
                    <a:pt x="375954" y="67310"/>
                  </a:lnTo>
                  <a:lnTo>
                    <a:pt x="373810" y="64770"/>
                  </a:lnTo>
                  <a:close/>
                </a:path>
                <a:path extrusionOk="0" h="309879" w="376554">
                  <a:moveTo>
                    <a:pt x="309090" y="16510"/>
                  </a:moveTo>
                  <a:lnTo>
                    <a:pt x="306398" y="19050"/>
                  </a:lnTo>
                  <a:lnTo>
                    <a:pt x="295478" y="43180"/>
                  </a:lnTo>
                  <a:lnTo>
                    <a:pt x="298270" y="45720"/>
                  </a:lnTo>
                  <a:lnTo>
                    <a:pt x="299317" y="43180"/>
                  </a:lnTo>
                  <a:lnTo>
                    <a:pt x="300514" y="40640"/>
                  </a:lnTo>
                  <a:lnTo>
                    <a:pt x="302957" y="39370"/>
                  </a:lnTo>
                  <a:lnTo>
                    <a:pt x="304154" y="38100"/>
                  </a:lnTo>
                  <a:lnTo>
                    <a:pt x="328895" y="38100"/>
                  </a:lnTo>
                  <a:lnTo>
                    <a:pt x="326542" y="35560"/>
                  </a:lnTo>
                  <a:lnTo>
                    <a:pt x="325145" y="30480"/>
                  </a:lnTo>
                  <a:lnTo>
                    <a:pt x="321456" y="30480"/>
                  </a:lnTo>
                  <a:lnTo>
                    <a:pt x="309090" y="16510"/>
                  </a:lnTo>
                  <a:close/>
                </a:path>
                <a:path extrusionOk="0" h="309879" w="376554">
                  <a:moveTo>
                    <a:pt x="337162" y="0"/>
                  </a:moveTo>
                  <a:lnTo>
                    <a:pt x="329084" y="0"/>
                  </a:lnTo>
                  <a:lnTo>
                    <a:pt x="326492" y="1270"/>
                  </a:lnTo>
                  <a:lnTo>
                    <a:pt x="324148" y="2540"/>
                  </a:lnTo>
                  <a:lnTo>
                    <a:pt x="321091" y="7620"/>
                  </a:lnTo>
                  <a:lnTo>
                    <a:pt x="319623" y="13970"/>
                  </a:lnTo>
                  <a:lnTo>
                    <a:pt x="319745" y="21590"/>
                  </a:lnTo>
                  <a:lnTo>
                    <a:pt x="321456" y="30480"/>
                  </a:lnTo>
                  <a:lnTo>
                    <a:pt x="325145" y="30480"/>
                  </a:lnTo>
                  <a:lnTo>
                    <a:pt x="324796" y="29210"/>
                  </a:lnTo>
                  <a:lnTo>
                    <a:pt x="324098" y="25400"/>
                  </a:lnTo>
                  <a:lnTo>
                    <a:pt x="324360" y="21590"/>
                  </a:lnTo>
                  <a:lnTo>
                    <a:pt x="324447" y="20320"/>
                  </a:lnTo>
                  <a:lnTo>
                    <a:pt x="324846" y="19050"/>
                  </a:lnTo>
                  <a:lnTo>
                    <a:pt x="325644" y="17780"/>
                  </a:lnTo>
                  <a:lnTo>
                    <a:pt x="326542" y="16510"/>
                  </a:lnTo>
                  <a:lnTo>
                    <a:pt x="335068" y="16510"/>
                  </a:lnTo>
                  <a:lnTo>
                    <a:pt x="337411" y="15240"/>
                  </a:lnTo>
                  <a:lnTo>
                    <a:pt x="340453" y="12700"/>
                  </a:lnTo>
                  <a:lnTo>
                    <a:pt x="341201" y="10160"/>
                  </a:lnTo>
                  <a:lnTo>
                    <a:pt x="341251" y="6350"/>
                  </a:lnTo>
                  <a:lnTo>
                    <a:pt x="340503" y="3810"/>
                  </a:lnTo>
                  <a:lnTo>
                    <a:pt x="338907" y="2540"/>
                  </a:lnTo>
                  <a:lnTo>
                    <a:pt x="337162"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1"/>
            <p:cNvSpPr/>
            <p:nvPr/>
          </p:nvSpPr>
          <p:spPr>
            <a:xfrm>
              <a:off x="7464444" y="6589777"/>
              <a:ext cx="862329" cy="805179"/>
            </a:xfrm>
            <a:custGeom>
              <a:rect b="b" l="l" r="r" t="t"/>
              <a:pathLst>
                <a:path extrusionOk="0" h="805179" w="862329">
                  <a:moveTo>
                    <a:pt x="276281" y="0"/>
                  </a:moveTo>
                  <a:lnTo>
                    <a:pt x="0" y="415544"/>
                  </a:lnTo>
                  <a:lnTo>
                    <a:pt x="585920" y="805111"/>
                  </a:lnTo>
                  <a:lnTo>
                    <a:pt x="862202" y="389566"/>
                  </a:lnTo>
                  <a:lnTo>
                    <a:pt x="276281" y="0"/>
                  </a:lnTo>
                  <a:close/>
                </a:path>
              </a:pathLst>
            </a:custGeom>
            <a:solidFill>
              <a:srgbClr val="6FAC46"/>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
            <p:cNvSpPr/>
            <p:nvPr/>
          </p:nvSpPr>
          <p:spPr>
            <a:xfrm>
              <a:off x="7464444" y="6589777"/>
              <a:ext cx="862329" cy="805179"/>
            </a:xfrm>
            <a:custGeom>
              <a:rect b="b" l="l" r="r" t="t"/>
              <a:pathLst>
                <a:path extrusionOk="0" h="805179" w="862329">
                  <a:moveTo>
                    <a:pt x="276281" y="0"/>
                  </a:moveTo>
                  <a:lnTo>
                    <a:pt x="862202" y="389566"/>
                  </a:lnTo>
                  <a:lnTo>
                    <a:pt x="585920" y="805111"/>
                  </a:lnTo>
                  <a:lnTo>
                    <a:pt x="0" y="415544"/>
                  </a:lnTo>
                  <a:lnTo>
                    <a:pt x="276281" y="0"/>
                  </a:lnTo>
                  <a:close/>
                </a:path>
              </a:pathLst>
            </a:custGeom>
            <a:noFill/>
            <a:ln cap="flat" cmpd="sng" w="9525">
              <a:solidFill>
                <a:srgbClr val="172C51"/>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
            <p:cNvSpPr/>
            <p:nvPr/>
          </p:nvSpPr>
          <p:spPr>
            <a:xfrm>
              <a:off x="7707768" y="6848697"/>
              <a:ext cx="363854" cy="294640"/>
            </a:xfrm>
            <a:custGeom>
              <a:rect b="b" l="l" r="r" t="t"/>
              <a:pathLst>
                <a:path extrusionOk="0" h="294640" w="363854">
                  <a:moveTo>
                    <a:pt x="305131" y="278130"/>
                  </a:moveTo>
                  <a:lnTo>
                    <a:pt x="287151" y="278130"/>
                  </a:lnTo>
                  <a:lnTo>
                    <a:pt x="280819" y="288290"/>
                  </a:lnTo>
                  <a:lnTo>
                    <a:pt x="284159" y="290830"/>
                  </a:lnTo>
                  <a:lnTo>
                    <a:pt x="309489" y="294640"/>
                  </a:lnTo>
                  <a:lnTo>
                    <a:pt x="310386" y="292100"/>
                  </a:lnTo>
                  <a:lnTo>
                    <a:pt x="307644" y="292100"/>
                  </a:lnTo>
                  <a:lnTo>
                    <a:pt x="305650" y="290830"/>
                  </a:lnTo>
                  <a:lnTo>
                    <a:pt x="304303" y="289560"/>
                  </a:lnTo>
                  <a:lnTo>
                    <a:pt x="303256" y="289560"/>
                  </a:lnTo>
                  <a:lnTo>
                    <a:pt x="302558" y="288290"/>
                  </a:lnTo>
                  <a:lnTo>
                    <a:pt x="301860" y="285750"/>
                  </a:lnTo>
                  <a:lnTo>
                    <a:pt x="302060" y="284480"/>
                  </a:lnTo>
                  <a:lnTo>
                    <a:pt x="302857" y="281940"/>
                  </a:lnTo>
                  <a:lnTo>
                    <a:pt x="305131" y="278130"/>
                  </a:lnTo>
                  <a:close/>
                </a:path>
                <a:path extrusionOk="0" h="294640" w="363854">
                  <a:moveTo>
                    <a:pt x="298463" y="201930"/>
                  </a:moveTo>
                  <a:lnTo>
                    <a:pt x="290485" y="201930"/>
                  </a:lnTo>
                  <a:lnTo>
                    <a:pt x="282165" y="204470"/>
                  </a:lnTo>
                  <a:lnTo>
                    <a:pt x="251581" y="231140"/>
                  </a:lnTo>
                  <a:lnTo>
                    <a:pt x="247842" y="246380"/>
                  </a:lnTo>
                  <a:lnTo>
                    <a:pt x="248159" y="252730"/>
                  </a:lnTo>
                  <a:lnTo>
                    <a:pt x="264763" y="276860"/>
                  </a:lnTo>
                  <a:lnTo>
                    <a:pt x="268653" y="279400"/>
                  </a:lnTo>
                  <a:lnTo>
                    <a:pt x="272741" y="279400"/>
                  </a:lnTo>
                  <a:lnTo>
                    <a:pt x="276830" y="280670"/>
                  </a:lnTo>
                  <a:lnTo>
                    <a:pt x="281666" y="279400"/>
                  </a:lnTo>
                  <a:lnTo>
                    <a:pt x="287151" y="278130"/>
                  </a:lnTo>
                  <a:lnTo>
                    <a:pt x="305131" y="278130"/>
                  </a:lnTo>
                  <a:lnTo>
                    <a:pt x="306647" y="275590"/>
                  </a:lnTo>
                  <a:lnTo>
                    <a:pt x="283511" y="275590"/>
                  </a:lnTo>
                  <a:lnTo>
                    <a:pt x="277727" y="274320"/>
                  </a:lnTo>
                  <a:lnTo>
                    <a:pt x="268054" y="267970"/>
                  </a:lnTo>
                  <a:lnTo>
                    <a:pt x="265013" y="261620"/>
                  </a:lnTo>
                  <a:lnTo>
                    <a:pt x="264215" y="254000"/>
                  </a:lnTo>
                  <a:lnTo>
                    <a:pt x="264301" y="247650"/>
                  </a:lnTo>
                  <a:lnTo>
                    <a:pt x="288491" y="212090"/>
                  </a:lnTo>
                  <a:lnTo>
                    <a:pt x="300115" y="208280"/>
                  </a:lnTo>
                  <a:lnTo>
                    <a:pt x="315339" y="208280"/>
                  </a:lnTo>
                  <a:lnTo>
                    <a:pt x="313378" y="207010"/>
                  </a:lnTo>
                  <a:lnTo>
                    <a:pt x="306096" y="203200"/>
                  </a:lnTo>
                  <a:lnTo>
                    <a:pt x="298463" y="201930"/>
                  </a:lnTo>
                  <a:close/>
                </a:path>
                <a:path extrusionOk="0" h="294640" w="363854">
                  <a:moveTo>
                    <a:pt x="315339" y="208280"/>
                  </a:moveTo>
                  <a:lnTo>
                    <a:pt x="305201" y="208280"/>
                  </a:lnTo>
                  <a:lnTo>
                    <a:pt x="309489" y="210820"/>
                  </a:lnTo>
                  <a:lnTo>
                    <a:pt x="311783" y="213360"/>
                  </a:lnTo>
                  <a:lnTo>
                    <a:pt x="313677" y="214630"/>
                  </a:lnTo>
                  <a:lnTo>
                    <a:pt x="316669" y="220980"/>
                  </a:lnTo>
                  <a:lnTo>
                    <a:pt x="317217" y="224790"/>
                  </a:lnTo>
                  <a:lnTo>
                    <a:pt x="316636" y="231140"/>
                  </a:lnTo>
                  <a:lnTo>
                    <a:pt x="316519" y="232410"/>
                  </a:lnTo>
                  <a:lnTo>
                    <a:pt x="315373" y="234950"/>
                  </a:lnTo>
                  <a:lnTo>
                    <a:pt x="313478" y="238760"/>
                  </a:lnTo>
                  <a:lnTo>
                    <a:pt x="290592" y="273050"/>
                  </a:lnTo>
                  <a:lnTo>
                    <a:pt x="283511" y="275590"/>
                  </a:lnTo>
                  <a:lnTo>
                    <a:pt x="306647" y="275590"/>
                  </a:lnTo>
                  <a:lnTo>
                    <a:pt x="311832" y="267970"/>
                  </a:lnTo>
                  <a:lnTo>
                    <a:pt x="342171" y="222250"/>
                  </a:lnTo>
                  <a:lnTo>
                    <a:pt x="324248" y="222250"/>
                  </a:lnTo>
                  <a:lnTo>
                    <a:pt x="322902" y="215900"/>
                  </a:lnTo>
                  <a:lnTo>
                    <a:pt x="319262" y="210820"/>
                  </a:lnTo>
                  <a:lnTo>
                    <a:pt x="315339" y="208280"/>
                  </a:lnTo>
                  <a:close/>
                </a:path>
                <a:path extrusionOk="0" h="294640" w="363854">
                  <a:moveTo>
                    <a:pt x="213157" y="151130"/>
                  </a:moveTo>
                  <a:lnTo>
                    <a:pt x="178746" y="179070"/>
                  </a:lnTo>
                  <a:lnTo>
                    <a:pt x="174764" y="200660"/>
                  </a:lnTo>
                  <a:lnTo>
                    <a:pt x="176100" y="208280"/>
                  </a:lnTo>
                  <a:lnTo>
                    <a:pt x="203583" y="234950"/>
                  </a:lnTo>
                  <a:lnTo>
                    <a:pt x="217794" y="234950"/>
                  </a:lnTo>
                  <a:lnTo>
                    <a:pt x="224824" y="232410"/>
                  </a:lnTo>
                  <a:lnTo>
                    <a:pt x="231755" y="228600"/>
                  </a:lnTo>
                  <a:lnTo>
                    <a:pt x="202038" y="228600"/>
                  </a:lnTo>
                  <a:lnTo>
                    <a:pt x="191018" y="220980"/>
                  </a:lnTo>
                  <a:lnTo>
                    <a:pt x="188276" y="214630"/>
                  </a:lnTo>
                  <a:lnTo>
                    <a:pt x="189074" y="204470"/>
                  </a:lnTo>
                  <a:lnTo>
                    <a:pt x="190234" y="196850"/>
                  </a:lnTo>
                  <a:lnTo>
                    <a:pt x="212259" y="162560"/>
                  </a:lnTo>
                  <a:lnTo>
                    <a:pt x="216448" y="158750"/>
                  </a:lnTo>
                  <a:lnTo>
                    <a:pt x="220337" y="157480"/>
                  </a:lnTo>
                  <a:lnTo>
                    <a:pt x="238686" y="157480"/>
                  </a:lnTo>
                  <a:lnTo>
                    <a:pt x="233151" y="153670"/>
                  </a:lnTo>
                  <a:lnTo>
                    <a:pt x="226919" y="152400"/>
                  </a:lnTo>
                  <a:lnTo>
                    <a:pt x="213157" y="151130"/>
                  </a:lnTo>
                  <a:close/>
                </a:path>
                <a:path extrusionOk="0" h="294640" w="363854">
                  <a:moveTo>
                    <a:pt x="238686" y="157480"/>
                  </a:moveTo>
                  <a:lnTo>
                    <a:pt x="220337" y="157480"/>
                  </a:lnTo>
                  <a:lnTo>
                    <a:pt x="227567" y="158750"/>
                  </a:lnTo>
                  <a:lnTo>
                    <a:pt x="230658" y="160020"/>
                  </a:lnTo>
                  <a:lnTo>
                    <a:pt x="233251" y="161290"/>
                  </a:lnTo>
                  <a:lnTo>
                    <a:pt x="238586" y="165100"/>
                  </a:lnTo>
                  <a:lnTo>
                    <a:pt x="241478" y="170180"/>
                  </a:lnTo>
                  <a:lnTo>
                    <a:pt x="241548" y="171450"/>
                  </a:lnTo>
                  <a:lnTo>
                    <a:pt x="241618" y="172720"/>
                  </a:lnTo>
                  <a:lnTo>
                    <a:pt x="230858" y="209550"/>
                  </a:lnTo>
                  <a:lnTo>
                    <a:pt x="207223" y="228600"/>
                  </a:lnTo>
                  <a:lnTo>
                    <a:pt x="231755" y="228600"/>
                  </a:lnTo>
                  <a:lnTo>
                    <a:pt x="255410" y="193040"/>
                  </a:lnTo>
                  <a:lnTo>
                    <a:pt x="255389" y="185420"/>
                  </a:lnTo>
                  <a:lnTo>
                    <a:pt x="253761" y="177800"/>
                  </a:lnTo>
                  <a:lnTo>
                    <a:pt x="250441" y="170180"/>
                  </a:lnTo>
                  <a:lnTo>
                    <a:pt x="245419" y="163830"/>
                  </a:lnTo>
                  <a:lnTo>
                    <a:pt x="238686" y="157480"/>
                  </a:lnTo>
                  <a:close/>
                </a:path>
                <a:path extrusionOk="0" h="294640" w="363854">
                  <a:moveTo>
                    <a:pt x="334569" y="182880"/>
                  </a:moveTo>
                  <a:lnTo>
                    <a:pt x="333821" y="186690"/>
                  </a:lnTo>
                  <a:lnTo>
                    <a:pt x="336464" y="186690"/>
                  </a:lnTo>
                  <a:lnTo>
                    <a:pt x="338359" y="187960"/>
                  </a:lnTo>
                  <a:lnTo>
                    <a:pt x="339655" y="187960"/>
                  </a:lnTo>
                  <a:lnTo>
                    <a:pt x="340802" y="189230"/>
                  </a:lnTo>
                  <a:lnTo>
                    <a:pt x="341550" y="190500"/>
                  </a:lnTo>
                  <a:lnTo>
                    <a:pt x="341949" y="191770"/>
                  </a:lnTo>
                  <a:lnTo>
                    <a:pt x="342298" y="193040"/>
                  </a:lnTo>
                  <a:lnTo>
                    <a:pt x="342048" y="194310"/>
                  </a:lnTo>
                  <a:lnTo>
                    <a:pt x="340453" y="198120"/>
                  </a:lnTo>
                  <a:lnTo>
                    <a:pt x="337511" y="203200"/>
                  </a:lnTo>
                  <a:lnTo>
                    <a:pt x="332425" y="210820"/>
                  </a:lnTo>
                  <a:lnTo>
                    <a:pt x="324248" y="222250"/>
                  </a:lnTo>
                  <a:lnTo>
                    <a:pt x="342171" y="222250"/>
                  </a:lnTo>
                  <a:lnTo>
                    <a:pt x="363240" y="190500"/>
                  </a:lnTo>
                  <a:lnTo>
                    <a:pt x="359949" y="187960"/>
                  </a:lnTo>
                  <a:lnTo>
                    <a:pt x="334569" y="182880"/>
                  </a:lnTo>
                  <a:close/>
                </a:path>
                <a:path extrusionOk="0" h="294640" w="363854">
                  <a:moveTo>
                    <a:pt x="138415" y="101600"/>
                  </a:moveTo>
                  <a:lnTo>
                    <a:pt x="104004" y="129540"/>
                  </a:lnTo>
                  <a:lnTo>
                    <a:pt x="100021" y="149860"/>
                  </a:lnTo>
                  <a:lnTo>
                    <a:pt x="101358" y="158750"/>
                  </a:lnTo>
                  <a:lnTo>
                    <a:pt x="135922" y="185420"/>
                  </a:lnTo>
                  <a:lnTo>
                    <a:pt x="143052" y="185420"/>
                  </a:lnTo>
                  <a:lnTo>
                    <a:pt x="150082" y="182880"/>
                  </a:lnTo>
                  <a:lnTo>
                    <a:pt x="157038" y="179070"/>
                  </a:lnTo>
                  <a:lnTo>
                    <a:pt x="127296" y="179070"/>
                  </a:lnTo>
                  <a:lnTo>
                    <a:pt x="122609" y="175260"/>
                  </a:lnTo>
                  <a:lnTo>
                    <a:pt x="116276" y="171450"/>
                  </a:lnTo>
                  <a:lnTo>
                    <a:pt x="113534" y="163830"/>
                  </a:lnTo>
                  <a:lnTo>
                    <a:pt x="114332" y="154940"/>
                  </a:lnTo>
                  <a:lnTo>
                    <a:pt x="129290" y="119380"/>
                  </a:lnTo>
                  <a:lnTo>
                    <a:pt x="145595" y="107950"/>
                  </a:lnTo>
                  <a:lnTo>
                    <a:pt x="163944" y="107950"/>
                  </a:lnTo>
                  <a:lnTo>
                    <a:pt x="158409" y="104140"/>
                  </a:lnTo>
                  <a:lnTo>
                    <a:pt x="152176" y="102870"/>
                  </a:lnTo>
                  <a:lnTo>
                    <a:pt x="138415" y="101600"/>
                  </a:lnTo>
                  <a:close/>
                </a:path>
                <a:path extrusionOk="0" h="294640" w="363854">
                  <a:moveTo>
                    <a:pt x="163944" y="107950"/>
                  </a:moveTo>
                  <a:lnTo>
                    <a:pt x="145595" y="107950"/>
                  </a:lnTo>
                  <a:lnTo>
                    <a:pt x="152825" y="109220"/>
                  </a:lnTo>
                  <a:lnTo>
                    <a:pt x="155966" y="109220"/>
                  </a:lnTo>
                  <a:lnTo>
                    <a:pt x="158509" y="111760"/>
                  </a:lnTo>
                  <a:lnTo>
                    <a:pt x="163894" y="115570"/>
                  </a:lnTo>
                  <a:lnTo>
                    <a:pt x="166736" y="120650"/>
                  </a:lnTo>
                  <a:lnTo>
                    <a:pt x="166806" y="121920"/>
                  </a:lnTo>
                  <a:lnTo>
                    <a:pt x="166875" y="123190"/>
                  </a:lnTo>
                  <a:lnTo>
                    <a:pt x="166960" y="129540"/>
                  </a:lnTo>
                  <a:lnTo>
                    <a:pt x="166773" y="133350"/>
                  </a:lnTo>
                  <a:lnTo>
                    <a:pt x="166710" y="134620"/>
                  </a:lnTo>
                  <a:lnTo>
                    <a:pt x="149783" y="170180"/>
                  </a:lnTo>
                  <a:lnTo>
                    <a:pt x="132481" y="179070"/>
                  </a:lnTo>
                  <a:lnTo>
                    <a:pt x="157038" y="179070"/>
                  </a:lnTo>
                  <a:lnTo>
                    <a:pt x="180667" y="143510"/>
                  </a:lnTo>
                  <a:lnTo>
                    <a:pt x="180647" y="135890"/>
                  </a:lnTo>
                  <a:lnTo>
                    <a:pt x="179040" y="127000"/>
                  </a:lnTo>
                  <a:lnTo>
                    <a:pt x="175717" y="120650"/>
                  </a:lnTo>
                  <a:lnTo>
                    <a:pt x="170684" y="114300"/>
                  </a:lnTo>
                  <a:lnTo>
                    <a:pt x="163944" y="107950"/>
                  </a:lnTo>
                  <a:close/>
                </a:path>
                <a:path extrusionOk="0" h="294640" w="363854">
                  <a:moveTo>
                    <a:pt x="1795" y="95250"/>
                  </a:moveTo>
                  <a:lnTo>
                    <a:pt x="0" y="97790"/>
                  </a:lnTo>
                  <a:lnTo>
                    <a:pt x="42481" y="127000"/>
                  </a:lnTo>
                  <a:lnTo>
                    <a:pt x="44276" y="124460"/>
                  </a:lnTo>
                  <a:lnTo>
                    <a:pt x="40686" y="121920"/>
                  </a:lnTo>
                  <a:lnTo>
                    <a:pt x="38393" y="119380"/>
                  </a:lnTo>
                  <a:lnTo>
                    <a:pt x="36498" y="118110"/>
                  </a:lnTo>
                  <a:lnTo>
                    <a:pt x="34155" y="113030"/>
                  </a:lnTo>
                  <a:lnTo>
                    <a:pt x="33855" y="111760"/>
                  </a:lnTo>
                  <a:lnTo>
                    <a:pt x="34155" y="110490"/>
                  </a:lnTo>
                  <a:lnTo>
                    <a:pt x="34603" y="107950"/>
                  </a:lnTo>
                  <a:lnTo>
                    <a:pt x="36498" y="104140"/>
                  </a:lnTo>
                  <a:lnTo>
                    <a:pt x="38211" y="101600"/>
                  </a:lnTo>
                  <a:lnTo>
                    <a:pt x="13163" y="101600"/>
                  </a:lnTo>
                  <a:lnTo>
                    <a:pt x="9373" y="100330"/>
                  </a:lnTo>
                  <a:lnTo>
                    <a:pt x="5285" y="97790"/>
                  </a:lnTo>
                  <a:lnTo>
                    <a:pt x="1795" y="95250"/>
                  </a:lnTo>
                  <a:close/>
                </a:path>
                <a:path extrusionOk="0" h="294640" w="363854">
                  <a:moveTo>
                    <a:pt x="73765" y="68580"/>
                  </a:moveTo>
                  <a:lnTo>
                    <a:pt x="60481" y="68580"/>
                  </a:lnTo>
                  <a:lnTo>
                    <a:pt x="81822" y="82550"/>
                  </a:lnTo>
                  <a:lnTo>
                    <a:pt x="84016" y="85090"/>
                  </a:lnTo>
                  <a:lnTo>
                    <a:pt x="86210" y="88900"/>
                  </a:lnTo>
                  <a:lnTo>
                    <a:pt x="86609" y="91440"/>
                  </a:lnTo>
                  <a:lnTo>
                    <a:pt x="86235" y="95250"/>
                  </a:lnTo>
                  <a:lnTo>
                    <a:pt x="86110" y="96520"/>
                  </a:lnTo>
                  <a:lnTo>
                    <a:pt x="84714" y="99060"/>
                  </a:lnTo>
                  <a:lnTo>
                    <a:pt x="82221" y="102870"/>
                  </a:lnTo>
                  <a:lnTo>
                    <a:pt x="84913" y="105410"/>
                  </a:lnTo>
                  <a:lnTo>
                    <a:pt x="102249" y="78740"/>
                  </a:lnTo>
                  <a:lnTo>
                    <a:pt x="90348" y="78740"/>
                  </a:lnTo>
                  <a:lnTo>
                    <a:pt x="86708" y="77470"/>
                  </a:lnTo>
                  <a:lnTo>
                    <a:pt x="73765" y="68580"/>
                  </a:lnTo>
                  <a:close/>
                </a:path>
                <a:path extrusionOk="0" h="294640" w="363854">
                  <a:moveTo>
                    <a:pt x="65816" y="0"/>
                  </a:moveTo>
                  <a:lnTo>
                    <a:pt x="64021" y="2540"/>
                  </a:lnTo>
                  <a:lnTo>
                    <a:pt x="69905" y="6350"/>
                  </a:lnTo>
                  <a:lnTo>
                    <a:pt x="71750" y="7620"/>
                  </a:lnTo>
                  <a:lnTo>
                    <a:pt x="73046" y="10160"/>
                  </a:lnTo>
                  <a:lnTo>
                    <a:pt x="73994" y="12700"/>
                  </a:lnTo>
                  <a:lnTo>
                    <a:pt x="74293" y="13970"/>
                  </a:lnTo>
                  <a:lnTo>
                    <a:pt x="73994" y="15240"/>
                  </a:lnTo>
                  <a:lnTo>
                    <a:pt x="73545" y="17780"/>
                  </a:lnTo>
                  <a:lnTo>
                    <a:pt x="21889" y="96520"/>
                  </a:lnTo>
                  <a:lnTo>
                    <a:pt x="13163" y="101600"/>
                  </a:lnTo>
                  <a:lnTo>
                    <a:pt x="38211" y="101600"/>
                  </a:lnTo>
                  <a:lnTo>
                    <a:pt x="60481" y="68580"/>
                  </a:lnTo>
                  <a:lnTo>
                    <a:pt x="73765" y="68580"/>
                  </a:lnTo>
                  <a:lnTo>
                    <a:pt x="64520" y="62230"/>
                  </a:lnTo>
                  <a:lnTo>
                    <a:pt x="90398" y="24130"/>
                  </a:lnTo>
                  <a:lnTo>
                    <a:pt x="102639" y="24130"/>
                  </a:lnTo>
                  <a:lnTo>
                    <a:pt x="65816" y="0"/>
                  </a:lnTo>
                  <a:close/>
                </a:path>
                <a:path extrusionOk="0" h="294640" w="363854">
                  <a:moveTo>
                    <a:pt x="104509" y="69850"/>
                  </a:moveTo>
                  <a:lnTo>
                    <a:pt x="100271" y="74930"/>
                  </a:lnTo>
                  <a:lnTo>
                    <a:pt x="96581" y="77470"/>
                  </a:lnTo>
                  <a:lnTo>
                    <a:pt x="90348" y="78740"/>
                  </a:lnTo>
                  <a:lnTo>
                    <a:pt x="102249" y="78740"/>
                  </a:lnTo>
                  <a:lnTo>
                    <a:pt x="107201" y="71120"/>
                  </a:lnTo>
                  <a:lnTo>
                    <a:pt x="104509" y="69850"/>
                  </a:lnTo>
                  <a:close/>
                </a:path>
                <a:path extrusionOk="0" h="294640" w="363854">
                  <a:moveTo>
                    <a:pt x="102639" y="24130"/>
                  </a:moveTo>
                  <a:lnTo>
                    <a:pt x="90398" y="24130"/>
                  </a:lnTo>
                  <a:lnTo>
                    <a:pt x="112237" y="38100"/>
                  </a:lnTo>
                  <a:lnTo>
                    <a:pt x="117373" y="41910"/>
                  </a:lnTo>
                  <a:lnTo>
                    <a:pt x="120863" y="44450"/>
                  </a:lnTo>
                  <a:lnTo>
                    <a:pt x="124453" y="49530"/>
                  </a:lnTo>
                  <a:lnTo>
                    <a:pt x="125501" y="52070"/>
                  </a:lnTo>
                  <a:lnTo>
                    <a:pt x="125999" y="59690"/>
                  </a:lnTo>
                  <a:lnTo>
                    <a:pt x="125201" y="63500"/>
                  </a:lnTo>
                  <a:lnTo>
                    <a:pt x="123406" y="68580"/>
                  </a:lnTo>
                  <a:lnTo>
                    <a:pt x="125949" y="71120"/>
                  </a:lnTo>
                  <a:lnTo>
                    <a:pt x="139462" y="48260"/>
                  </a:lnTo>
                  <a:lnTo>
                    <a:pt x="102639" y="2413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1" name="Google Shape;71;p1"/>
          <p:cNvSpPr txBox="1"/>
          <p:nvPr/>
        </p:nvSpPr>
        <p:spPr>
          <a:xfrm>
            <a:off x="6079096" y="3684904"/>
            <a:ext cx="704100" cy="354600"/>
          </a:xfrm>
          <a:prstGeom prst="rect">
            <a:avLst/>
          </a:prstGeom>
          <a:solidFill>
            <a:srgbClr val="FFC000"/>
          </a:solidFill>
          <a:ln cap="flat" cmpd="sng" w="9525">
            <a:solidFill>
              <a:srgbClr val="172C51"/>
            </a:solidFill>
            <a:prstDash val="solid"/>
            <a:round/>
            <a:headEnd len="sm" w="sm" type="none"/>
            <a:tailEnd len="sm" w="sm" type="none"/>
          </a:ln>
        </p:spPr>
        <p:txBody>
          <a:bodyPr anchorCtr="0" anchor="t" bIns="0" lIns="0" spcFirstLastPara="1" rIns="0" wrap="square" tIns="137775">
            <a:spAutoFit/>
          </a:bodyPr>
          <a:lstStyle/>
          <a:p>
            <a:pPr indent="0" lvl="0" marL="93980" marR="0" rtl="0" algn="l">
              <a:lnSpc>
                <a:spcPct val="100000"/>
              </a:lnSpc>
              <a:spcBef>
                <a:spcPts val="0"/>
              </a:spcBef>
              <a:spcAft>
                <a:spcPts val="0"/>
              </a:spcAft>
              <a:buClr>
                <a:srgbClr val="000000"/>
              </a:buClr>
              <a:buSzPts val="1400"/>
              <a:buFont typeface="Arial"/>
              <a:buNone/>
            </a:pPr>
            <a:r>
              <a:rPr b="0" i="0" lang="en-US" sz="1400" u="none" cap="none" strike="noStrike">
                <a:solidFill>
                  <a:srgbClr val="FFFFFF"/>
                </a:solidFill>
                <a:latin typeface="Times New Roman"/>
                <a:ea typeface="Times New Roman"/>
                <a:cs typeface="Times New Roman"/>
                <a:sym typeface="Times New Roman"/>
              </a:rPr>
              <a:t>Energy</a:t>
            </a:r>
            <a:endParaRPr b="0" i="0" sz="1400" u="none" cap="none" strike="noStrike">
              <a:solidFill>
                <a:srgbClr val="000000"/>
              </a:solidFill>
              <a:latin typeface="Times New Roman"/>
              <a:ea typeface="Times New Roman"/>
              <a:cs typeface="Times New Roman"/>
              <a:sym typeface="Times New Roman"/>
            </a:endParaRPr>
          </a:p>
        </p:txBody>
      </p:sp>
      <p:sp>
        <p:nvSpPr>
          <p:cNvPr id="72" name="Google Shape;72;p1"/>
          <p:cNvSpPr txBox="1"/>
          <p:nvPr/>
        </p:nvSpPr>
        <p:spPr>
          <a:xfrm>
            <a:off x="8408647" y="8533878"/>
            <a:ext cx="5866680" cy="4185731"/>
          </a:xfrm>
          <a:prstGeom prst="rect">
            <a:avLst/>
          </a:prstGeom>
          <a:noFill/>
          <a:ln>
            <a:noFill/>
          </a:ln>
        </p:spPr>
        <p:txBody>
          <a:bodyPr anchorCtr="0" anchor="t" bIns="91425" lIns="91425" spcFirstLastPara="1" rIns="91425" wrap="square" tIns="91425">
            <a:spAutoFit/>
          </a:bodyPr>
          <a:lstStyle/>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6 stocks, all interconnected ultimately to herd size, showing it as the central driver of all three WEF subsystems.</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Arial"/>
              <a:buChar char="●"/>
            </a:pPr>
            <a:r>
              <a:rPr b="0" i="0" lang="en-US" sz="2000" u="none" cap="none" strike="noStrike">
                <a:solidFill>
                  <a:schemeClr val="dk1"/>
                </a:solidFill>
                <a:latin typeface="Times New Roman"/>
                <a:ea typeface="Times New Roman"/>
                <a:cs typeface="Times New Roman"/>
                <a:sym typeface="Times New Roman"/>
              </a:rPr>
              <a:t>The </a:t>
            </a:r>
            <a:r>
              <a:rPr b="1" i="0" lang="en-US" sz="2000" u="none" cap="none" strike="noStrike">
                <a:solidFill>
                  <a:schemeClr val="dk1"/>
                </a:solidFill>
                <a:latin typeface="Times New Roman"/>
                <a:ea typeface="Times New Roman"/>
                <a:cs typeface="Times New Roman"/>
                <a:sym typeface="Times New Roman"/>
              </a:rPr>
              <a:t>Feed → Energy → Milk production </a:t>
            </a:r>
            <a:r>
              <a:rPr b="0" i="0" lang="en-US" sz="2000" u="none" cap="none" strike="noStrike">
                <a:solidFill>
                  <a:schemeClr val="dk1"/>
                </a:solidFill>
                <a:latin typeface="Times New Roman"/>
                <a:ea typeface="Times New Roman"/>
                <a:cs typeface="Times New Roman"/>
                <a:sym typeface="Times New Roman"/>
              </a:rPr>
              <a:t>chain captures the core biological pathway of organic dairy systems, where DMI is converted into net energy for lactation (NEL), determining milk output.</a:t>
            </a:r>
            <a:endParaRPr b="0" i="0" sz="2000" u="none" cap="none" strike="noStrike">
              <a:solidFill>
                <a:schemeClr val="dk1"/>
              </a:solidFill>
              <a:latin typeface="Times New Roman"/>
              <a:ea typeface="Times New Roman"/>
              <a:cs typeface="Times New Roman"/>
              <a:sym typeface="Times New Roman"/>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Times New Roman"/>
              <a:ea typeface="Times New Roman"/>
              <a:cs typeface="Times New Roman"/>
              <a:sym typeface="Times New Roman"/>
            </a:endParaRPr>
          </a:p>
          <a:p>
            <a:pPr indent="-355600" lvl="0" marL="457200" marR="0" rtl="0" algn="l">
              <a:lnSpc>
                <a:spcPct val="100000"/>
              </a:lnSpc>
              <a:spcBef>
                <a:spcPts val="0"/>
              </a:spcBef>
              <a:spcAft>
                <a:spcPts val="0"/>
              </a:spcAft>
              <a:buClr>
                <a:schemeClr val="dk1"/>
              </a:buClr>
              <a:buSzPts val="2000"/>
              <a:buFont typeface="Times New Roman"/>
              <a:buChar char="●"/>
            </a:pPr>
            <a:r>
              <a:rPr b="0" i="0" lang="en-US" sz="2000" u="none" cap="none" strike="noStrike">
                <a:solidFill>
                  <a:schemeClr val="dk1"/>
                </a:solidFill>
                <a:latin typeface="Times New Roman"/>
                <a:ea typeface="Times New Roman"/>
                <a:cs typeface="Times New Roman"/>
                <a:sym typeface="Times New Roman"/>
              </a:rPr>
              <a:t>Water is the most independent, and therefore vulnerable stock in the diagram, making it a primary test case for stress-scenario testing.</a:t>
            </a:r>
            <a:endParaRPr b="0" i="0" sz="2000" u="none" cap="none" strike="noStrike">
              <a:solidFill>
                <a:schemeClr val="dk1"/>
              </a:solidFill>
              <a:latin typeface="Times New Roman"/>
              <a:ea typeface="Times New Roman"/>
              <a:cs typeface="Times New Roman"/>
              <a:sym typeface="Times New Roman"/>
            </a:endParaRPr>
          </a:p>
        </p:txBody>
      </p:sp>
      <p:cxnSp>
        <p:nvCxnSpPr>
          <p:cNvPr id="73" name="Google Shape;73;p1"/>
          <p:cNvCxnSpPr/>
          <p:nvPr/>
        </p:nvCxnSpPr>
        <p:spPr>
          <a:xfrm>
            <a:off x="8429336" y="8008013"/>
            <a:ext cx="41564" cy="4916210"/>
          </a:xfrm>
          <a:prstGeom prst="straightConnector1">
            <a:avLst/>
          </a:prstGeom>
          <a:noFill/>
          <a:ln cap="flat" cmpd="sng" w="9525">
            <a:solidFill>
              <a:schemeClr val="dk1"/>
            </a:solidFill>
            <a:prstDash val="solid"/>
            <a:round/>
            <a:headEnd len="sm" w="sm" type="none"/>
            <a:tailEnd len="sm" w="sm" type="none"/>
          </a:ln>
        </p:spPr>
      </p:cxnSp>
      <p:pic>
        <p:nvPicPr>
          <p:cNvPr descr="Logo Downloads – Marketing &amp; Communications | Texas A&amp;M ..." id="74" name="Google Shape;74;p1"/>
          <p:cNvPicPr preferRelativeResize="0"/>
          <p:nvPr/>
        </p:nvPicPr>
        <p:blipFill rotWithShape="1">
          <a:blip r:embed="rId5">
            <a:alphaModFix/>
          </a:blip>
          <a:srcRect b="0" l="0" r="0" t="0"/>
          <a:stretch/>
        </p:blipFill>
        <p:spPr>
          <a:xfrm>
            <a:off x="0" y="-3737"/>
            <a:ext cx="1504117" cy="1463066"/>
          </a:xfrm>
          <a:prstGeom prst="rect">
            <a:avLst/>
          </a:prstGeom>
          <a:noFill/>
          <a:ln>
            <a:noFill/>
          </a:ln>
        </p:spPr>
      </p:pic>
      <p:pic>
        <p:nvPicPr>
          <p:cNvPr id="75" name="Google Shape;75;p1"/>
          <p:cNvPicPr preferRelativeResize="0"/>
          <p:nvPr/>
        </p:nvPicPr>
        <p:blipFill rotWithShape="1">
          <a:blip r:embed="rId6">
            <a:alphaModFix/>
          </a:blip>
          <a:srcRect b="0" l="0" r="0" t="0"/>
          <a:stretch/>
        </p:blipFill>
        <p:spPr>
          <a:xfrm>
            <a:off x="3420322" y="12065465"/>
            <a:ext cx="829356" cy="808332"/>
          </a:xfrm>
          <a:prstGeom prst="rect">
            <a:avLst/>
          </a:prstGeom>
          <a:noFill/>
          <a:ln>
            <a:noFill/>
          </a:ln>
        </p:spPr>
      </p:pic>
      <p:sp>
        <p:nvSpPr>
          <p:cNvPr id="76" name="Google Shape;76;p1"/>
          <p:cNvSpPr txBox="1"/>
          <p:nvPr/>
        </p:nvSpPr>
        <p:spPr>
          <a:xfrm>
            <a:off x="111737" y="2380255"/>
            <a:ext cx="19950799" cy="560538"/>
          </a:xfrm>
          <a:prstGeom prst="rect">
            <a:avLst/>
          </a:prstGeom>
          <a:noFill/>
          <a:ln>
            <a:noFill/>
          </a:ln>
        </p:spPr>
        <p:txBody>
          <a:bodyPr anchorCtr="0" anchor="t" bIns="45700" lIns="91425" spcFirstLastPara="1" rIns="91425" wrap="square" tIns="45700">
            <a:spAutoFit/>
          </a:bodyPr>
          <a:lstStyle/>
          <a:p>
            <a:pPr indent="0" lvl="0" marL="12700" marR="5080" rtl="0" algn="l">
              <a:lnSpc>
                <a:spcPct val="101299"/>
              </a:lnSpc>
              <a:spcBef>
                <a:spcPts val="0"/>
              </a:spcBef>
              <a:spcAft>
                <a:spcPts val="0"/>
              </a:spcAft>
              <a:buClr>
                <a:srgbClr val="000000"/>
              </a:buClr>
              <a:buSzPts val="1550"/>
              <a:buFont typeface="Arial"/>
              <a:buNone/>
            </a:pPr>
            <a:r>
              <a:rPr b="1" i="0" lang="en-US" sz="1550" u="none" cap="none" strike="noStrike">
                <a:solidFill>
                  <a:srgbClr val="C00000"/>
                </a:solidFill>
                <a:latin typeface="Times New Roman"/>
                <a:ea typeface="Times New Roman"/>
                <a:cs typeface="Times New Roman"/>
                <a:sym typeface="Times New Roman"/>
              </a:rPr>
              <a:t>Dynamic hypothesis: </a:t>
            </a:r>
            <a:r>
              <a:rPr b="1" i="0" lang="en-US" sz="1550" u="none" cap="none" strike="noStrike">
                <a:solidFill>
                  <a:srgbClr val="001F5F"/>
                </a:solidFill>
                <a:latin typeface="Times New Roman"/>
                <a:ea typeface="Times New Roman"/>
                <a:cs typeface="Times New Roman"/>
                <a:sym typeface="Times New Roman"/>
              </a:rPr>
              <a:t>Resource stress in any one WEF subsystem (water, feed, or energy) propagates through herd-driven feedback loops to suppress milk output, while coordinated replenishment across all three stocks stabilizes long-run farm productivity.</a:t>
            </a:r>
            <a:endParaRPr/>
          </a:p>
        </p:txBody>
      </p:sp>
      <p:sp>
        <p:nvSpPr>
          <p:cNvPr id="77" name="Google Shape;77;p1"/>
          <p:cNvSpPr txBox="1"/>
          <p:nvPr/>
        </p:nvSpPr>
        <p:spPr>
          <a:xfrm>
            <a:off x="94976" y="12170577"/>
            <a:ext cx="3325346"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3600" u="none" cap="none" strike="noStrike">
                <a:solidFill>
                  <a:srgbClr val="500000"/>
                </a:solidFill>
                <a:latin typeface="Times New Roman"/>
                <a:ea typeface="Times New Roman"/>
                <a:cs typeface="Times New Roman"/>
                <a:sym typeface="Times New Roman"/>
              </a:rPr>
              <a:t>REFERENCES</a:t>
            </a:r>
            <a:endParaRPr b="0" i="0" sz="3600" u="none" cap="none" strike="noStrike">
              <a:solidFill>
                <a:srgbClr val="000000"/>
              </a:solidFill>
              <a:latin typeface="Arial"/>
              <a:ea typeface="Arial"/>
              <a:cs typeface="Arial"/>
              <a:sym typeface="Arial"/>
            </a:endParaRPr>
          </a:p>
        </p:txBody>
      </p:sp>
      <p:sp>
        <p:nvSpPr>
          <p:cNvPr id="78" name="Google Shape;78;p1"/>
          <p:cNvSpPr/>
          <p:nvPr/>
        </p:nvSpPr>
        <p:spPr>
          <a:xfrm>
            <a:off x="817183" y="8294692"/>
            <a:ext cx="3457664" cy="141310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dk1"/>
                </a:solidFill>
                <a:latin typeface="Arial"/>
                <a:ea typeface="Arial"/>
                <a:cs typeface="Arial"/>
                <a:sym typeface="Arial"/>
              </a:rPr>
              <a:t>Variable Identification (Stocks)</a:t>
            </a:r>
            <a:endParaRPr/>
          </a:p>
          <a:p>
            <a:pPr indent="0" lvl="0" marL="0" marR="0" rtl="0" algn="ctr">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Reviewed previous literature to establish baseline parameters  (water storage, energy, food and herd size)</a:t>
            </a:r>
            <a:endParaRPr/>
          </a:p>
        </p:txBody>
      </p:sp>
      <p:sp>
        <p:nvSpPr>
          <p:cNvPr id="79" name="Google Shape;79;p1"/>
          <p:cNvSpPr/>
          <p:nvPr/>
        </p:nvSpPr>
        <p:spPr>
          <a:xfrm>
            <a:off x="4424681" y="9503006"/>
            <a:ext cx="3866298" cy="1180836"/>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dk1"/>
                </a:solidFill>
                <a:latin typeface="Arial"/>
                <a:ea typeface="Arial"/>
                <a:cs typeface="Arial"/>
                <a:sym typeface="Arial"/>
              </a:rPr>
              <a:t>Nexus Integration</a:t>
            </a:r>
            <a:endParaRPr/>
          </a:p>
          <a:p>
            <a:pPr indent="0" lvl="0" marL="0" marR="0" rtl="0" algn="ctr">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Established qualitative links between the subsystems (flows).</a:t>
            </a:r>
            <a:endParaRPr/>
          </a:p>
        </p:txBody>
      </p:sp>
      <p:sp>
        <p:nvSpPr>
          <p:cNvPr id="80" name="Google Shape;80;p1"/>
          <p:cNvSpPr/>
          <p:nvPr/>
        </p:nvSpPr>
        <p:spPr>
          <a:xfrm>
            <a:off x="817183" y="10590165"/>
            <a:ext cx="3277743" cy="1112877"/>
          </a:xfrm>
          <a:prstGeom prst="rect">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chemeClr val="dk1"/>
                </a:solidFill>
                <a:latin typeface="Arial"/>
                <a:ea typeface="Arial"/>
                <a:cs typeface="Arial"/>
                <a:sym typeface="Arial"/>
              </a:rPr>
              <a:t>Analytical Framework</a:t>
            </a:r>
            <a:endParaRPr/>
          </a:p>
          <a:p>
            <a:pPr indent="0" lvl="0" marL="0" marR="0" rtl="0" algn="ctr">
              <a:lnSpc>
                <a:spcPct val="100000"/>
              </a:lnSpc>
              <a:spcBef>
                <a:spcPts val="0"/>
              </a:spcBef>
              <a:spcAft>
                <a:spcPts val="0"/>
              </a:spcAft>
              <a:buNone/>
            </a:pPr>
            <a:r>
              <a:rPr b="0" i="0" lang="en-US" sz="1400" u="none" cap="none" strike="noStrike">
                <a:solidFill>
                  <a:schemeClr val="dk1"/>
                </a:solidFill>
                <a:latin typeface="Arial"/>
                <a:ea typeface="Arial"/>
                <a:cs typeface="Arial"/>
                <a:sym typeface="Arial"/>
              </a:rPr>
              <a:t>Used System Dynamics to translate static data points to time-dependent feedback loops</a:t>
            </a:r>
            <a:endParaRPr/>
          </a:p>
        </p:txBody>
      </p:sp>
      <p:sp>
        <p:nvSpPr>
          <p:cNvPr id="81" name="Google Shape;81;p1"/>
          <p:cNvSpPr/>
          <p:nvPr/>
        </p:nvSpPr>
        <p:spPr>
          <a:xfrm rot="10800000">
            <a:off x="4158427" y="10704387"/>
            <a:ext cx="2337020" cy="602586"/>
          </a:xfrm>
          <a:prstGeom prst="bentArrow">
            <a:avLst>
              <a:gd fmla="val 25000" name="adj1"/>
              <a:gd fmla="val 27089" name="adj2"/>
              <a:gd fmla="val 25000" name="adj3"/>
              <a:gd fmla="val 43750" name="adj4"/>
            </a:avLst>
          </a:prstGeom>
          <a:solidFill>
            <a:srgbClr val="50000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82" name="Google Shape;82;p1"/>
          <p:cNvSpPr/>
          <p:nvPr/>
        </p:nvSpPr>
        <p:spPr>
          <a:xfrm rot="5400000">
            <a:off x="5194411" y="8011551"/>
            <a:ext cx="598750" cy="2337027"/>
          </a:xfrm>
          <a:prstGeom prst="bentArrow">
            <a:avLst>
              <a:gd fmla="val 25000" name="adj1"/>
              <a:gd fmla="val 27089" name="adj2"/>
              <a:gd fmla="val 25000" name="adj3"/>
              <a:gd fmla="val 43750" name="adj4"/>
            </a:avLst>
          </a:prstGeom>
          <a:solidFill>
            <a:srgbClr val="50000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dk1"/>
              </a:solidFill>
              <a:latin typeface="Arial"/>
              <a:ea typeface="Arial"/>
              <a:cs typeface="Arial"/>
              <a:sym typeface="Arial"/>
            </a:endParaRPr>
          </a:p>
        </p:txBody>
      </p:sp>
      <p:sp>
        <p:nvSpPr>
          <p:cNvPr id="83" name="Google Shape;83;p1"/>
          <p:cNvSpPr/>
          <p:nvPr/>
        </p:nvSpPr>
        <p:spPr>
          <a:xfrm>
            <a:off x="17506200" y="1250301"/>
            <a:ext cx="2597900" cy="177971"/>
          </a:xfrm>
          <a:prstGeom prst="rect">
            <a:avLst/>
          </a:prstGeom>
          <a:solidFill>
            <a:srgbClr val="500000"/>
          </a:solidFill>
          <a:ln cap="flat" cmpd="sng" w="25400">
            <a:solidFill>
              <a:srgbClr val="21364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pic>
        <p:nvPicPr>
          <p:cNvPr id="84" name="Google Shape;84;p1"/>
          <p:cNvPicPr preferRelativeResize="0"/>
          <p:nvPr/>
        </p:nvPicPr>
        <p:blipFill rotWithShape="1">
          <a:blip r:embed="rId7">
            <a:alphaModFix/>
          </a:blip>
          <a:srcRect b="0" l="0" r="0" t="0"/>
          <a:stretch/>
        </p:blipFill>
        <p:spPr>
          <a:xfrm>
            <a:off x="6729323" y="1814193"/>
            <a:ext cx="13570852" cy="11418014"/>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Shivam Kanodia</dc:creator>
</cp:coreProperties>
</file>