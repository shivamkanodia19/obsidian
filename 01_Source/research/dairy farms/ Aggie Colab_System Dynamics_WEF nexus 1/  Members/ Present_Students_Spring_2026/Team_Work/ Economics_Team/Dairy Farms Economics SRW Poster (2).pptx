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12928600" cx="20104100"/>
  <p:notesSz cx="20104100" cy="12928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7" roundtripDataSignature="AMtx7mgZ7zv73i2zEBMG0hXgB2/orH8t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351350" y="969625"/>
            <a:ext cx="13403400" cy="48482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6141075"/>
            <a:ext cx="16083275" cy="581785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1:notes"/>
          <p:cNvSpPr txBox="1"/>
          <p:nvPr>
            <p:ph idx="1" type="body"/>
          </p:nvPr>
        </p:nvSpPr>
        <p:spPr>
          <a:xfrm>
            <a:off x="2010400" y="6141075"/>
            <a:ext cx="16083275" cy="5817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notes"/>
          <p:cNvSpPr/>
          <p:nvPr>
            <p:ph idx="2" type="sldImg"/>
          </p:nvPr>
        </p:nvSpPr>
        <p:spPr>
          <a:xfrm>
            <a:off x="3351350" y="969625"/>
            <a:ext cx="13403400" cy="48482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3" name="Shape 13"/>
        <p:cNvGrpSpPr/>
        <p:nvPr/>
      </p:nvGrpSpPr>
      <p:grpSpPr>
        <a:xfrm>
          <a:off x="0" y="0"/>
          <a:ext cx="0" cy="0"/>
          <a:chOff x="0" y="0"/>
          <a:chExt cx="0" cy="0"/>
        </a:xfrm>
      </p:grpSpPr>
      <p:sp>
        <p:nvSpPr>
          <p:cNvPr id="14" name="Google Shape;14;p3"/>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8" name="Shape 18"/>
        <p:cNvGrpSpPr/>
        <p:nvPr/>
      </p:nvGrpSpPr>
      <p:grpSpPr>
        <a:xfrm>
          <a:off x="0" y="0"/>
          <a:ext cx="0" cy="0"/>
          <a:chOff x="0" y="0"/>
          <a:chExt cx="0" cy="0"/>
        </a:xfrm>
      </p:grpSpPr>
      <p:sp>
        <p:nvSpPr>
          <p:cNvPr id="19" name="Google Shape;19;p4"/>
          <p:cNvSpPr txBox="1"/>
          <p:nvPr>
            <p:ph type="ctrTitle"/>
          </p:nvPr>
        </p:nvSpPr>
        <p:spPr>
          <a:xfrm>
            <a:off x="1507807" y="4007866"/>
            <a:ext cx="17088486" cy="271500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
          <p:cNvSpPr txBox="1"/>
          <p:nvPr>
            <p:ph idx="1" type="subTitle"/>
          </p:nvPr>
        </p:nvSpPr>
        <p:spPr>
          <a:xfrm>
            <a:off x="3015615" y="7240016"/>
            <a:ext cx="14072870" cy="32321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4" name="Shape 24"/>
        <p:cNvGrpSpPr/>
        <p:nvPr/>
      </p:nvGrpSpPr>
      <p:grpSpPr>
        <a:xfrm>
          <a:off x="0" y="0"/>
          <a:ext cx="0" cy="0"/>
          <a:chOff x="0" y="0"/>
          <a:chExt cx="0" cy="0"/>
        </a:xfrm>
      </p:grpSpPr>
      <p:sp>
        <p:nvSpPr>
          <p:cNvPr id="25" name="Google Shape;25;p5"/>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
          <p:cNvSpPr txBox="1"/>
          <p:nvPr>
            <p:ph idx="1" type="body"/>
          </p:nvPr>
        </p:nvSpPr>
        <p:spPr>
          <a:xfrm>
            <a:off x="1005205" y="2973578"/>
            <a:ext cx="18093690" cy="853287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5"/>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0" name="Shape 30"/>
        <p:cNvGrpSpPr/>
        <p:nvPr/>
      </p:nvGrpSpPr>
      <p:grpSpPr>
        <a:xfrm>
          <a:off x="0" y="0"/>
          <a:ext cx="0" cy="0"/>
          <a:chOff x="0" y="0"/>
          <a:chExt cx="0" cy="0"/>
        </a:xfrm>
      </p:grpSpPr>
      <p:sp>
        <p:nvSpPr>
          <p:cNvPr id="31" name="Google Shape;31;p6"/>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
          <p:cNvSpPr txBox="1"/>
          <p:nvPr>
            <p:ph idx="1" type="body"/>
          </p:nvPr>
        </p:nvSpPr>
        <p:spPr>
          <a:xfrm>
            <a:off x="1005205" y="2973578"/>
            <a:ext cx="8745284" cy="853287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3" name="Google Shape;33;p6"/>
          <p:cNvSpPr txBox="1"/>
          <p:nvPr>
            <p:ph idx="2" type="body"/>
          </p:nvPr>
        </p:nvSpPr>
        <p:spPr>
          <a:xfrm>
            <a:off x="10353611" y="2973578"/>
            <a:ext cx="8745284" cy="853287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4" name="Google Shape;34;p6"/>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
          <p:cNvPicPr preferRelativeResize="0"/>
          <p:nvPr/>
        </p:nvPicPr>
        <p:blipFill rotWithShape="1">
          <a:blip r:embed="rId1">
            <a:alphaModFix/>
          </a:blip>
          <a:srcRect b="0" l="0" r="0" t="0"/>
          <a:stretch/>
        </p:blipFill>
        <p:spPr>
          <a:xfrm>
            <a:off x="0" y="0"/>
            <a:ext cx="20104100" cy="12924061"/>
          </a:xfrm>
          <a:prstGeom prst="rect">
            <a:avLst/>
          </a:prstGeom>
          <a:noFill/>
          <a:ln>
            <a:noFill/>
          </a:ln>
        </p:spPr>
      </p:pic>
      <p:sp>
        <p:nvSpPr>
          <p:cNvPr id="7" name="Google Shape;7;p2"/>
          <p:cNvSpPr/>
          <p:nvPr/>
        </p:nvSpPr>
        <p:spPr>
          <a:xfrm>
            <a:off x="1502123" y="0"/>
            <a:ext cx="18602325" cy="1376045"/>
          </a:xfrm>
          <a:custGeom>
            <a:rect b="b" l="l" r="r" t="t"/>
            <a:pathLst>
              <a:path extrusionOk="0" h="1376045" w="18602325">
                <a:moveTo>
                  <a:pt x="0" y="0"/>
                </a:moveTo>
                <a:lnTo>
                  <a:pt x="0" y="1375575"/>
                </a:lnTo>
                <a:lnTo>
                  <a:pt x="18601977" y="1375575"/>
                </a:lnTo>
                <a:lnTo>
                  <a:pt x="18601977" y="0"/>
                </a:lnTo>
                <a:lnTo>
                  <a:pt x="0" y="0"/>
                </a:lnTo>
                <a:close/>
              </a:path>
            </a:pathLst>
          </a:custGeom>
          <a:solidFill>
            <a:srgbClr val="5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p2"/>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2"/>
          <p:cNvSpPr txBox="1"/>
          <p:nvPr>
            <p:ph idx="1" type="body"/>
          </p:nvPr>
        </p:nvSpPr>
        <p:spPr>
          <a:xfrm>
            <a:off x="1005205" y="2973578"/>
            <a:ext cx="18093690" cy="8532876"/>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0" name="Google Shape;10;p2"/>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2"/>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 Id="rId9"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7.png"/><Relationship Id="rId8"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alpha val="0"/>
          </a:schemeClr>
        </a:solidFill>
      </p:bgPr>
    </p:bg>
    <p:spTree>
      <p:nvGrpSpPr>
        <p:cNvPr id="40" name="Shape 40"/>
        <p:cNvGrpSpPr/>
        <p:nvPr/>
      </p:nvGrpSpPr>
      <p:grpSpPr>
        <a:xfrm>
          <a:off x="0" y="0"/>
          <a:ext cx="0" cy="0"/>
          <a:chOff x="0" y="0"/>
          <a:chExt cx="0" cy="0"/>
        </a:xfrm>
      </p:grpSpPr>
      <p:sp>
        <p:nvSpPr>
          <p:cNvPr id="41" name="Google Shape;41;p1"/>
          <p:cNvSpPr txBox="1"/>
          <p:nvPr/>
        </p:nvSpPr>
        <p:spPr>
          <a:xfrm>
            <a:off x="-61270" y="66553"/>
            <a:ext cx="20104100" cy="2537223"/>
          </a:xfrm>
          <a:prstGeom prst="rect">
            <a:avLst/>
          </a:prstGeom>
          <a:noFill/>
          <a:ln>
            <a:noFill/>
          </a:ln>
        </p:spPr>
        <p:txBody>
          <a:bodyPr anchorCtr="0" anchor="t" bIns="0" lIns="0" spcFirstLastPara="1" rIns="0" wrap="square" tIns="13325">
            <a:spAutoFit/>
          </a:bodyPr>
          <a:lstStyle/>
          <a:p>
            <a:pPr indent="0" lvl="0" marL="0" marR="0" rtl="0" algn="ctr">
              <a:lnSpc>
                <a:spcPct val="100000"/>
              </a:lnSpc>
              <a:spcBef>
                <a:spcPts val="0"/>
              </a:spcBef>
              <a:spcAft>
                <a:spcPts val="0"/>
              </a:spcAft>
              <a:buNone/>
            </a:pPr>
            <a:r>
              <a:rPr b="1" i="0" lang="en-US" sz="2700" u="none" cap="none" strike="noStrike">
                <a:solidFill>
                  <a:schemeClr val="lt1"/>
                </a:solidFill>
                <a:latin typeface="Times New Roman"/>
                <a:ea typeface="Times New Roman"/>
                <a:cs typeface="Times New Roman"/>
                <a:sym typeface="Times New Roman"/>
              </a:rPr>
              <a:t>                   A WEF Nexus-Based Economic Assessment of Resource Efficiency in Dairy Production Systems: Team Economics</a:t>
            </a:r>
            <a:endParaRPr b="0" i="0" sz="27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br>
              <a:rPr b="0" i="0" lang="en-US" sz="2800" u="none" cap="none" strike="noStrike">
                <a:solidFill>
                  <a:srgbClr val="000000"/>
                </a:solidFill>
                <a:latin typeface="Arial"/>
                <a:ea typeface="Arial"/>
                <a:cs typeface="Arial"/>
                <a:sym typeface="Arial"/>
              </a:rPr>
            </a:br>
            <a:endParaRPr b="0" i="0" sz="27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br>
              <a:rPr b="0" i="0" lang="en-US" sz="2800" u="none" cap="none" strike="noStrike">
                <a:solidFill>
                  <a:srgbClr val="000000"/>
                </a:solidFill>
                <a:latin typeface="Arial"/>
                <a:ea typeface="Arial"/>
                <a:cs typeface="Arial"/>
                <a:sym typeface="Arial"/>
              </a:rPr>
            </a:br>
            <a:endParaRPr b="1" i="0" sz="2700" u="none" cap="none" strike="noStrike">
              <a:solidFill>
                <a:schemeClr val="lt1"/>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Times New Roman"/>
              <a:ea typeface="Times New Roman"/>
              <a:cs typeface="Times New Roman"/>
              <a:sym typeface="Times New Roman"/>
            </a:endParaRPr>
          </a:p>
        </p:txBody>
      </p:sp>
      <p:sp>
        <p:nvSpPr>
          <p:cNvPr id="42" name="Google Shape;42;p1"/>
          <p:cNvSpPr txBox="1"/>
          <p:nvPr/>
        </p:nvSpPr>
        <p:spPr>
          <a:xfrm>
            <a:off x="77738" y="1600558"/>
            <a:ext cx="19981500" cy="2347200"/>
          </a:xfrm>
          <a:prstGeom prst="rect">
            <a:avLst/>
          </a:prstGeom>
          <a:noFill/>
          <a:ln>
            <a:noFill/>
          </a:ln>
        </p:spPr>
        <p:txBody>
          <a:bodyPr anchorCtr="0" anchor="t" bIns="0" lIns="0" spcFirstLastPara="1" rIns="0" wrap="square" tIns="12050">
            <a:spAutoFit/>
          </a:bodyPr>
          <a:lstStyle/>
          <a:p>
            <a:pPr indent="0" lvl="0" marL="199390" marR="59689" rtl="0" algn="just">
              <a:lnSpc>
                <a:spcPct val="101299"/>
              </a:lnSpc>
              <a:spcBef>
                <a:spcPts val="0"/>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SUMMARY</a:t>
            </a:r>
            <a:r>
              <a:rPr b="0" i="0" lang="en-US" sz="1600" u="none" cap="none" strike="noStrike">
                <a:solidFill>
                  <a:srgbClr val="000000"/>
                </a:solidFill>
                <a:latin typeface="Times New Roman"/>
                <a:ea typeface="Times New Roman"/>
                <a:cs typeface="Times New Roman"/>
                <a:sym typeface="Times New Roman"/>
              </a:rPr>
              <a:t>: </a:t>
            </a:r>
            <a:r>
              <a:rPr b="0" i="1" lang="en-US" sz="1600" u="none" cap="none" strike="noStrike">
                <a:solidFill>
                  <a:srgbClr val="000000"/>
                </a:solidFill>
                <a:latin typeface="Times New Roman"/>
                <a:ea typeface="Times New Roman"/>
                <a:cs typeface="Times New Roman"/>
                <a:sym typeface="Times New Roman"/>
              </a:rPr>
              <a:t>This study develops a Vensim PLE system dynamics model of small and mid-size Texas dairy farms, simulating Farm Financial Capital, Installed Efficiency Capital, Herd Size, and Debt Level within a WEF nexus framework. Key variables include input costs per hundredweight, cash flow, and reinvestment rate. Baseline simulations reveal reinforcing feedback loops where lower resource costs improve margins and enable further efficiency investment. Integrated WEF management reduces input costs by 8-15%, improving long-run financial resilience. Future work will incorporate AI-driven analytics and expanded farm-level data to refine recommendations.</a:t>
            </a:r>
            <a:endParaRPr b="0" i="1" sz="1600" u="none" cap="none" strike="noStrike">
              <a:solidFill>
                <a:srgbClr val="000000"/>
              </a:solidFill>
              <a:latin typeface="Times New Roman"/>
              <a:ea typeface="Times New Roman"/>
              <a:cs typeface="Times New Roman"/>
              <a:sym typeface="Times New Roman"/>
            </a:endParaRPr>
          </a:p>
          <a:p>
            <a:pPr indent="0" lvl="0" marL="12700" marR="5080" rtl="0" algn="just">
              <a:lnSpc>
                <a:spcPct val="101299"/>
              </a:lnSpc>
              <a:spcBef>
                <a:spcPts val="1639"/>
              </a:spcBef>
              <a:spcAft>
                <a:spcPts val="0"/>
              </a:spcAft>
              <a:buClr>
                <a:srgbClr val="000000"/>
              </a:buClr>
              <a:buSzPts val="1600"/>
              <a:buFont typeface="Arial"/>
              <a:buNone/>
            </a:pPr>
            <a:r>
              <a:rPr b="1" i="0" lang="en-US" sz="1600" u="none" cap="none" strike="noStrike">
                <a:solidFill>
                  <a:srgbClr val="C00000"/>
                </a:solidFill>
                <a:latin typeface="Times New Roman"/>
                <a:ea typeface="Times New Roman"/>
                <a:cs typeface="Times New Roman"/>
                <a:sym typeface="Times New Roman"/>
              </a:rPr>
              <a:t>Dynamic hypothesis: </a:t>
            </a:r>
            <a:r>
              <a:rPr b="0" i="0" lang="en-US" sz="1600" u="none" cap="none" strike="noStrike">
                <a:solidFill>
                  <a:schemeClr val="dk1"/>
                </a:solidFill>
                <a:latin typeface="Times New Roman"/>
                <a:ea typeface="Times New Roman"/>
                <a:cs typeface="Times New Roman"/>
                <a:sym typeface="Times New Roman"/>
              </a:rPr>
              <a:t>Adoption of integrated WEF‑based resource strategies in Texas dairy production, such as improving water‑use efficiency, investing in more energy‑efficient milking and cooling systems, and aligning family and hired labor use with herd size, will strengthen positive economic feedbacks between lower input costs per hundredweight, stronger cash flow, and the capacity to reinvest in further cost‑saving technologies and management practices, leading to improved profitability and greater long‑run financial resilience of small and mid‑size dairy farms.</a:t>
            </a:r>
            <a:endParaRPr b="1" i="0" sz="1600" u="none" cap="none" strike="noStrike">
              <a:solidFill>
                <a:srgbClr val="001F5F"/>
              </a:solidFill>
              <a:latin typeface="Times New Roman"/>
              <a:ea typeface="Times New Roman"/>
              <a:cs typeface="Times New Roman"/>
              <a:sym typeface="Times New Roman"/>
            </a:endParaRPr>
          </a:p>
          <a:p>
            <a:pPr indent="0" lvl="0" marL="0" marR="408305" rtl="0" algn="l">
              <a:lnSpc>
                <a:spcPct val="100000"/>
              </a:lnSpc>
              <a:spcBef>
                <a:spcPts val="1115"/>
              </a:spcBef>
              <a:spcAft>
                <a:spcPts val="0"/>
              </a:spcAft>
              <a:buClr>
                <a:srgbClr val="000000"/>
              </a:buClr>
              <a:buSzPts val="2100"/>
              <a:buFont typeface="Arial"/>
              <a:buNone/>
            </a:pPr>
            <a:r>
              <a:rPr b="1" i="0" lang="en-US" sz="2100" u="none" cap="none" strike="noStrike">
                <a:solidFill>
                  <a:srgbClr val="500000"/>
                </a:solidFill>
                <a:latin typeface="Times New Roman"/>
                <a:ea typeface="Times New Roman"/>
                <a:cs typeface="Times New Roman"/>
                <a:sym typeface="Times New Roman"/>
              </a:rPr>
              <a:t>	        </a:t>
            </a:r>
            <a:r>
              <a:rPr b="1" baseline="30000" i="1" lang="en-US" sz="3150" u="none" cap="none" strike="noStrike">
                <a:solidFill>
                  <a:srgbClr val="500000"/>
                </a:solidFill>
                <a:latin typeface="Times New Roman"/>
                <a:ea typeface="Times New Roman"/>
                <a:cs typeface="Times New Roman"/>
                <a:sym typeface="Times New Roman"/>
              </a:rPr>
              <a:t>INTRODUCTION	</a:t>
            </a:r>
            <a:r>
              <a:rPr b="1" baseline="30000" i="0" lang="en-US" sz="3150" u="none" cap="none" strike="noStrike">
                <a:solidFill>
                  <a:srgbClr val="500000"/>
                </a:solidFill>
                <a:latin typeface="Times New Roman"/>
                <a:ea typeface="Times New Roman"/>
                <a:cs typeface="Times New Roman"/>
                <a:sym typeface="Times New Roman"/>
              </a:rPr>
              <a:t>					                                                                                                                           </a:t>
            </a:r>
            <a:r>
              <a:rPr b="1" baseline="30000" i="1" lang="en-US" sz="3150" u="none" cap="none" strike="noStrike">
                <a:solidFill>
                  <a:srgbClr val="500000"/>
                </a:solidFill>
                <a:latin typeface="Times New Roman"/>
                <a:ea typeface="Times New Roman"/>
                <a:cs typeface="Times New Roman"/>
                <a:sym typeface="Times New Roman"/>
              </a:rPr>
              <a:t>RESULT: STOCK &amp; FLOW Diagram</a:t>
            </a:r>
            <a:endParaRPr b="0" baseline="30000" i="1" sz="3150" u="none" cap="none" strike="noStrike">
              <a:solidFill>
                <a:srgbClr val="000000"/>
              </a:solidFill>
              <a:latin typeface="Times New Roman"/>
              <a:ea typeface="Times New Roman"/>
              <a:cs typeface="Times New Roman"/>
              <a:sym typeface="Times New Roman"/>
            </a:endParaRPr>
          </a:p>
        </p:txBody>
      </p:sp>
      <p:sp>
        <p:nvSpPr>
          <p:cNvPr id="43" name="Google Shape;43;p1"/>
          <p:cNvSpPr txBox="1"/>
          <p:nvPr/>
        </p:nvSpPr>
        <p:spPr>
          <a:xfrm>
            <a:off x="7820393" y="10584948"/>
            <a:ext cx="12379200" cy="20319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Rising feed, energy, and water input costs demand more efficient WEF resource management in dairy production (Entrena-Barbero et al., 2023)</a:t>
            </a:r>
            <a:endParaRPr b="0" i="0" sz="2000" u="none" cap="none" strike="noStrike">
              <a:solidFill>
                <a:schemeClr val="dk1"/>
              </a:solidFill>
              <a:latin typeface="Times New Roman"/>
              <a:ea typeface="Times New Roman"/>
              <a:cs typeface="Times New Roman"/>
              <a:sym typeface="Times New Roman"/>
            </a:endParaRPr>
          </a:p>
          <a:p>
            <a:pPr indent="-355600" lvl="0" marL="4572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Feed costs comprise the largest share of production expenses, as Dry Matter Intake (DMI) drives Net Energy for Lactation (NEL) and ultimately milk output (USDA, 2025)</a:t>
            </a:r>
            <a:endParaRPr b="0" i="0" sz="2000" u="none" cap="none" strike="noStrike">
              <a:solidFill>
                <a:schemeClr val="dk1"/>
              </a:solidFill>
              <a:latin typeface="Times New Roman"/>
              <a:ea typeface="Times New Roman"/>
              <a:cs typeface="Times New Roman"/>
              <a:sym typeface="Times New Roman"/>
            </a:endParaRPr>
          </a:p>
          <a:p>
            <a:pPr indent="-355600" lvl="0" marL="4572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Integrated WEF management strategies estimated to reduce input costs by 8–15%, with energy price volatility having the greatest marginal impact on profitability (Khera &amp; Pulsani, 2025)</a:t>
            </a:r>
            <a:endParaRPr b="0" i="0" sz="2000" u="none" cap="none" strike="noStrike">
              <a:solidFill>
                <a:schemeClr val="dk1"/>
              </a:solidFill>
              <a:latin typeface="Times New Roman"/>
              <a:ea typeface="Times New Roman"/>
              <a:cs typeface="Times New Roman"/>
              <a:sym typeface="Times New Roman"/>
            </a:endParaRPr>
          </a:p>
        </p:txBody>
      </p:sp>
      <p:sp>
        <p:nvSpPr>
          <p:cNvPr id="44" name="Google Shape;44;p1"/>
          <p:cNvSpPr txBox="1"/>
          <p:nvPr/>
        </p:nvSpPr>
        <p:spPr>
          <a:xfrm>
            <a:off x="8130087" y="8744766"/>
            <a:ext cx="1835700" cy="338700"/>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Clr>
                <a:srgbClr val="000000"/>
              </a:buClr>
              <a:buSzPts val="2100"/>
              <a:buFont typeface="Arial"/>
              <a:buNone/>
            </a:pPr>
            <a:r>
              <a:rPr b="1" i="1" lang="en-US" sz="2100" u="none" cap="none" strike="noStrike">
                <a:solidFill>
                  <a:srgbClr val="500000"/>
                </a:solidFill>
                <a:latin typeface="Times New Roman"/>
                <a:ea typeface="Times New Roman"/>
                <a:cs typeface="Times New Roman"/>
                <a:sym typeface="Times New Roman"/>
              </a:rPr>
              <a:t>REFERENCES</a:t>
            </a:r>
            <a:endParaRPr b="0" i="1" sz="2100" u="none" cap="none" strike="noStrike">
              <a:solidFill>
                <a:srgbClr val="000000"/>
              </a:solidFill>
              <a:latin typeface="Times New Roman"/>
              <a:ea typeface="Times New Roman"/>
              <a:cs typeface="Times New Roman"/>
              <a:sym typeface="Times New Roman"/>
            </a:endParaRPr>
          </a:p>
        </p:txBody>
      </p:sp>
      <p:pic>
        <p:nvPicPr>
          <p:cNvPr id="45" name="Google Shape;45;p1"/>
          <p:cNvPicPr preferRelativeResize="0"/>
          <p:nvPr/>
        </p:nvPicPr>
        <p:blipFill rotWithShape="1">
          <a:blip r:embed="rId3">
            <a:alphaModFix/>
          </a:blip>
          <a:srcRect b="0" l="0" r="0" t="0"/>
          <a:stretch/>
        </p:blipFill>
        <p:spPr>
          <a:xfrm>
            <a:off x="8698531" y="9215018"/>
            <a:ext cx="873620" cy="888000"/>
          </a:xfrm>
          <a:prstGeom prst="rect">
            <a:avLst/>
          </a:prstGeom>
          <a:noFill/>
          <a:ln>
            <a:noFill/>
          </a:ln>
        </p:spPr>
      </p:pic>
      <p:sp>
        <p:nvSpPr>
          <p:cNvPr id="46" name="Google Shape;46;p1"/>
          <p:cNvSpPr txBox="1"/>
          <p:nvPr/>
        </p:nvSpPr>
        <p:spPr>
          <a:xfrm>
            <a:off x="1259375" y="7372513"/>
            <a:ext cx="3715500" cy="338700"/>
          </a:xfrm>
          <a:prstGeom prst="rect">
            <a:avLst/>
          </a:prstGeom>
          <a:noFill/>
          <a:ln>
            <a:noFill/>
          </a:ln>
        </p:spPr>
        <p:txBody>
          <a:bodyPr anchorCtr="0" anchor="t" bIns="0" lIns="0" spcFirstLastPara="1" rIns="0" wrap="square" tIns="15225">
            <a:spAutoFit/>
          </a:bodyPr>
          <a:lstStyle/>
          <a:p>
            <a:pPr indent="0" lvl="0" marL="12700" marR="0" rtl="0" algn="ctr">
              <a:lnSpc>
                <a:spcPct val="100000"/>
              </a:lnSpc>
              <a:spcBef>
                <a:spcPts val="0"/>
              </a:spcBef>
              <a:spcAft>
                <a:spcPts val="0"/>
              </a:spcAft>
              <a:buClr>
                <a:srgbClr val="000000"/>
              </a:buClr>
              <a:buSzPts val="2100"/>
              <a:buFont typeface="Arial"/>
              <a:buNone/>
            </a:pPr>
            <a:r>
              <a:rPr b="1" i="1" lang="en-US" sz="2100" u="none" cap="none" strike="noStrike">
                <a:solidFill>
                  <a:srgbClr val="500000"/>
                </a:solidFill>
                <a:latin typeface="Times New Roman"/>
                <a:ea typeface="Times New Roman"/>
                <a:cs typeface="Times New Roman"/>
                <a:sym typeface="Times New Roman"/>
              </a:rPr>
              <a:t>MATERIALS AND METHODS</a:t>
            </a:r>
            <a:endParaRPr b="0" i="1" sz="2100" u="none" cap="none" strike="noStrike">
              <a:solidFill>
                <a:srgbClr val="000000"/>
              </a:solidFill>
              <a:latin typeface="Times New Roman"/>
              <a:ea typeface="Times New Roman"/>
              <a:cs typeface="Times New Roman"/>
              <a:sym typeface="Times New Roman"/>
            </a:endParaRPr>
          </a:p>
        </p:txBody>
      </p:sp>
      <p:sp>
        <p:nvSpPr>
          <p:cNvPr id="47" name="Google Shape;47;p1"/>
          <p:cNvSpPr txBox="1"/>
          <p:nvPr/>
        </p:nvSpPr>
        <p:spPr>
          <a:xfrm>
            <a:off x="77755" y="3781925"/>
            <a:ext cx="6679800" cy="3323400"/>
          </a:xfrm>
          <a:prstGeom prst="rect">
            <a:avLst/>
          </a:prstGeom>
          <a:noFill/>
          <a:ln>
            <a:noFill/>
          </a:ln>
        </p:spPr>
        <p:txBody>
          <a:bodyPr anchorCtr="0" anchor="t" bIns="45700" lIns="91425" spcFirstLastPara="1" rIns="91425" wrap="square" tIns="45700">
            <a:spAutoFit/>
          </a:bodyPr>
          <a:lstStyle/>
          <a:p>
            <a:pPr indent="-111760" lvl="0" marL="124460" marR="5080" rtl="0" algn="just">
              <a:lnSpc>
                <a:spcPct val="101000"/>
              </a:lnSpc>
              <a:spcBef>
                <a:spcPts val="0"/>
              </a:spcBef>
              <a:spcAft>
                <a:spcPts val="0"/>
              </a:spcAft>
              <a:buClr>
                <a:srgbClr val="000000"/>
              </a:buClr>
              <a:buSzPts val="1400"/>
              <a:buFont typeface="Times New Roman"/>
              <a:buChar char="•"/>
            </a:pPr>
            <a:r>
              <a:rPr b="0" i="0" lang="en-US" sz="1600" u="none" cap="none" strike="noStrike">
                <a:solidFill>
                  <a:srgbClr val="000000"/>
                </a:solidFill>
                <a:latin typeface="Times New Roman"/>
                <a:ea typeface="Times New Roman"/>
                <a:cs typeface="Times New Roman"/>
                <a:sym typeface="Times New Roman"/>
              </a:rPr>
              <a:t>Rising input costs and environmental pressures demand more efficient resource use in dairy production (WEF Nexus Framework)</a:t>
            </a:r>
            <a:endParaRPr/>
          </a:p>
          <a:p>
            <a:pPr indent="0" lvl="0" marL="457200" marR="5080" rtl="0" algn="just">
              <a:lnSpc>
                <a:spcPct val="101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111760" lvl="0" marL="124460" marR="5080" rtl="0" algn="just">
              <a:lnSpc>
                <a:spcPct val="101000"/>
              </a:lnSpc>
              <a:spcBef>
                <a:spcPts val="0"/>
              </a:spcBef>
              <a:spcAft>
                <a:spcPts val="0"/>
              </a:spcAft>
              <a:buClr>
                <a:srgbClr val="000000"/>
              </a:buClr>
              <a:buSzPts val="1400"/>
              <a:buFont typeface="Times New Roman"/>
              <a:buChar char="•"/>
            </a:pPr>
            <a:r>
              <a:rPr b="0" i="0" lang="en-US" sz="1600" u="none" cap="none" strike="noStrike">
                <a:solidFill>
                  <a:srgbClr val="000000"/>
                </a:solidFill>
                <a:latin typeface="Times New Roman"/>
                <a:ea typeface="Times New Roman"/>
                <a:cs typeface="Times New Roman"/>
                <a:sym typeface="Times New Roman"/>
              </a:rPr>
              <a:t>Feed costs comprise the largest share of production expenses, followed by energy and water</a:t>
            </a:r>
            <a:endParaRPr/>
          </a:p>
          <a:p>
            <a:pPr indent="0" lvl="0" marL="457200" marR="5080" rtl="0" algn="just">
              <a:lnSpc>
                <a:spcPct val="101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111760" lvl="0" marL="124460" marR="5080" rtl="0" algn="just">
              <a:lnSpc>
                <a:spcPct val="101000"/>
              </a:lnSpc>
              <a:spcBef>
                <a:spcPts val="0"/>
              </a:spcBef>
              <a:spcAft>
                <a:spcPts val="0"/>
              </a:spcAft>
              <a:buClr>
                <a:srgbClr val="000000"/>
              </a:buClr>
              <a:buSzPts val="1400"/>
              <a:buFont typeface="Times New Roman"/>
              <a:buChar char="•"/>
            </a:pPr>
            <a:r>
              <a:rPr b="0" i="0" lang="en-US" sz="1600" u="none" cap="none" strike="noStrike">
                <a:solidFill>
                  <a:srgbClr val="000000"/>
                </a:solidFill>
                <a:latin typeface="Times New Roman"/>
                <a:ea typeface="Times New Roman"/>
                <a:cs typeface="Times New Roman"/>
                <a:sym typeface="Times New Roman"/>
              </a:rPr>
              <a:t>Integrated WEF management strategies estimated to reduce input costs by 8–15%</a:t>
            </a:r>
            <a:endParaRPr/>
          </a:p>
          <a:p>
            <a:pPr indent="0" lvl="0" marL="457200" marR="5080" rtl="0" algn="just">
              <a:lnSpc>
                <a:spcPct val="101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111760" lvl="0" marL="124460" marR="5080" rtl="0" algn="just">
              <a:lnSpc>
                <a:spcPct val="101000"/>
              </a:lnSpc>
              <a:spcBef>
                <a:spcPts val="0"/>
              </a:spcBef>
              <a:spcAft>
                <a:spcPts val="0"/>
              </a:spcAft>
              <a:buClr>
                <a:srgbClr val="000000"/>
              </a:buClr>
              <a:buSzPts val="1400"/>
              <a:buFont typeface="Times New Roman"/>
              <a:buChar char="•"/>
            </a:pPr>
            <a:r>
              <a:rPr b="0" i="0" lang="en-US" sz="1600" u="none" cap="none" strike="noStrike">
                <a:solidFill>
                  <a:srgbClr val="000000"/>
                </a:solidFill>
                <a:latin typeface="Times New Roman"/>
                <a:ea typeface="Times New Roman"/>
                <a:cs typeface="Times New Roman"/>
                <a:sym typeface="Times New Roman"/>
              </a:rPr>
              <a:t>Energy price volatility has the greatest marginal impact on farm profitability</a:t>
            </a:r>
            <a:endParaRPr/>
          </a:p>
          <a:p>
            <a:pPr indent="0" lvl="0" marL="457200" marR="5080" rtl="0" algn="just">
              <a:lnSpc>
                <a:spcPct val="101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111760" lvl="0" marL="124460" marR="5080" rtl="0" algn="just">
              <a:lnSpc>
                <a:spcPct val="101000"/>
              </a:lnSpc>
              <a:spcBef>
                <a:spcPts val="0"/>
              </a:spcBef>
              <a:spcAft>
                <a:spcPts val="0"/>
              </a:spcAft>
              <a:buClr>
                <a:srgbClr val="000000"/>
              </a:buClr>
              <a:buSzPts val="1400"/>
              <a:buFont typeface="Times New Roman"/>
              <a:buChar char="•"/>
            </a:pPr>
            <a:r>
              <a:rPr b="0" i="0" lang="en-US" sz="1600" u="none" cap="none" strike="noStrike">
                <a:solidFill>
                  <a:srgbClr val="000000"/>
                </a:solidFill>
                <a:latin typeface="Times New Roman"/>
                <a:ea typeface="Times New Roman"/>
                <a:cs typeface="Times New Roman"/>
                <a:sym typeface="Times New Roman"/>
              </a:rPr>
              <a:t>Enterprise and partial budgeting frameworks applied to assess cost structures across varying herd sizes</a:t>
            </a:r>
            <a:endParaRPr/>
          </a:p>
        </p:txBody>
      </p:sp>
      <p:sp>
        <p:nvSpPr>
          <p:cNvPr id="48" name="Google Shape;48;p1"/>
          <p:cNvSpPr/>
          <p:nvPr/>
        </p:nvSpPr>
        <p:spPr>
          <a:xfrm>
            <a:off x="0" y="1486202"/>
            <a:ext cx="20042830" cy="876063"/>
          </a:xfrm>
          <a:prstGeom prst="rect">
            <a:avLst/>
          </a:prstGeom>
          <a:noFill/>
          <a:ln cap="flat" cmpd="sng" w="28575">
            <a:solidFill>
              <a:srgbClr val="E36C0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49" name="Google Shape;49;p1"/>
          <p:cNvPicPr preferRelativeResize="0"/>
          <p:nvPr/>
        </p:nvPicPr>
        <p:blipFill rotWithShape="1">
          <a:blip r:embed="rId4">
            <a:alphaModFix/>
          </a:blip>
          <a:srcRect b="0" l="0" r="0" t="0"/>
          <a:stretch/>
        </p:blipFill>
        <p:spPr>
          <a:xfrm>
            <a:off x="10052050" y="3947750"/>
            <a:ext cx="9444900" cy="6637200"/>
          </a:xfrm>
          <a:prstGeom prst="roundRect">
            <a:avLst>
              <a:gd fmla="val 16667" name="adj"/>
            </a:avLst>
          </a:prstGeom>
          <a:noFill/>
          <a:ln>
            <a:noFill/>
          </a:ln>
          <a:effectLst>
            <a:outerShdw blurRad="76200" rotWithShape="0" algn="tl" dir="7800000" dist="38100">
              <a:srgbClr val="000000">
                <a:alpha val="40000"/>
              </a:srgbClr>
            </a:outerShdw>
          </a:effectLst>
        </p:spPr>
      </p:pic>
      <p:pic>
        <p:nvPicPr>
          <p:cNvPr id="50" name="Google Shape;50;p1"/>
          <p:cNvPicPr preferRelativeResize="0"/>
          <p:nvPr/>
        </p:nvPicPr>
        <p:blipFill rotWithShape="1">
          <a:blip r:embed="rId5">
            <a:alphaModFix/>
          </a:blip>
          <a:srcRect b="0" l="0" r="0" t="0"/>
          <a:stretch/>
        </p:blipFill>
        <p:spPr>
          <a:xfrm>
            <a:off x="61270" y="0"/>
            <a:ext cx="1434551" cy="1383480"/>
          </a:xfrm>
          <a:prstGeom prst="rect">
            <a:avLst/>
          </a:prstGeom>
          <a:noFill/>
          <a:ln>
            <a:noFill/>
          </a:ln>
        </p:spPr>
      </p:pic>
      <p:pic>
        <p:nvPicPr>
          <p:cNvPr id="51" name="Google Shape;51;p1"/>
          <p:cNvPicPr preferRelativeResize="0"/>
          <p:nvPr/>
        </p:nvPicPr>
        <p:blipFill rotWithShape="1">
          <a:blip r:embed="rId6">
            <a:alphaModFix/>
          </a:blip>
          <a:srcRect b="0" l="0" r="0" t="0"/>
          <a:stretch/>
        </p:blipFill>
        <p:spPr>
          <a:xfrm>
            <a:off x="14774521" y="558856"/>
            <a:ext cx="3397425" cy="685835"/>
          </a:xfrm>
          <a:prstGeom prst="rect">
            <a:avLst/>
          </a:prstGeom>
          <a:noFill/>
          <a:ln>
            <a:noFill/>
          </a:ln>
        </p:spPr>
      </p:pic>
      <p:pic>
        <p:nvPicPr>
          <p:cNvPr id="52" name="Google Shape;52;p1"/>
          <p:cNvPicPr preferRelativeResize="0"/>
          <p:nvPr/>
        </p:nvPicPr>
        <p:blipFill rotWithShape="1">
          <a:blip r:embed="rId7">
            <a:alphaModFix/>
          </a:blip>
          <a:srcRect b="0" l="6167" r="5486" t="0"/>
          <a:stretch/>
        </p:blipFill>
        <p:spPr>
          <a:xfrm>
            <a:off x="8225" y="7978437"/>
            <a:ext cx="8121850" cy="4853338"/>
          </a:xfrm>
          <a:prstGeom prst="rect">
            <a:avLst/>
          </a:prstGeom>
          <a:noFill/>
          <a:ln>
            <a:noFill/>
          </a:ln>
        </p:spPr>
      </p:pic>
      <p:pic>
        <p:nvPicPr>
          <p:cNvPr descr="Larger dairy farms produce milk at a lower cost per unit ..." id="53" name="Google Shape;53;p1"/>
          <p:cNvPicPr preferRelativeResize="0"/>
          <p:nvPr/>
        </p:nvPicPr>
        <p:blipFill rotWithShape="1">
          <a:blip r:embed="rId8">
            <a:alphaModFix/>
          </a:blip>
          <a:srcRect b="0" l="0" r="0" t="0"/>
          <a:stretch/>
        </p:blipFill>
        <p:spPr>
          <a:xfrm>
            <a:off x="7073601" y="4196326"/>
            <a:ext cx="2219424" cy="1598101"/>
          </a:xfrm>
          <a:prstGeom prst="rect">
            <a:avLst/>
          </a:prstGeom>
          <a:noFill/>
          <a:ln>
            <a:noFill/>
          </a:ln>
        </p:spPr>
      </p:pic>
      <p:sp>
        <p:nvSpPr>
          <p:cNvPr id="54" name="Google Shape;54;p1"/>
          <p:cNvSpPr txBox="1"/>
          <p:nvPr/>
        </p:nvSpPr>
        <p:spPr>
          <a:xfrm>
            <a:off x="3724566" y="637742"/>
            <a:ext cx="11321469" cy="493335"/>
          </a:xfrm>
          <a:prstGeom prst="rect">
            <a:avLst/>
          </a:prstGeom>
          <a:noFill/>
          <a:ln>
            <a:noFill/>
          </a:ln>
        </p:spPr>
        <p:txBody>
          <a:bodyPr anchorCtr="0" anchor="t" bIns="0" lIns="0" spcFirstLastPara="1" rIns="0" wrap="square" tIns="11425">
            <a:spAutoFit/>
          </a:bodyPr>
          <a:lstStyle/>
          <a:p>
            <a:pPr indent="-628015" lvl="0" marL="678180" marR="43180" rtl="0" algn="ctr">
              <a:lnSpc>
                <a:spcPct val="101400"/>
              </a:lnSpc>
              <a:spcBef>
                <a:spcPts val="0"/>
              </a:spcBef>
              <a:spcAft>
                <a:spcPts val="0"/>
              </a:spcAft>
              <a:buClr>
                <a:srgbClr val="000000"/>
              </a:buClr>
              <a:buSzPts val="1550"/>
              <a:buFont typeface="Arial"/>
              <a:buNone/>
            </a:pPr>
            <a:r>
              <a:rPr b="0" i="1" lang="en-US" sz="1550" u="none" cap="none" strike="noStrike">
                <a:solidFill>
                  <a:schemeClr val="lt1"/>
                </a:solidFill>
                <a:latin typeface="Times New Roman"/>
                <a:ea typeface="Times New Roman"/>
                <a:cs typeface="Times New Roman"/>
                <a:sym typeface="Times New Roman"/>
              </a:rPr>
              <a:t>Neil Khera</a:t>
            </a:r>
            <a:r>
              <a:rPr b="0" baseline="30000" i="1" lang="en-US" sz="1550" u="none" cap="none" strike="noStrike">
                <a:solidFill>
                  <a:schemeClr val="lt1"/>
                </a:solidFill>
                <a:latin typeface="Times New Roman"/>
                <a:ea typeface="Times New Roman"/>
                <a:cs typeface="Times New Roman"/>
                <a:sym typeface="Times New Roman"/>
              </a:rPr>
              <a:t>1</a:t>
            </a:r>
            <a:r>
              <a:rPr b="0" i="1" lang="en-US" sz="1550" u="none" cap="none" strike="noStrike">
                <a:solidFill>
                  <a:schemeClr val="lt1"/>
                </a:solidFill>
                <a:latin typeface="Times New Roman"/>
                <a:ea typeface="Times New Roman"/>
                <a:cs typeface="Times New Roman"/>
                <a:sym typeface="Times New Roman"/>
              </a:rPr>
              <a:t>, Aarav Pulsani</a:t>
            </a:r>
            <a:r>
              <a:rPr b="0" baseline="30000" i="1" lang="en-US" sz="1550" u="none" cap="none" strike="noStrike">
                <a:solidFill>
                  <a:schemeClr val="lt1"/>
                </a:solidFill>
                <a:latin typeface="Times New Roman"/>
                <a:ea typeface="Times New Roman"/>
                <a:cs typeface="Times New Roman"/>
                <a:sym typeface="Times New Roman"/>
              </a:rPr>
              <a:t>1</a:t>
            </a:r>
            <a:r>
              <a:rPr b="0" i="1" lang="en-US" sz="1550" u="none" cap="none" strike="noStrike">
                <a:solidFill>
                  <a:schemeClr val="lt1"/>
                </a:solidFill>
                <a:latin typeface="Times New Roman"/>
                <a:ea typeface="Times New Roman"/>
                <a:cs typeface="Times New Roman"/>
                <a:sym typeface="Times New Roman"/>
              </a:rPr>
              <a:t>,  Aparna Pushkaran Ajitha</a:t>
            </a:r>
            <a:r>
              <a:rPr b="0" baseline="30000" i="1" lang="en-US" sz="1550" u="none" cap="none" strike="noStrike">
                <a:solidFill>
                  <a:schemeClr val="lt1"/>
                </a:solidFill>
                <a:latin typeface="Times New Roman"/>
                <a:ea typeface="Times New Roman"/>
                <a:cs typeface="Times New Roman"/>
                <a:sym typeface="Times New Roman"/>
              </a:rPr>
              <a:t>2</a:t>
            </a:r>
            <a:r>
              <a:rPr b="0" i="1" lang="en-US" sz="1550" u="none" cap="none" strike="noStrike">
                <a:solidFill>
                  <a:schemeClr val="lt1"/>
                </a:solidFill>
                <a:latin typeface="Times New Roman"/>
                <a:ea typeface="Times New Roman"/>
                <a:cs typeface="Times New Roman"/>
                <a:sym typeface="Times New Roman"/>
              </a:rPr>
              <a:t>, Karun Kaniyamattan</a:t>
            </a:r>
            <a:r>
              <a:rPr b="0" baseline="30000" i="1" lang="en-US" sz="1550" u="none" cap="none" strike="noStrike">
                <a:solidFill>
                  <a:schemeClr val="lt1"/>
                </a:solidFill>
                <a:latin typeface="Times New Roman"/>
                <a:ea typeface="Times New Roman"/>
                <a:cs typeface="Times New Roman"/>
                <a:sym typeface="Times New Roman"/>
              </a:rPr>
              <a:t>2</a:t>
            </a:r>
            <a:r>
              <a:rPr b="0" i="1" lang="en-US" sz="1550" u="none" cap="none" strike="noStrike">
                <a:solidFill>
                  <a:schemeClr val="lt1"/>
                </a:solidFill>
                <a:latin typeface="Times New Roman"/>
                <a:ea typeface="Times New Roman"/>
                <a:cs typeface="Times New Roman"/>
                <a:sym typeface="Times New Roman"/>
              </a:rPr>
              <a:t>, Sushil Paudyal</a:t>
            </a:r>
            <a:r>
              <a:rPr b="0" baseline="30000" i="0" lang="en-US" sz="1550" u="none" cap="none" strike="noStrike">
                <a:solidFill>
                  <a:schemeClr val="lt1"/>
                </a:solidFill>
                <a:latin typeface="Times New Roman"/>
                <a:ea typeface="Times New Roman"/>
                <a:cs typeface="Times New Roman"/>
                <a:sym typeface="Times New Roman"/>
              </a:rPr>
              <a:t> 2</a:t>
            </a:r>
            <a:endParaRPr/>
          </a:p>
          <a:p>
            <a:pPr indent="-628015" lvl="0" marL="1135380" marR="43180" rtl="0" algn="ctr">
              <a:lnSpc>
                <a:spcPct val="101400"/>
              </a:lnSpc>
              <a:spcBef>
                <a:spcPts val="0"/>
              </a:spcBef>
              <a:spcAft>
                <a:spcPts val="0"/>
              </a:spcAft>
              <a:buClr>
                <a:srgbClr val="000000"/>
              </a:buClr>
              <a:buSzPts val="1550"/>
              <a:buFont typeface="Arial"/>
              <a:buNone/>
            </a:pPr>
            <a:r>
              <a:rPr b="0" i="0" lang="en-US" sz="1550" u="none" cap="none" strike="noStrike">
                <a:solidFill>
                  <a:srgbClr val="E7E6E6"/>
                </a:solidFill>
                <a:latin typeface="Times New Roman"/>
                <a:ea typeface="Times New Roman"/>
                <a:cs typeface="Times New Roman"/>
                <a:sym typeface="Times New Roman"/>
              </a:rPr>
              <a:t>College of Engineering</a:t>
            </a:r>
            <a:r>
              <a:rPr b="0" baseline="30000" i="0" lang="en-US" sz="1550" u="none" cap="none" strike="noStrike">
                <a:solidFill>
                  <a:srgbClr val="E7E6E6"/>
                </a:solidFill>
                <a:latin typeface="Times New Roman"/>
                <a:ea typeface="Times New Roman"/>
                <a:cs typeface="Times New Roman"/>
                <a:sym typeface="Times New Roman"/>
              </a:rPr>
              <a:t>1</a:t>
            </a:r>
            <a:r>
              <a:rPr b="0" i="0" lang="en-US" sz="1550" u="none" cap="none" strike="noStrike">
                <a:solidFill>
                  <a:srgbClr val="E7E6E6"/>
                </a:solidFill>
                <a:latin typeface="Times New Roman"/>
                <a:ea typeface="Times New Roman"/>
                <a:cs typeface="Times New Roman"/>
                <a:sym typeface="Times New Roman"/>
              </a:rPr>
              <a:t>, Department of Animal Science</a:t>
            </a:r>
            <a:r>
              <a:rPr b="0" baseline="30000" i="0" lang="en-US" sz="1550" u="none" cap="none" strike="noStrike">
                <a:solidFill>
                  <a:srgbClr val="E7E6E6"/>
                </a:solidFill>
                <a:latin typeface="Times New Roman"/>
                <a:ea typeface="Times New Roman"/>
                <a:cs typeface="Times New Roman"/>
                <a:sym typeface="Times New Roman"/>
              </a:rPr>
              <a:t>2</a:t>
            </a:r>
            <a:endParaRPr b="0" baseline="30000" i="0" sz="2550" u="none" cap="none" strike="noStrike">
              <a:solidFill>
                <a:srgbClr val="000000"/>
              </a:solidFill>
              <a:latin typeface="Times New Roman"/>
              <a:ea typeface="Times New Roman"/>
              <a:cs typeface="Times New Roman"/>
              <a:sym typeface="Times New Roman"/>
            </a:endParaRPr>
          </a:p>
        </p:txBody>
      </p:sp>
      <p:pic>
        <p:nvPicPr>
          <p:cNvPr descr="The Water-Energy-Food Nexus with an Exploration of Gender Issues – Everyone  Needs to Eat: Introduction to Food Security and Global Agriculture" id="55" name="Google Shape;55;p1"/>
          <p:cNvPicPr preferRelativeResize="0"/>
          <p:nvPr/>
        </p:nvPicPr>
        <p:blipFill rotWithShape="1">
          <a:blip r:embed="rId9">
            <a:alphaModFix/>
          </a:blip>
          <a:srcRect b="0" l="0" r="0" t="0"/>
          <a:stretch/>
        </p:blipFill>
        <p:spPr>
          <a:xfrm>
            <a:off x="6953619" y="6043002"/>
            <a:ext cx="2339408" cy="2007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Aarav Pulsani</dc:creator>
</cp:coreProperties>
</file>