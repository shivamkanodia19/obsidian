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4"/>
  </p:sldMasterIdLst>
  <p:notesMasterIdLst>
    <p:notesMasterId r:id="rId5"/>
  </p:notesMasterIdLst>
  <p:sldIdLst>
    <p:sldId id="256" r:id="rId6"/>
  </p:sldIdLst>
  <p:sldSz cy="12928600" cx="20104100"/>
  <p:notesSz cx="20104100" cy="12928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969625"/>
            <a:ext cx="13403400" cy="48482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6141075"/>
            <a:ext cx="16083275" cy="58178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2010400" y="6141075"/>
            <a:ext cx="16083275" cy="5817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notes"/>
          <p:cNvSpPr/>
          <p:nvPr>
            <p:ph idx="2" type="sldImg"/>
          </p:nvPr>
        </p:nvSpPr>
        <p:spPr>
          <a:xfrm>
            <a:off x="3351350" y="969625"/>
            <a:ext cx="13403400" cy="48482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3" name="Shape 13"/>
        <p:cNvGrpSpPr/>
        <p:nvPr/>
      </p:nvGrpSpPr>
      <p:grpSpPr>
        <a:xfrm>
          <a:off x="0" y="0"/>
          <a:ext cx="0" cy="0"/>
          <a:chOff x="0" y="0"/>
          <a:chExt cx="0" cy="0"/>
        </a:xfrm>
      </p:grpSpPr>
      <p:sp>
        <p:nvSpPr>
          <p:cNvPr id="14" name="Google Shape;14;p2"/>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3"/>
          <p:cNvSpPr txBox="1"/>
          <p:nvPr>
            <p:ph type="ctrTitle"/>
          </p:nvPr>
        </p:nvSpPr>
        <p:spPr>
          <a:xfrm>
            <a:off x="1507807" y="4007866"/>
            <a:ext cx="17088486" cy="271500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3015615" y="7240016"/>
            <a:ext cx="14072870" cy="32321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3" name="Shape 23"/>
        <p:cNvGrpSpPr/>
        <p:nvPr/>
      </p:nvGrpSpPr>
      <p:grpSpPr>
        <a:xfrm>
          <a:off x="0" y="0"/>
          <a:ext cx="0" cy="0"/>
          <a:chOff x="0" y="0"/>
          <a:chExt cx="0" cy="0"/>
        </a:xfrm>
      </p:grpSpPr>
      <p:sp>
        <p:nvSpPr>
          <p:cNvPr id="24" name="Google Shape;24;p4"/>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1005205" y="2973578"/>
            <a:ext cx="18093690" cy="8532876"/>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4"/>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9" name="Shape 29"/>
        <p:cNvGrpSpPr/>
        <p:nvPr/>
      </p:nvGrpSpPr>
      <p:grpSpPr>
        <a:xfrm>
          <a:off x="0" y="0"/>
          <a:ext cx="0" cy="0"/>
          <a:chOff x="0" y="0"/>
          <a:chExt cx="0" cy="0"/>
        </a:xfrm>
      </p:grpSpPr>
      <p:sp>
        <p:nvSpPr>
          <p:cNvPr id="30" name="Google Shape;30;p5"/>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1005205" y="2973578"/>
            <a:ext cx="8745284" cy="8532876"/>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5"/>
          <p:cNvSpPr txBox="1"/>
          <p:nvPr>
            <p:ph idx="2" type="body"/>
          </p:nvPr>
        </p:nvSpPr>
        <p:spPr>
          <a:xfrm>
            <a:off x="10353611" y="2973578"/>
            <a:ext cx="8745284" cy="8532876"/>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5"/>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 name="Shape 36"/>
        <p:cNvGrpSpPr/>
        <p:nvPr/>
      </p:nvGrpSpPr>
      <p:grpSpPr>
        <a:xfrm>
          <a:off x="0" y="0"/>
          <a:ext cx="0" cy="0"/>
          <a:chOff x="0" y="0"/>
          <a:chExt cx="0" cy="0"/>
        </a:xfrm>
      </p:grpSpPr>
      <p:sp>
        <p:nvSpPr>
          <p:cNvPr id="37" name="Google Shape;37;p6"/>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20104100" cy="12924061"/>
          </a:xfrm>
          <a:prstGeom prst="rect">
            <a:avLst/>
          </a:prstGeom>
          <a:noFill/>
          <a:ln>
            <a:noFill/>
          </a:ln>
        </p:spPr>
      </p:pic>
      <p:sp>
        <p:nvSpPr>
          <p:cNvPr id="7" name="Google Shape;7;p1"/>
          <p:cNvSpPr/>
          <p:nvPr/>
        </p:nvSpPr>
        <p:spPr>
          <a:xfrm>
            <a:off x="1502123" y="0"/>
            <a:ext cx="18602325" cy="1376045"/>
          </a:xfrm>
          <a:custGeom>
            <a:rect b="b" l="l" r="r" t="t"/>
            <a:pathLst>
              <a:path extrusionOk="0" h="1376045" w="18602325">
                <a:moveTo>
                  <a:pt x="0" y="0"/>
                </a:moveTo>
                <a:lnTo>
                  <a:pt x="0" y="1375575"/>
                </a:lnTo>
                <a:lnTo>
                  <a:pt x="18601977" y="1375575"/>
                </a:lnTo>
                <a:lnTo>
                  <a:pt x="18601977" y="0"/>
                </a:lnTo>
                <a:lnTo>
                  <a:pt x="0" y="0"/>
                </a:lnTo>
                <a:close/>
              </a:path>
            </a:pathLst>
          </a:custGeom>
          <a:solidFill>
            <a:srgbClr val="5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 name="Google Shape;8;p1"/>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1005205" y="2973578"/>
            <a:ext cx="18093690" cy="8532876"/>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1"/>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8.jpg"/><Relationship Id="rId9" Type="http://schemas.openxmlformats.org/officeDocument/2006/relationships/image" Target="../media/image2.png"/><Relationship Id="rId5" Type="http://schemas.openxmlformats.org/officeDocument/2006/relationships/image" Target="../media/image6.jpg"/><Relationship Id="rId6" Type="http://schemas.openxmlformats.org/officeDocument/2006/relationships/image" Target="../media/image7.jpg"/><Relationship Id="rId7" Type="http://schemas.openxmlformats.org/officeDocument/2006/relationships/image" Target="../media/image3.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7"/>
          <p:cNvSpPr/>
          <p:nvPr/>
        </p:nvSpPr>
        <p:spPr>
          <a:xfrm>
            <a:off x="4892496" y="7462001"/>
            <a:ext cx="3595370" cy="546100"/>
          </a:xfrm>
          <a:custGeom>
            <a:rect b="b" l="l" r="r" t="t"/>
            <a:pathLst>
              <a:path extrusionOk="0" h="546100" w="3595370">
                <a:moveTo>
                  <a:pt x="0" y="545732"/>
                </a:moveTo>
                <a:lnTo>
                  <a:pt x="3595253" y="545732"/>
                </a:lnTo>
                <a:lnTo>
                  <a:pt x="3595253" y="0"/>
                </a:lnTo>
                <a:lnTo>
                  <a:pt x="0" y="0"/>
                </a:lnTo>
                <a:lnTo>
                  <a:pt x="0" y="545732"/>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 name="Google Shape;46;p7"/>
          <p:cNvSpPr txBox="1"/>
          <p:nvPr/>
        </p:nvSpPr>
        <p:spPr>
          <a:xfrm>
            <a:off x="7017260" y="503830"/>
            <a:ext cx="5760000" cy="888000"/>
          </a:xfrm>
          <a:prstGeom prst="rect">
            <a:avLst/>
          </a:prstGeom>
          <a:noFill/>
          <a:ln>
            <a:noFill/>
          </a:ln>
        </p:spPr>
        <p:txBody>
          <a:bodyPr anchorCtr="0" anchor="t" bIns="0" lIns="0" spcFirstLastPara="1" rIns="0" wrap="square" tIns="11425">
            <a:spAutoFit/>
          </a:bodyPr>
          <a:lstStyle/>
          <a:p>
            <a:pPr indent="-628015" lvl="0" marL="678180" marR="43180" rtl="0" algn="ctr">
              <a:lnSpc>
                <a:spcPct val="101400"/>
              </a:lnSpc>
              <a:spcBef>
                <a:spcPts val="0"/>
              </a:spcBef>
              <a:spcAft>
                <a:spcPts val="0"/>
              </a:spcAft>
              <a:buNone/>
            </a:pPr>
            <a:r>
              <a:rPr i="1" lang="en-US" sz="1550">
                <a:solidFill>
                  <a:schemeClr val="lt1"/>
                </a:solidFill>
                <a:latin typeface="Times New Roman"/>
                <a:ea typeface="Times New Roman"/>
                <a:cs typeface="Times New Roman"/>
                <a:sym typeface="Times New Roman"/>
              </a:rPr>
              <a:t>Neil Khera, Aarav Pulsani,  Aparna Pushkaran Ajitha, Karun Kaniyamatta</a:t>
            </a:r>
            <a:r>
              <a:rPr i="1" lang="en-US" sz="1550">
                <a:solidFill>
                  <a:schemeClr val="lt1"/>
                </a:solidFill>
                <a:latin typeface="Times New Roman"/>
                <a:ea typeface="Times New Roman"/>
                <a:cs typeface="Times New Roman"/>
                <a:sym typeface="Times New Roman"/>
              </a:rPr>
              <a:t>n</a:t>
            </a:r>
            <a:r>
              <a:rPr baseline="30000" lang="en-US" sz="1550">
                <a:solidFill>
                  <a:schemeClr val="lt1"/>
                </a:solidFill>
                <a:latin typeface="Times New Roman"/>
                <a:ea typeface="Times New Roman"/>
                <a:cs typeface="Times New Roman"/>
                <a:sym typeface="Times New Roman"/>
              </a:rPr>
              <a:t> </a:t>
            </a:r>
            <a:endParaRPr baseline="30000" sz="1550">
              <a:solidFill>
                <a:schemeClr val="lt1"/>
              </a:solidFill>
              <a:latin typeface="Times New Roman"/>
              <a:ea typeface="Times New Roman"/>
              <a:cs typeface="Times New Roman"/>
              <a:sym typeface="Times New Roman"/>
            </a:endParaRPr>
          </a:p>
          <a:p>
            <a:pPr indent="-628015" lvl="0" marL="1135380" marR="43180" rtl="0" algn="ctr">
              <a:lnSpc>
                <a:spcPct val="101400"/>
              </a:lnSpc>
              <a:spcBef>
                <a:spcPts val="0"/>
              </a:spcBef>
              <a:spcAft>
                <a:spcPts val="0"/>
              </a:spcAft>
              <a:buNone/>
            </a:pPr>
            <a:r>
              <a:rPr lang="en-US" sz="1550">
                <a:solidFill>
                  <a:srgbClr val="E7E6E6"/>
                </a:solidFill>
                <a:latin typeface="Times New Roman"/>
                <a:ea typeface="Times New Roman"/>
                <a:cs typeface="Times New Roman"/>
                <a:sym typeface="Times New Roman"/>
              </a:rPr>
              <a:t>Department of Animal Science, Texas A&amp;M University</a:t>
            </a:r>
            <a:r>
              <a:rPr baseline="30000" lang="en-US" sz="2550">
                <a:solidFill>
                  <a:srgbClr val="E7E6E6"/>
                </a:solidFill>
                <a:latin typeface="Times New Roman"/>
                <a:ea typeface="Times New Roman"/>
                <a:cs typeface="Times New Roman"/>
                <a:sym typeface="Times New Roman"/>
              </a:rPr>
              <a:t>1</a:t>
            </a:r>
            <a:endParaRPr baseline="30000" sz="2550">
              <a:latin typeface="Times New Roman"/>
              <a:ea typeface="Times New Roman"/>
              <a:cs typeface="Times New Roman"/>
              <a:sym typeface="Times New Roman"/>
            </a:endParaRPr>
          </a:p>
        </p:txBody>
      </p:sp>
      <p:sp>
        <p:nvSpPr>
          <p:cNvPr id="47" name="Google Shape;47;p7"/>
          <p:cNvSpPr txBox="1"/>
          <p:nvPr/>
        </p:nvSpPr>
        <p:spPr>
          <a:xfrm>
            <a:off x="0" y="-40000"/>
            <a:ext cx="19037100" cy="906900"/>
          </a:xfrm>
          <a:prstGeom prst="rect">
            <a:avLst/>
          </a:prstGeom>
          <a:noFill/>
          <a:ln>
            <a:noFill/>
          </a:ln>
        </p:spPr>
        <p:txBody>
          <a:bodyPr anchorCtr="0" anchor="t" bIns="0" lIns="0" spcFirstLastPara="1" rIns="0" wrap="square" tIns="13325">
            <a:spAutoFit/>
          </a:bodyPr>
          <a:lstStyle/>
          <a:p>
            <a:pPr indent="0" lvl="0" marL="0" rtl="0" algn="ctr">
              <a:lnSpc>
                <a:spcPct val="115000"/>
              </a:lnSpc>
              <a:spcBef>
                <a:spcPts val="0"/>
              </a:spcBef>
              <a:spcAft>
                <a:spcPts val="0"/>
              </a:spcAft>
              <a:buClr>
                <a:schemeClr val="dk1"/>
              </a:buClr>
              <a:buSzPts val="1100"/>
              <a:buFont typeface="Arial"/>
              <a:buNone/>
            </a:pPr>
            <a:r>
              <a:rPr b="1" lang="en-US" sz="2700">
                <a:solidFill>
                  <a:schemeClr val="lt1"/>
                </a:solidFill>
                <a:latin typeface="Times New Roman"/>
                <a:ea typeface="Times New Roman"/>
                <a:cs typeface="Times New Roman"/>
                <a:sym typeface="Times New Roman"/>
              </a:rPr>
              <a:t>Modeling Resource Flows in Dairy Production: A Systems Dynamics Approach to the WEF Nexus</a:t>
            </a:r>
            <a:endParaRPr b="1" sz="2700">
              <a:solidFill>
                <a:schemeClr val="lt1"/>
              </a:solidFill>
              <a:latin typeface="Times New Roman"/>
              <a:ea typeface="Times New Roman"/>
              <a:cs typeface="Times New Roman"/>
              <a:sym typeface="Times New Roman"/>
            </a:endParaRPr>
          </a:p>
          <a:p>
            <a:pPr indent="0" lvl="0" marL="12700" rtl="0" algn="l">
              <a:lnSpc>
                <a:spcPct val="100000"/>
              </a:lnSpc>
              <a:spcBef>
                <a:spcPts val="0"/>
              </a:spcBef>
              <a:spcAft>
                <a:spcPts val="0"/>
              </a:spcAft>
              <a:buNone/>
            </a:pPr>
            <a:r>
              <a:t/>
            </a:r>
            <a:endParaRPr sz="2700">
              <a:solidFill>
                <a:schemeClr val="lt1"/>
              </a:solidFill>
              <a:latin typeface="Times New Roman"/>
              <a:ea typeface="Times New Roman"/>
              <a:cs typeface="Times New Roman"/>
              <a:sym typeface="Times New Roman"/>
            </a:endParaRPr>
          </a:p>
        </p:txBody>
      </p:sp>
      <p:sp>
        <p:nvSpPr>
          <p:cNvPr id="48" name="Google Shape;48;p7"/>
          <p:cNvSpPr txBox="1"/>
          <p:nvPr/>
        </p:nvSpPr>
        <p:spPr>
          <a:xfrm>
            <a:off x="19550826" y="10904349"/>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49" name="Google Shape;49;p7"/>
          <p:cNvSpPr txBox="1"/>
          <p:nvPr/>
        </p:nvSpPr>
        <p:spPr>
          <a:xfrm>
            <a:off x="14717021" y="12097236"/>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50" name="Google Shape;50;p7"/>
          <p:cNvSpPr txBox="1"/>
          <p:nvPr/>
        </p:nvSpPr>
        <p:spPr>
          <a:xfrm>
            <a:off x="17491169" y="12175585"/>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51" name="Google Shape;51;p7"/>
          <p:cNvSpPr txBox="1"/>
          <p:nvPr/>
        </p:nvSpPr>
        <p:spPr>
          <a:xfrm>
            <a:off x="10452372" y="12214400"/>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808000"/>
                </a:solidFill>
                <a:latin typeface="Arial"/>
                <a:ea typeface="Arial"/>
                <a:cs typeface="Arial"/>
                <a:sym typeface="Arial"/>
              </a:rPr>
              <a:t>+</a:t>
            </a:r>
            <a:endParaRPr sz="550">
              <a:latin typeface="Arial"/>
              <a:ea typeface="Arial"/>
              <a:cs typeface="Arial"/>
              <a:sym typeface="Arial"/>
            </a:endParaRPr>
          </a:p>
        </p:txBody>
      </p:sp>
      <p:sp>
        <p:nvSpPr>
          <p:cNvPr id="52" name="Google Shape;52;p7"/>
          <p:cNvSpPr txBox="1"/>
          <p:nvPr/>
        </p:nvSpPr>
        <p:spPr>
          <a:xfrm>
            <a:off x="9085857" y="10540815"/>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808000"/>
                </a:solidFill>
                <a:latin typeface="Arial"/>
                <a:ea typeface="Arial"/>
                <a:cs typeface="Arial"/>
                <a:sym typeface="Arial"/>
              </a:rPr>
              <a:t>+</a:t>
            </a:r>
            <a:endParaRPr sz="550">
              <a:latin typeface="Arial"/>
              <a:ea typeface="Arial"/>
              <a:cs typeface="Arial"/>
              <a:sym typeface="Arial"/>
            </a:endParaRPr>
          </a:p>
        </p:txBody>
      </p:sp>
      <p:sp>
        <p:nvSpPr>
          <p:cNvPr id="53" name="Google Shape;53;p7"/>
          <p:cNvSpPr txBox="1"/>
          <p:nvPr/>
        </p:nvSpPr>
        <p:spPr>
          <a:xfrm>
            <a:off x="8996949" y="8212204"/>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008080"/>
                </a:solidFill>
                <a:latin typeface="Arial"/>
                <a:ea typeface="Arial"/>
                <a:cs typeface="Arial"/>
                <a:sym typeface="Arial"/>
              </a:rPr>
              <a:t>+</a:t>
            </a:r>
            <a:endParaRPr sz="550">
              <a:latin typeface="Arial"/>
              <a:ea typeface="Arial"/>
              <a:cs typeface="Arial"/>
              <a:sym typeface="Arial"/>
            </a:endParaRPr>
          </a:p>
        </p:txBody>
      </p:sp>
      <p:grpSp>
        <p:nvGrpSpPr>
          <p:cNvPr id="54" name="Google Shape;54;p7"/>
          <p:cNvGrpSpPr/>
          <p:nvPr/>
        </p:nvGrpSpPr>
        <p:grpSpPr>
          <a:xfrm>
            <a:off x="0" y="1394721"/>
            <a:ext cx="20104100" cy="1967364"/>
            <a:chOff x="0" y="1394721"/>
            <a:chExt cx="20104100" cy="1967364"/>
          </a:xfrm>
        </p:grpSpPr>
        <p:sp>
          <p:nvSpPr>
            <p:cNvPr id="55" name="Google Shape;55;p7"/>
            <p:cNvSpPr/>
            <p:nvPr/>
          </p:nvSpPr>
          <p:spPr>
            <a:xfrm>
              <a:off x="0" y="1394721"/>
              <a:ext cx="20104100" cy="889000"/>
            </a:xfrm>
            <a:custGeom>
              <a:rect b="b" l="l" r="r" t="t"/>
              <a:pathLst>
                <a:path extrusionOk="0" h="889000" w="20104100">
                  <a:moveTo>
                    <a:pt x="20104100" y="0"/>
                  </a:moveTo>
                  <a:lnTo>
                    <a:pt x="0" y="0"/>
                  </a:lnTo>
                  <a:lnTo>
                    <a:pt x="0" y="888529"/>
                  </a:lnTo>
                  <a:lnTo>
                    <a:pt x="20104100" y="888529"/>
                  </a:lnTo>
                </a:path>
              </a:pathLst>
            </a:custGeom>
            <a:noFill/>
            <a:ln cap="flat" cmpd="sng" w="29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6" name="Google Shape;56;p7"/>
            <p:cNvSpPr/>
            <p:nvPr/>
          </p:nvSpPr>
          <p:spPr>
            <a:xfrm>
              <a:off x="0" y="2291428"/>
              <a:ext cx="20104100" cy="649605"/>
            </a:xfrm>
            <a:custGeom>
              <a:rect b="b" l="l" r="r" t="t"/>
              <a:pathLst>
                <a:path extrusionOk="0" h="649605" w="20104100">
                  <a:moveTo>
                    <a:pt x="20103700" y="0"/>
                  </a:moveTo>
                  <a:lnTo>
                    <a:pt x="0" y="0"/>
                  </a:lnTo>
                  <a:lnTo>
                    <a:pt x="0" y="649095"/>
                  </a:lnTo>
                  <a:lnTo>
                    <a:pt x="20103700" y="649095"/>
                  </a:lnTo>
                  <a:lnTo>
                    <a:pt x="20103700" y="0"/>
                  </a:lnTo>
                  <a:close/>
                </a:path>
              </a:pathLst>
            </a:custGeom>
            <a:solidFill>
              <a:srgbClr val="FAE4D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7" name="Google Shape;57;p7"/>
            <p:cNvSpPr/>
            <p:nvPr/>
          </p:nvSpPr>
          <p:spPr>
            <a:xfrm>
              <a:off x="0" y="2291428"/>
              <a:ext cx="20104100" cy="649605"/>
            </a:xfrm>
            <a:custGeom>
              <a:rect b="b" l="l" r="r" t="t"/>
              <a:pathLst>
                <a:path extrusionOk="0" h="649605" w="20104100">
                  <a:moveTo>
                    <a:pt x="0" y="649095"/>
                  </a:moveTo>
                  <a:lnTo>
                    <a:pt x="20103700" y="649095"/>
                  </a:lnTo>
                  <a:lnTo>
                    <a:pt x="20103700" y="0"/>
                  </a:lnTo>
                  <a:lnTo>
                    <a:pt x="0" y="0"/>
                  </a:lnTo>
                  <a:lnTo>
                    <a:pt x="0" y="649095"/>
                  </a:lnTo>
                  <a:close/>
                </a:path>
              </a:pathLst>
            </a:custGeom>
            <a:noFill/>
            <a:ln cap="flat" cmpd="sng" w="14950">
              <a:solidFill>
                <a:srgbClr val="172C5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8" name="Google Shape;58;p7"/>
            <p:cNvSpPr/>
            <p:nvPr/>
          </p:nvSpPr>
          <p:spPr>
            <a:xfrm>
              <a:off x="0" y="2952510"/>
              <a:ext cx="8470900" cy="409575"/>
            </a:xfrm>
            <a:custGeom>
              <a:rect b="b" l="l" r="r" t="t"/>
              <a:pathLst>
                <a:path extrusionOk="0" h="409575" w="8470900">
                  <a:moveTo>
                    <a:pt x="0" y="409042"/>
                  </a:moveTo>
                  <a:lnTo>
                    <a:pt x="8470696" y="409042"/>
                  </a:lnTo>
                  <a:lnTo>
                    <a:pt x="8470696" y="0"/>
                  </a:lnTo>
                  <a:lnTo>
                    <a:pt x="0" y="0"/>
                  </a:lnTo>
                  <a:lnTo>
                    <a:pt x="0" y="409042"/>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59" name="Google Shape;59;p7"/>
          <p:cNvSpPr txBox="1"/>
          <p:nvPr/>
        </p:nvSpPr>
        <p:spPr>
          <a:xfrm>
            <a:off x="152800" y="3505425"/>
            <a:ext cx="5089800" cy="574800"/>
          </a:xfrm>
          <a:prstGeom prst="rect">
            <a:avLst/>
          </a:prstGeom>
          <a:noFill/>
          <a:ln>
            <a:noFill/>
          </a:ln>
        </p:spPr>
        <p:txBody>
          <a:bodyPr anchorCtr="0" anchor="t" bIns="0" lIns="0" spcFirstLastPara="1" rIns="0" wrap="square" tIns="12050">
            <a:spAutoFit/>
          </a:bodyPr>
          <a:lstStyle/>
          <a:p>
            <a:pPr indent="0" lvl="0" marL="0" rtl="0" algn="l">
              <a:lnSpc>
                <a:spcPct val="115000"/>
              </a:lnSpc>
              <a:spcBef>
                <a:spcPts val="0"/>
              </a:spcBef>
              <a:spcAft>
                <a:spcPts val="0"/>
              </a:spcAft>
              <a:buNone/>
            </a:pPr>
            <a:r>
              <a:t/>
            </a:r>
            <a:endParaRPr sz="1700">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sz="1700">
              <a:latin typeface="Times New Roman"/>
              <a:ea typeface="Times New Roman"/>
              <a:cs typeface="Times New Roman"/>
              <a:sym typeface="Times New Roman"/>
            </a:endParaRPr>
          </a:p>
        </p:txBody>
      </p:sp>
      <p:sp>
        <p:nvSpPr>
          <p:cNvPr id="60" name="Google Shape;60;p7"/>
          <p:cNvSpPr txBox="1"/>
          <p:nvPr/>
        </p:nvSpPr>
        <p:spPr>
          <a:xfrm>
            <a:off x="266000" y="3434725"/>
            <a:ext cx="3215100" cy="4145400"/>
          </a:xfrm>
          <a:prstGeom prst="rect">
            <a:avLst/>
          </a:prstGeom>
          <a:noFill/>
          <a:ln>
            <a:noFill/>
          </a:ln>
        </p:spPr>
        <p:txBody>
          <a:bodyPr anchorCtr="0" anchor="t" bIns="0" lIns="0" spcFirstLastPara="1" rIns="0" wrap="square" tIns="12050">
            <a:spAutoFit/>
          </a:bodyPr>
          <a:lstStyle/>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Rising input costs and environmental pressures demand more efficient resource use in dairy production (WEF Nexus Framework)</a:t>
            </a:r>
            <a:endParaRPr>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a:latin typeface="Times New Roman"/>
              <a:ea typeface="Times New Roman"/>
              <a:cs typeface="Times New Roman"/>
              <a:sym typeface="Times New Roman"/>
            </a:endParaRPr>
          </a:p>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Feed costs comprise the largest share of production expenses, followed by energy and water</a:t>
            </a:r>
            <a:endParaRPr>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a:latin typeface="Times New Roman"/>
              <a:ea typeface="Times New Roman"/>
              <a:cs typeface="Times New Roman"/>
              <a:sym typeface="Times New Roman"/>
            </a:endParaRPr>
          </a:p>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Integrated WEF management strategies estimated to reduce input costs by 8–15%</a:t>
            </a:r>
            <a:endParaRPr>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a:latin typeface="Times New Roman"/>
              <a:ea typeface="Times New Roman"/>
              <a:cs typeface="Times New Roman"/>
              <a:sym typeface="Times New Roman"/>
            </a:endParaRPr>
          </a:p>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Energy price volatility has the greatest marginal impact on farm profitability</a:t>
            </a:r>
            <a:endParaRPr>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a:latin typeface="Times New Roman"/>
              <a:ea typeface="Times New Roman"/>
              <a:cs typeface="Times New Roman"/>
              <a:sym typeface="Times New Roman"/>
            </a:endParaRPr>
          </a:p>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Enterprise and partial budgeting frameworks applied to assess cost structures across varying herd sizes</a:t>
            </a:r>
            <a:endParaRPr>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a:latin typeface="Times New Roman"/>
              <a:ea typeface="Times New Roman"/>
              <a:cs typeface="Times New Roman"/>
              <a:sym typeface="Times New Roman"/>
            </a:endParaRPr>
          </a:p>
        </p:txBody>
      </p:sp>
      <p:sp>
        <p:nvSpPr>
          <p:cNvPr id="61" name="Google Shape;61;p7"/>
          <p:cNvSpPr txBox="1"/>
          <p:nvPr/>
        </p:nvSpPr>
        <p:spPr>
          <a:xfrm>
            <a:off x="108299" y="5681471"/>
            <a:ext cx="4745400" cy="227700"/>
          </a:xfrm>
          <a:prstGeom prst="rect">
            <a:avLst/>
          </a:prstGeom>
          <a:noFill/>
          <a:ln>
            <a:noFill/>
          </a:ln>
        </p:spPr>
        <p:txBody>
          <a:bodyPr anchorCtr="0" anchor="t" bIns="0" lIns="0" spcFirstLastPara="1" rIns="0" wrap="square" tIns="12050">
            <a:spAutoFit/>
          </a:bodyPr>
          <a:lstStyle/>
          <a:p>
            <a:pPr indent="0" lvl="0" marL="0" marR="5080" rtl="0" algn="l">
              <a:lnSpc>
                <a:spcPct val="101000"/>
              </a:lnSpc>
              <a:spcBef>
                <a:spcPts val="0"/>
              </a:spcBef>
              <a:spcAft>
                <a:spcPts val="0"/>
              </a:spcAft>
              <a:buNone/>
            </a:pPr>
            <a:r>
              <a:t/>
            </a:r>
            <a:endParaRPr sz="1400">
              <a:latin typeface="Times New Roman"/>
              <a:ea typeface="Times New Roman"/>
              <a:cs typeface="Times New Roman"/>
              <a:sym typeface="Times New Roman"/>
            </a:endParaRPr>
          </a:p>
        </p:txBody>
      </p:sp>
      <p:grpSp>
        <p:nvGrpSpPr>
          <p:cNvPr id="62" name="Google Shape;62;p7"/>
          <p:cNvGrpSpPr/>
          <p:nvPr/>
        </p:nvGrpSpPr>
        <p:grpSpPr>
          <a:xfrm>
            <a:off x="0" y="3358960"/>
            <a:ext cx="8470900" cy="9565263"/>
            <a:chOff x="0" y="3358960"/>
            <a:chExt cx="8470900" cy="9565263"/>
          </a:xfrm>
        </p:grpSpPr>
        <p:sp>
          <p:nvSpPr>
            <p:cNvPr id="63" name="Google Shape;63;p7"/>
            <p:cNvSpPr/>
            <p:nvPr/>
          </p:nvSpPr>
          <p:spPr>
            <a:xfrm>
              <a:off x="0" y="3358960"/>
              <a:ext cx="8470900" cy="4077970"/>
            </a:xfrm>
            <a:custGeom>
              <a:rect b="b" l="l" r="r" t="t"/>
              <a:pathLst>
                <a:path extrusionOk="0" h="4077970" w="8470900">
                  <a:moveTo>
                    <a:pt x="0" y="4077761"/>
                  </a:moveTo>
                  <a:lnTo>
                    <a:pt x="8470716" y="4077761"/>
                  </a:lnTo>
                  <a:lnTo>
                    <a:pt x="8470716" y="0"/>
                  </a:lnTo>
                  <a:lnTo>
                    <a:pt x="0" y="0"/>
                  </a:lnTo>
                </a:path>
              </a:pathLst>
            </a:custGeom>
            <a:noFill/>
            <a:ln cap="flat" cmpd="sng" w="9525">
              <a:solidFill>
                <a:srgbClr val="43434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descr="A cow and water supply  AI-generated content may be incorrect." id="64" name="Google Shape;64;p7"/>
            <p:cNvPicPr preferRelativeResize="0"/>
            <p:nvPr/>
          </p:nvPicPr>
          <p:blipFill rotWithShape="1">
            <a:blip r:embed="rId3">
              <a:alphaModFix/>
            </a:blip>
            <a:srcRect b="0" l="0" r="0" t="0"/>
            <a:stretch/>
          </p:blipFill>
          <p:spPr>
            <a:xfrm>
              <a:off x="4052891" y="3998562"/>
              <a:ext cx="3868942" cy="3168340"/>
            </a:xfrm>
            <a:prstGeom prst="rect">
              <a:avLst/>
            </a:prstGeom>
            <a:noFill/>
            <a:ln>
              <a:noFill/>
            </a:ln>
          </p:spPr>
        </p:pic>
        <p:pic>
          <p:nvPicPr>
            <p:cNvPr descr="A diagram of a software model  AI-generated content may be incorrect." id="65" name="Google Shape;65;p7"/>
            <p:cNvPicPr preferRelativeResize="0"/>
            <p:nvPr/>
          </p:nvPicPr>
          <p:blipFill rotWithShape="1">
            <a:blip r:embed="rId4">
              <a:alphaModFix/>
            </a:blip>
            <a:srcRect b="0" l="0" r="0" t="0"/>
            <a:stretch/>
          </p:blipFill>
          <p:spPr>
            <a:xfrm>
              <a:off x="0" y="7958221"/>
              <a:ext cx="4862978" cy="4035728"/>
            </a:xfrm>
            <a:prstGeom prst="rect">
              <a:avLst/>
            </a:prstGeom>
            <a:noFill/>
            <a:ln>
              <a:noFill/>
            </a:ln>
          </p:spPr>
        </p:pic>
        <p:sp>
          <p:nvSpPr>
            <p:cNvPr id="66" name="Google Shape;66;p7"/>
            <p:cNvSpPr/>
            <p:nvPr/>
          </p:nvSpPr>
          <p:spPr>
            <a:xfrm>
              <a:off x="19883" y="11993948"/>
              <a:ext cx="4853940" cy="930275"/>
            </a:xfrm>
            <a:custGeom>
              <a:rect b="b" l="l" r="r" t="t"/>
              <a:pathLst>
                <a:path extrusionOk="0" h="930275" w="4853940">
                  <a:moveTo>
                    <a:pt x="0" y="930113"/>
                  </a:moveTo>
                  <a:lnTo>
                    <a:pt x="4853803" y="930113"/>
                  </a:lnTo>
                  <a:lnTo>
                    <a:pt x="4853803" y="0"/>
                  </a:lnTo>
                  <a:lnTo>
                    <a:pt x="0" y="0"/>
                  </a:lnTo>
                  <a:lnTo>
                    <a:pt x="0" y="930113"/>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67" name="Google Shape;67;p7"/>
          <p:cNvSpPr txBox="1"/>
          <p:nvPr/>
        </p:nvSpPr>
        <p:spPr>
          <a:xfrm>
            <a:off x="552378" y="7519058"/>
            <a:ext cx="3715385" cy="34861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MATERIALS AND METHODS</a:t>
            </a:r>
            <a:endParaRPr sz="2100">
              <a:latin typeface="Times New Roman"/>
              <a:ea typeface="Times New Roman"/>
              <a:cs typeface="Times New Roman"/>
              <a:sym typeface="Times New Roman"/>
            </a:endParaRPr>
          </a:p>
        </p:txBody>
      </p:sp>
      <p:sp>
        <p:nvSpPr>
          <p:cNvPr id="68" name="Google Shape;68;p7"/>
          <p:cNvSpPr/>
          <p:nvPr/>
        </p:nvSpPr>
        <p:spPr>
          <a:xfrm>
            <a:off x="8454242" y="2935069"/>
            <a:ext cx="11637645" cy="424180"/>
          </a:xfrm>
          <a:custGeom>
            <a:rect b="b" l="l" r="r" t="t"/>
            <a:pathLst>
              <a:path extrusionOk="0" h="424179" w="11637644">
                <a:moveTo>
                  <a:pt x="0" y="423891"/>
                </a:moveTo>
                <a:lnTo>
                  <a:pt x="11637441" y="423891"/>
                </a:lnTo>
                <a:lnTo>
                  <a:pt x="11637441" y="0"/>
                </a:lnTo>
                <a:lnTo>
                  <a:pt x="0" y="0"/>
                </a:lnTo>
                <a:lnTo>
                  <a:pt x="0" y="423891"/>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9" name="Google Shape;69;p7"/>
          <p:cNvSpPr txBox="1"/>
          <p:nvPr/>
        </p:nvSpPr>
        <p:spPr>
          <a:xfrm>
            <a:off x="23200" y="1430736"/>
            <a:ext cx="20056500" cy="2004000"/>
          </a:xfrm>
          <a:prstGeom prst="rect">
            <a:avLst/>
          </a:prstGeom>
          <a:noFill/>
          <a:ln>
            <a:noFill/>
          </a:ln>
        </p:spPr>
        <p:txBody>
          <a:bodyPr anchorCtr="0" anchor="t" bIns="0" lIns="0" spcFirstLastPara="1" rIns="0" wrap="square" tIns="12050">
            <a:spAutoFit/>
          </a:bodyPr>
          <a:lstStyle/>
          <a:p>
            <a:pPr indent="0" lvl="0" marL="199390" marR="59690" rtl="0" algn="just">
              <a:lnSpc>
                <a:spcPct val="101299"/>
              </a:lnSpc>
              <a:spcBef>
                <a:spcPts val="0"/>
              </a:spcBef>
              <a:spcAft>
                <a:spcPts val="0"/>
              </a:spcAft>
              <a:buNone/>
            </a:pPr>
            <a:r>
              <a:rPr b="1" lang="en-US" sz="1550">
                <a:latin typeface="Times New Roman"/>
                <a:ea typeface="Times New Roman"/>
                <a:cs typeface="Times New Roman"/>
                <a:sym typeface="Times New Roman"/>
              </a:rPr>
              <a:t>SUMMARY</a:t>
            </a:r>
            <a:r>
              <a:rPr lang="en-US" sz="1550">
                <a:latin typeface="Times New Roman"/>
                <a:ea typeface="Times New Roman"/>
                <a:cs typeface="Times New Roman"/>
                <a:sym typeface="Times New Roman"/>
              </a:rPr>
              <a:t>: </a:t>
            </a:r>
            <a:r>
              <a:rPr lang="en-US" sz="1550">
                <a:latin typeface="Times New Roman"/>
                <a:ea typeface="Times New Roman"/>
                <a:cs typeface="Times New Roman"/>
                <a:sym typeface="Times New Roman"/>
              </a:rPr>
              <a:t>This study develops a Vensim PLE system dynamics model of small and mid-size Texas dairy farms, simulating Farm Financial Capital, Installed Efficiency Capital, Herd Size, and Debt Level within a WEF nexus framework. Key auxiliary variables include input costs per hundredweight, cash flow, and reinvestment rate. Baseline simulations reveal reinforcing feedback loops where lower resource costs improve margins and enable further efficiency investment. Integrated WEF management reduces input costs by 8-15%, improving long-run financial resilience. Future work will incorporate AI-driven analytics and expanded farm-level data to refine recommendations.</a:t>
            </a:r>
            <a:endParaRPr sz="1550">
              <a:latin typeface="Times New Roman"/>
              <a:ea typeface="Times New Roman"/>
              <a:cs typeface="Times New Roman"/>
              <a:sym typeface="Times New Roman"/>
            </a:endParaRPr>
          </a:p>
          <a:p>
            <a:pPr indent="0" lvl="0" marL="12700" marR="5080" rtl="0" algn="l">
              <a:lnSpc>
                <a:spcPct val="101299"/>
              </a:lnSpc>
              <a:spcBef>
                <a:spcPts val="1639"/>
              </a:spcBef>
              <a:spcAft>
                <a:spcPts val="0"/>
              </a:spcAft>
              <a:buNone/>
            </a:pPr>
            <a:r>
              <a:rPr b="1" lang="en-US" sz="1550">
                <a:solidFill>
                  <a:srgbClr val="C00000"/>
                </a:solidFill>
                <a:latin typeface="Times New Roman"/>
                <a:ea typeface="Times New Roman"/>
                <a:cs typeface="Times New Roman"/>
                <a:sym typeface="Times New Roman"/>
              </a:rPr>
              <a:t>Dynamic hypothesis: </a:t>
            </a:r>
            <a:r>
              <a:rPr lang="en-US" sz="1200">
                <a:solidFill>
                  <a:schemeClr val="dk1"/>
                </a:solidFill>
              </a:rPr>
              <a:t>Adoption of integrated WEF‑based resource strategies in Texas dairy production, such as improving water‑use efficiency, investing in more energy‑efficient milking and cooling systems, and aligning family and hired labor use with herd size, will strengthen positive economic feedbacks between lower input costs per hundredweight, stronger cash flow, and the capacity to reinvest in further cost‑saving technologies and management practices, leading to improved profitability and greater long‑run financial resilience of small and mid‑size dairy farms.</a:t>
            </a:r>
            <a:endParaRPr b="1" sz="1550">
              <a:solidFill>
                <a:srgbClr val="001F5F"/>
              </a:solidFill>
              <a:latin typeface="Times New Roman"/>
              <a:ea typeface="Times New Roman"/>
              <a:cs typeface="Times New Roman"/>
              <a:sym typeface="Times New Roman"/>
            </a:endParaRPr>
          </a:p>
          <a:p>
            <a:pPr indent="0" lvl="0" marL="0" marR="408305" rtl="0" algn="l">
              <a:lnSpc>
                <a:spcPct val="100000"/>
              </a:lnSpc>
              <a:spcBef>
                <a:spcPts val="1115"/>
              </a:spcBef>
              <a:spcAft>
                <a:spcPts val="0"/>
              </a:spcAft>
              <a:buNone/>
            </a:pPr>
            <a:r>
              <a:rPr b="1" lang="en-US" sz="2100">
                <a:solidFill>
                  <a:srgbClr val="500000"/>
                </a:solidFill>
                <a:latin typeface="Times New Roman"/>
                <a:ea typeface="Times New Roman"/>
                <a:cs typeface="Times New Roman"/>
                <a:sym typeface="Times New Roman"/>
              </a:rPr>
              <a:t>	</a:t>
            </a:r>
            <a:r>
              <a:rPr b="1" baseline="30000" lang="en-US" sz="3150">
                <a:solidFill>
                  <a:srgbClr val="500000"/>
                </a:solidFill>
                <a:latin typeface="Times New Roman"/>
                <a:ea typeface="Times New Roman"/>
                <a:cs typeface="Times New Roman"/>
                <a:sym typeface="Times New Roman"/>
              </a:rPr>
              <a:t>						</a:t>
            </a:r>
            <a:r>
              <a:rPr b="1" baseline="30000" lang="en-US" sz="3150">
                <a:solidFill>
                  <a:srgbClr val="500000"/>
                </a:solidFill>
                <a:latin typeface="Times New Roman"/>
                <a:ea typeface="Times New Roman"/>
                <a:cs typeface="Times New Roman"/>
                <a:sym typeface="Times New Roman"/>
              </a:rPr>
              <a:t>INTRODUCTION																RESULT: CAUSAL LOOP DIAGRAM</a:t>
            </a:r>
            <a:endParaRPr baseline="30000" sz="3150">
              <a:latin typeface="Times New Roman"/>
              <a:ea typeface="Times New Roman"/>
              <a:cs typeface="Times New Roman"/>
              <a:sym typeface="Times New Roman"/>
            </a:endParaRPr>
          </a:p>
        </p:txBody>
      </p:sp>
      <p:grpSp>
        <p:nvGrpSpPr>
          <p:cNvPr id="70" name="Google Shape;70;p7"/>
          <p:cNvGrpSpPr/>
          <p:nvPr/>
        </p:nvGrpSpPr>
        <p:grpSpPr>
          <a:xfrm>
            <a:off x="50115" y="7438665"/>
            <a:ext cx="8426489" cy="5485765"/>
            <a:chOff x="50115" y="7438665"/>
            <a:chExt cx="8426489" cy="5485765"/>
          </a:xfrm>
        </p:grpSpPr>
        <p:pic>
          <p:nvPicPr>
            <p:cNvPr id="71" name="Google Shape;71;p7"/>
            <p:cNvPicPr preferRelativeResize="0"/>
            <p:nvPr/>
          </p:nvPicPr>
          <p:blipFill rotWithShape="1">
            <a:blip r:embed="rId5">
              <a:alphaModFix/>
            </a:blip>
            <a:srcRect b="0" l="0" r="0" t="0"/>
            <a:stretch/>
          </p:blipFill>
          <p:spPr>
            <a:xfrm>
              <a:off x="50115" y="8026202"/>
              <a:ext cx="1072767" cy="383613"/>
            </a:xfrm>
            <a:prstGeom prst="rect">
              <a:avLst/>
            </a:prstGeom>
            <a:noFill/>
            <a:ln>
              <a:noFill/>
            </a:ln>
          </p:spPr>
        </p:pic>
        <p:pic>
          <p:nvPicPr>
            <p:cNvPr id="72" name="Google Shape;72;p7"/>
            <p:cNvPicPr preferRelativeResize="0"/>
            <p:nvPr/>
          </p:nvPicPr>
          <p:blipFill rotWithShape="1">
            <a:blip r:embed="rId6">
              <a:alphaModFix/>
            </a:blip>
            <a:srcRect b="0" l="0" r="0" t="0"/>
            <a:stretch/>
          </p:blipFill>
          <p:spPr>
            <a:xfrm>
              <a:off x="4042459" y="8042597"/>
              <a:ext cx="773798" cy="454974"/>
            </a:xfrm>
            <a:prstGeom prst="rect">
              <a:avLst/>
            </a:prstGeom>
            <a:noFill/>
            <a:ln>
              <a:noFill/>
            </a:ln>
          </p:spPr>
        </p:pic>
        <p:sp>
          <p:nvSpPr>
            <p:cNvPr id="73" name="Google Shape;73;p7"/>
            <p:cNvSpPr/>
            <p:nvPr/>
          </p:nvSpPr>
          <p:spPr>
            <a:xfrm>
              <a:off x="4898379" y="7438665"/>
              <a:ext cx="3578225" cy="5485765"/>
            </a:xfrm>
            <a:custGeom>
              <a:rect b="b" l="l" r="r" t="t"/>
              <a:pathLst>
                <a:path extrusionOk="0" h="5485765" w="3578225">
                  <a:moveTo>
                    <a:pt x="0" y="5485397"/>
                  </a:moveTo>
                  <a:lnTo>
                    <a:pt x="3577901" y="5485397"/>
                  </a:lnTo>
                  <a:lnTo>
                    <a:pt x="3577901" y="0"/>
                  </a:lnTo>
                  <a:lnTo>
                    <a:pt x="0" y="0"/>
                  </a:lnTo>
                  <a:lnTo>
                    <a:pt x="0" y="5485397"/>
                  </a:lnTo>
                  <a:close/>
                </a:path>
              </a:pathLst>
            </a:custGeom>
            <a:noFill/>
            <a:ln cap="flat" cmpd="sng" w="29900">
              <a:solidFill>
                <a:srgbClr val="43434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74" name="Google Shape;74;p7"/>
          <p:cNvSpPr txBox="1"/>
          <p:nvPr/>
        </p:nvSpPr>
        <p:spPr>
          <a:xfrm>
            <a:off x="5055707" y="7582830"/>
            <a:ext cx="3215100" cy="338700"/>
          </a:xfrm>
          <a:prstGeom prst="rect">
            <a:avLst/>
          </a:prstGeom>
          <a:noFill/>
          <a:ln>
            <a:noFill/>
          </a:ln>
        </p:spPr>
        <p:txBody>
          <a:bodyPr anchorCtr="0" anchor="t" bIns="0" lIns="0" spcFirstLastPara="1" rIns="0" wrap="square" tIns="15225">
            <a:spAutoFit/>
          </a:bodyPr>
          <a:lstStyle/>
          <a:p>
            <a:pPr indent="0" lvl="0" marL="12700" rtl="0" algn="ctr">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REFERENCES</a:t>
            </a:r>
            <a:endParaRPr sz="2100">
              <a:latin typeface="Times New Roman"/>
              <a:ea typeface="Times New Roman"/>
              <a:cs typeface="Times New Roman"/>
              <a:sym typeface="Times New Roman"/>
            </a:endParaRPr>
          </a:p>
        </p:txBody>
      </p:sp>
      <p:pic>
        <p:nvPicPr>
          <p:cNvPr id="75" name="Google Shape;75;p7"/>
          <p:cNvPicPr preferRelativeResize="0"/>
          <p:nvPr/>
        </p:nvPicPr>
        <p:blipFill rotWithShape="1">
          <a:blip r:embed="rId7">
            <a:alphaModFix/>
          </a:blip>
          <a:srcRect b="0" l="0" r="0" t="0"/>
          <a:stretch/>
        </p:blipFill>
        <p:spPr>
          <a:xfrm>
            <a:off x="108298" y="12146825"/>
            <a:ext cx="2158498" cy="590857"/>
          </a:xfrm>
          <a:prstGeom prst="rect">
            <a:avLst/>
          </a:prstGeom>
          <a:noFill/>
          <a:ln>
            <a:noFill/>
          </a:ln>
        </p:spPr>
      </p:pic>
      <p:sp>
        <p:nvSpPr>
          <p:cNvPr id="76" name="Google Shape;76;p7"/>
          <p:cNvSpPr txBox="1"/>
          <p:nvPr/>
        </p:nvSpPr>
        <p:spPr>
          <a:xfrm>
            <a:off x="4941103" y="8077687"/>
            <a:ext cx="3299400" cy="229500"/>
          </a:xfrm>
          <a:prstGeom prst="rect">
            <a:avLst/>
          </a:prstGeom>
          <a:noFill/>
          <a:ln>
            <a:noFill/>
          </a:ln>
        </p:spPr>
        <p:txBody>
          <a:bodyPr anchorCtr="0" anchor="t" bIns="0" lIns="0" spcFirstLastPara="1" rIns="0" wrap="square" tIns="13950">
            <a:spAutoFit/>
          </a:bodyPr>
          <a:lstStyle/>
          <a:p>
            <a:pPr indent="0" lvl="0" marL="457200" marR="324485" rtl="0" algn="l">
              <a:lnSpc>
                <a:spcPct val="101000"/>
              </a:lnSpc>
              <a:spcBef>
                <a:spcPts val="0"/>
              </a:spcBef>
              <a:spcAft>
                <a:spcPts val="0"/>
              </a:spcAft>
              <a:buNone/>
            </a:pPr>
            <a:r>
              <a:t/>
            </a:r>
            <a:endParaRPr>
              <a:latin typeface="Times New Roman"/>
              <a:ea typeface="Times New Roman"/>
              <a:cs typeface="Times New Roman"/>
              <a:sym typeface="Times New Roman"/>
            </a:endParaRPr>
          </a:p>
        </p:txBody>
      </p:sp>
      <p:sp>
        <p:nvSpPr>
          <p:cNvPr id="77" name="Google Shape;77;p7"/>
          <p:cNvSpPr txBox="1"/>
          <p:nvPr/>
        </p:nvSpPr>
        <p:spPr>
          <a:xfrm>
            <a:off x="266005" y="12215618"/>
            <a:ext cx="1835785" cy="34861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REFERENCES</a:t>
            </a:r>
            <a:endParaRPr sz="2100">
              <a:latin typeface="Times New Roman"/>
              <a:ea typeface="Times New Roman"/>
              <a:cs typeface="Times New Roman"/>
              <a:sym typeface="Times New Roman"/>
            </a:endParaRPr>
          </a:p>
        </p:txBody>
      </p:sp>
      <p:sp>
        <p:nvSpPr>
          <p:cNvPr id="78" name="Google Shape;78;p7"/>
          <p:cNvSpPr txBox="1"/>
          <p:nvPr/>
        </p:nvSpPr>
        <p:spPr>
          <a:xfrm>
            <a:off x="6079096" y="3684904"/>
            <a:ext cx="704100" cy="499200"/>
          </a:xfrm>
          <a:prstGeom prst="rect">
            <a:avLst/>
          </a:prstGeom>
          <a:solidFill>
            <a:srgbClr val="FFC000"/>
          </a:solidFill>
          <a:ln cap="flat" cmpd="sng" w="9525">
            <a:solidFill>
              <a:srgbClr val="172C51"/>
            </a:solidFill>
            <a:prstDash val="solid"/>
            <a:round/>
            <a:headEnd len="sm" w="sm" type="none"/>
            <a:tailEnd len="sm" w="sm" type="none"/>
          </a:ln>
        </p:spPr>
        <p:txBody>
          <a:bodyPr anchorCtr="0" anchor="t" bIns="0" lIns="0" spcFirstLastPara="1" rIns="0" wrap="square" tIns="137775">
            <a:spAutoFit/>
          </a:bodyPr>
          <a:lstStyle/>
          <a:p>
            <a:pPr indent="0" lvl="0" marL="93980" rtl="0" algn="l">
              <a:lnSpc>
                <a:spcPct val="100000"/>
              </a:lnSpc>
              <a:spcBef>
                <a:spcPts val="0"/>
              </a:spcBef>
              <a:spcAft>
                <a:spcPts val="0"/>
              </a:spcAft>
              <a:buNone/>
            </a:pPr>
            <a:r>
              <a:rPr lang="en-US" sz="1400">
                <a:solidFill>
                  <a:srgbClr val="FFFFFF"/>
                </a:solidFill>
                <a:latin typeface="Times New Roman"/>
                <a:ea typeface="Times New Roman"/>
                <a:cs typeface="Times New Roman"/>
                <a:sym typeface="Times New Roman"/>
              </a:rPr>
              <a:t>Energy</a:t>
            </a:r>
            <a:endParaRPr sz="1400">
              <a:latin typeface="Times New Roman"/>
              <a:ea typeface="Times New Roman"/>
              <a:cs typeface="Times New Roman"/>
              <a:sym typeface="Times New Roman"/>
            </a:endParaRPr>
          </a:p>
        </p:txBody>
      </p:sp>
      <p:sp>
        <p:nvSpPr>
          <p:cNvPr id="79" name="Google Shape;79;p7"/>
          <p:cNvSpPr txBox="1"/>
          <p:nvPr/>
        </p:nvSpPr>
        <p:spPr>
          <a:xfrm>
            <a:off x="8781263" y="10532325"/>
            <a:ext cx="10983600" cy="20319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Rising feed, energy, and water input costs demand more efficient WEF resource management in dairy production (Entrena-Barbero et al., 2023)</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Feed costs comprise the largest share of production expenses, as Dry Matter Intake (DMI) drives Net Energy for Lactation (NEL) and ultimately milk output (USDA, 2025)</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Integrated WEF management strategies estimated to reduce input costs by 8–15%, with energy price volatility having the greatest marginal impact on profitability (Khera &amp; Pulsani, 2025)</a:t>
            </a:r>
            <a:endParaRPr sz="2000">
              <a:solidFill>
                <a:schemeClr val="dk1"/>
              </a:solidFill>
              <a:latin typeface="Times New Roman"/>
              <a:ea typeface="Times New Roman"/>
              <a:cs typeface="Times New Roman"/>
              <a:sym typeface="Times New Roman"/>
            </a:endParaRPr>
          </a:p>
        </p:txBody>
      </p:sp>
      <p:sp>
        <p:nvSpPr>
          <p:cNvPr id="80" name="Google Shape;80;p7"/>
          <p:cNvSpPr txBox="1"/>
          <p:nvPr/>
        </p:nvSpPr>
        <p:spPr>
          <a:xfrm>
            <a:off x="4627801" y="8008100"/>
            <a:ext cx="3826500" cy="107439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a:latin typeface="Times New Roman"/>
                <a:ea typeface="Times New Roman"/>
                <a:cs typeface="Times New Roman"/>
                <a:sym typeface="Times New Roman"/>
              </a:rPr>
              <a:t>USDA ERS. (2024). Milk Cost of Production Estimates (2021 ARMS dairy survey).</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https://www.ers.usda.gov/data products/milk-cost-of-production-estimates/</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USDA ERS. (2026, February). Fewer Farms, More Milk: The Changing Structure and Costs of U.S. Dairy Farming.</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https://www.ers.usda.gov/amber-waves/2026/february/fewer-farms-more-milk-the-changing-structure-and-costs-of</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-us-dairy farming</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USDA ERS. (2020, December). A Look at USDA ERS Commodity Costs and Returns Data.</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https://www.ers.usda.gov/amber-waves/2020/december/a-look-at-usda-economic-research-service-s-commodity-c</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osts-and returns-data-product</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USDA NASS. (2024). 2022 Census of Agriculture Highlights: Dairy Cattle and Milk</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Production.</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https://www.nass.usda.gov/Publications/Highlights/2024/Census22_HL_Dairy.pdf</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MSU Extension. (n.d.). Water Use on Dairy Farms. https://www.canr.msu.edu/news/water_use_on_dairy_farms</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University of Wisconsin Extension. (n.d.). Dairy Farms — Energy Efficiency.</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https://fyi.extension.wisc.edu/energy/dairy farms/</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U. of Minnesota WCROC / LPELC. (n.d.). Thermal and Electrical Energy and Water Consumption in a Midwest Dairy</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Parlor. https://lpelc.org/thermal-and-electrical-energy-and-water-consumption-in-a-midwest-dairy-parlor/</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Migration Dialogue / UC Davis. (2021). Hired Labor in US Dairies.</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https://migration.ucdavis.edu/rmn/blog/post/?id=2608</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USDA NASS. (2024, October 31). 2023 Irrigation and Water Management Survey Results.</a:t>
            </a:r>
            <a:endParaRPr>
              <a:latin typeface="Times New Roman"/>
              <a:ea typeface="Times New Roman"/>
              <a:cs typeface="Times New Roman"/>
              <a:sym typeface="Times New Roman"/>
            </a:endParaRPr>
          </a:p>
          <a:p>
            <a:pPr indent="0" lvl="0" marL="457200" rtl="0" algn="l">
              <a:spcBef>
                <a:spcPts val="0"/>
              </a:spcBef>
              <a:spcAft>
                <a:spcPts val="0"/>
              </a:spcAft>
              <a:buNone/>
            </a:pPr>
            <a:r>
              <a:rPr lang="en-US">
                <a:latin typeface="Times New Roman"/>
                <a:ea typeface="Times New Roman"/>
                <a:cs typeface="Times New Roman"/>
                <a:sym typeface="Times New Roman"/>
              </a:rPr>
              <a:t>https://www.nass.usda.gov/Newsroom/2024/10-31-2024.php</a:t>
            </a:r>
            <a:endParaRPr>
              <a:latin typeface="Times New Roman"/>
              <a:ea typeface="Times New Roman"/>
              <a:cs typeface="Times New Roman"/>
              <a:sym typeface="Times New Roman"/>
            </a:endParaRPr>
          </a:p>
        </p:txBody>
      </p:sp>
      <p:pic>
        <p:nvPicPr>
          <p:cNvPr id="81" name="Google Shape;81;p7"/>
          <p:cNvPicPr preferRelativeResize="0"/>
          <p:nvPr/>
        </p:nvPicPr>
        <p:blipFill>
          <a:blip r:embed="rId8">
            <a:alphaModFix/>
          </a:blip>
          <a:stretch>
            <a:fillRect/>
          </a:stretch>
        </p:blipFill>
        <p:spPr>
          <a:xfrm>
            <a:off x="2908197" y="12024642"/>
            <a:ext cx="873620" cy="888000"/>
          </a:xfrm>
          <a:prstGeom prst="rect">
            <a:avLst/>
          </a:prstGeom>
          <a:noFill/>
          <a:ln>
            <a:noFill/>
          </a:ln>
        </p:spPr>
      </p:pic>
      <p:pic>
        <p:nvPicPr>
          <p:cNvPr id="82" name="Google Shape;82;p7"/>
          <p:cNvPicPr preferRelativeResize="0"/>
          <p:nvPr/>
        </p:nvPicPr>
        <p:blipFill>
          <a:blip r:embed="rId9">
            <a:alphaModFix/>
          </a:blip>
          <a:stretch>
            <a:fillRect/>
          </a:stretch>
        </p:blipFill>
        <p:spPr>
          <a:xfrm>
            <a:off x="8493625" y="3352439"/>
            <a:ext cx="11586074" cy="676828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