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Roboto"/>
      <p:regular r:id="rId11"/>
      <p:bold r:id="rId12"/>
      <p:italic r:id="rId13"/>
      <p:boldItalic r:id="rId14"/>
    </p:embeddedFont>
    <p:embeddedFont>
      <p:font typeface="Merriweather"/>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Roboto-regular.fntdata"/><Relationship Id="rId10" Type="http://schemas.openxmlformats.org/officeDocument/2006/relationships/slide" Target="slides/slide5.xml"/><Relationship Id="rId13" Type="http://schemas.openxmlformats.org/officeDocument/2006/relationships/font" Target="fonts/Roboto-italic.fntdata"/><Relationship Id="rId12"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erriweather-regular.fntdata"/><Relationship Id="rId14" Type="http://schemas.openxmlformats.org/officeDocument/2006/relationships/font" Target="fonts/Roboto-boldItalic.fntdata"/><Relationship Id="rId17" Type="http://schemas.openxmlformats.org/officeDocument/2006/relationships/font" Target="fonts/Merriweather-italic.fntdata"/><Relationship Id="rId16" Type="http://schemas.openxmlformats.org/officeDocument/2006/relationships/font" Target="fonts/Merriweather-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Merriweather-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extension.psu.edu/the-value-of-water"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researchgate.net/figure/Framework-of-the-water-energy-food-WEF-nexus-system-dynamics-SD-model_fig2_342209208"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vensim.com/documentation" TargetMode="External"/><Relationship Id="rId3" Type="http://schemas.openxmlformats.org/officeDocument/2006/relationships/hyperlink" Target="https://www.youtube.com/watch?v=MSo8kqbLDlw&amp;list=PLrSp4pjHugDNRoL-BgV431OfOup2WbhGL&amp;index=21"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Works CitedBecker, Carly. “The Value of Water.” Penn State Extension, 15 Apr. 2024, </a:t>
            </a:r>
            <a:r>
              <a:rPr lang="en" sz="1200" u="sng">
                <a:solidFill>
                  <a:schemeClr val="hlink"/>
                </a:solidFill>
                <a:latin typeface="Times New Roman"/>
                <a:ea typeface="Times New Roman"/>
                <a:cs typeface="Times New Roman"/>
                <a:sym typeface="Times New Roman"/>
                <a:hlinkClick r:id="rId2"/>
              </a:rPr>
              <a:t>extension.psu.edu/the-value-of-water</a:t>
            </a:r>
            <a:r>
              <a:rPr lang="en" sz="1200">
                <a:solidFill>
                  <a:schemeClr val="dk1"/>
                </a:solidFill>
                <a:latin typeface="Times New Roman"/>
                <a:ea typeface="Times New Roman"/>
                <a:cs typeface="Times New Roman"/>
                <a:sym typeface="Times New Roman"/>
              </a:rPr>
              <a:t>.</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Cisan, Jerry, et al. Documentation for the USDA, Economic Research Service Annual U.S. Dairy Sector Econometric Model. USDA, 13 July 2023.</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Council, National Research. Nutrient Requirements of Dairy Cattle: Seventh Revised Edition, 2001. Nap.nationalacademies.org, National Research Council, 1 Nov. 2000, nap.nationalacademies.org/catalog/9825/nutrient-requirements-of-dairy-cattle-seventh-revised-edition-2001.</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80e2c067d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80e2c067d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80e2c067d4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80e2c067d4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Ultimately, system dynamics uses models to solve problems, not just describe systems, includes wide boundaries to capture hidden feedbacks and delays, combines quantitative and qualitative data, engages stakeholders throughout the process, keeps models transparent (“open box”) to build trust and shared learning.</a:t>
            </a: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Iterative process: refine both formal models and mental models over time.</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80e2c067d4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80e2c067d4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https://www.researchgate.net/figure/Framework-of-the-water-energy-food-WEF-nexus-system-dynamics-SD-model_fig2_342209208</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83c58162f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83c58162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https://www.vensim.com/documentation/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3"/>
              </a:rPr>
              <a:t>https://www.youtube.com/watch?v=MSo8kqbLDlw&amp;list=PLrSp4pjHugDNRoL-BgV431OfOup2WbhGL&amp;index=21</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Basic values for water, cows, feed, energy (per cow averages)</a:t>
            </a:r>
            <a:endParaRPr/>
          </a:p>
          <a:p>
            <a:pPr indent="0" lvl="0" marL="0" rtl="0" algn="l">
              <a:spcBef>
                <a:spcPts val="0"/>
              </a:spcBef>
              <a:spcAft>
                <a:spcPts val="0"/>
              </a:spcAft>
              <a:buNone/>
            </a:pPr>
            <a:r>
              <a:t/>
            </a:r>
            <a:endParaRPr/>
          </a:p>
        </p:txBody>
      </p:sp>
      <p:sp>
        <p:nvSpPr>
          <p:cNvPr id="65" name="Google Shape;65;p13"/>
          <p:cNvSpPr txBox="1"/>
          <p:nvPr/>
        </p:nvSpPr>
        <p:spPr>
          <a:xfrm>
            <a:off x="457200" y="1734825"/>
            <a:ext cx="8229600" cy="31209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accent1"/>
              </a:buClr>
              <a:buSzPts val="1100"/>
              <a:buFont typeface="Roboto"/>
              <a:buChar char="●"/>
            </a:pPr>
            <a:r>
              <a:rPr lang="en" sz="1100">
                <a:solidFill>
                  <a:schemeClr val="accent1"/>
                </a:solidFill>
                <a:latin typeface="Roboto"/>
                <a:ea typeface="Roboto"/>
                <a:cs typeface="Roboto"/>
                <a:sym typeface="Roboto"/>
              </a:rPr>
              <a:t>Mega-scale dairy farms (Milking 25k+ </a:t>
            </a:r>
            <a:r>
              <a:rPr lang="en" sz="1100">
                <a:solidFill>
                  <a:schemeClr val="accent1"/>
                </a:solidFill>
                <a:latin typeface="Roboto"/>
                <a:ea typeface="Roboto"/>
                <a:cs typeface="Roboto"/>
                <a:sym typeface="Roboto"/>
              </a:rPr>
              <a:t>Cows</a:t>
            </a:r>
            <a:r>
              <a:rPr lang="en" sz="1100">
                <a:solidFill>
                  <a:schemeClr val="accent1"/>
                </a:solidFill>
                <a:latin typeface="Roboto"/>
                <a:ea typeface="Roboto"/>
                <a:cs typeface="Roboto"/>
                <a:sym typeface="Roboto"/>
              </a:rPr>
              <a:t>)</a:t>
            </a:r>
            <a:endParaRPr sz="1100">
              <a:solidFill>
                <a:schemeClr val="accent1"/>
              </a:solidFill>
              <a:latin typeface="Roboto"/>
              <a:ea typeface="Roboto"/>
              <a:cs typeface="Roboto"/>
              <a:sym typeface="Roboto"/>
            </a:endParaRPr>
          </a:p>
          <a:p>
            <a:pPr indent="-298450" lvl="1" marL="914400" rtl="0" algn="l">
              <a:spcBef>
                <a:spcPts val="0"/>
              </a:spcBef>
              <a:spcAft>
                <a:spcPts val="0"/>
              </a:spcAft>
              <a:buClr>
                <a:schemeClr val="accent1"/>
              </a:buClr>
              <a:buSzPts val="1100"/>
              <a:buFont typeface="Roboto"/>
              <a:buChar char="○"/>
            </a:pPr>
            <a:r>
              <a:rPr lang="en" sz="1100">
                <a:solidFill>
                  <a:schemeClr val="accent1"/>
                </a:solidFill>
                <a:latin typeface="Roboto"/>
                <a:ea typeface="Roboto"/>
                <a:cs typeface="Roboto"/>
                <a:sym typeface="Roboto"/>
              </a:rPr>
              <a:t>Water: 1 </a:t>
            </a:r>
            <a:r>
              <a:rPr lang="en" sz="1100">
                <a:solidFill>
                  <a:schemeClr val="accent1"/>
                </a:solidFill>
                <a:latin typeface="Roboto"/>
                <a:ea typeface="Roboto"/>
                <a:cs typeface="Roboto"/>
                <a:sym typeface="Roboto"/>
              </a:rPr>
              <a:t>million+ </a:t>
            </a:r>
            <a:r>
              <a:rPr lang="en" sz="1100">
                <a:solidFill>
                  <a:schemeClr val="accent1"/>
                </a:solidFill>
                <a:latin typeface="Roboto"/>
                <a:ea typeface="Roboto"/>
                <a:cs typeface="Roboto"/>
                <a:sym typeface="Roboto"/>
              </a:rPr>
              <a:t>gal/day (≈3.8 million L), Feed: 625+ tons/day (≈570,000 kg)</a:t>
            </a:r>
            <a:endParaRPr sz="1100">
              <a:solidFill>
                <a:schemeClr val="accent1"/>
              </a:solidFill>
              <a:latin typeface="Roboto"/>
              <a:ea typeface="Roboto"/>
              <a:cs typeface="Roboto"/>
              <a:sym typeface="Roboto"/>
            </a:endParaRPr>
          </a:p>
          <a:p>
            <a:pPr indent="-298450" lvl="1" marL="914400" rtl="0" algn="l">
              <a:spcBef>
                <a:spcPts val="0"/>
              </a:spcBef>
              <a:spcAft>
                <a:spcPts val="0"/>
              </a:spcAft>
              <a:buClr>
                <a:schemeClr val="accent1"/>
              </a:buClr>
              <a:buSzPts val="1100"/>
              <a:buFont typeface="Roboto"/>
              <a:buChar char="○"/>
            </a:pPr>
            <a:r>
              <a:rPr lang="en" sz="1100">
                <a:solidFill>
                  <a:schemeClr val="accent1"/>
                </a:solidFill>
                <a:latin typeface="Roboto"/>
                <a:ea typeface="Roboto"/>
                <a:cs typeface="Roboto"/>
                <a:sym typeface="Roboto"/>
              </a:rPr>
              <a:t>Electricity: 150,000+ kWh/day</a:t>
            </a:r>
            <a:endParaRPr sz="1100">
              <a:solidFill>
                <a:schemeClr val="accent1"/>
              </a:solidFill>
              <a:latin typeface="Roboto"/>
              <a:ea typeface="Roboto"/>
              <a:cs typeface="Roboto"/>
              <a:sym typeface="Roboto"/>
            </a:endParaRPr>
          </a:p>
          <a:p>
            <a:pPr indent="-298450" lvl="1" marL="914400" rtl="0" algn="l">
              <a:spcBef>
                <a:spcPts val="0"/>
              </a:spcBef>
              <a:spcAft>
                <a:spcPts val="0"/>
              </a:spcAft>
              <a:buClr>
                <a:schemeClr val="accent1"/>
              </a:buClr>
              <a:buSzPts val="1100"/>
              <a:buFont typeface="Roboto"/>
              <a:buChar char="○"/>
            </a:pPr>
            <a:r>
              <a:rPr lang="en" sz="1100">
                <a:solidFill>
                  <a:schemeClr val="accent1"/>
                </a:solidFill>
                <a:latin typeface="Roboto"/>
                <a:ea typeface="Roboto"/>
                <a:cs typeface="Roboto"/>
                <a:sym typeface="Roboto"/>
              </a:rPr>
              <a:t>Thermal energy: 50,000+ kWh/day</a:t>
            </a:r>
            <a:endParaRPr sz="1100">
              <a:solidFill>
                <a:schemeClr val="accent1"/>
              </a:solidFill>
              <a:latin typeface="Roboto"/>
              <a:ea typeface="Roboto"/>
              <a:cs typeface="Roboto"/>
              <a:sym typeface="Roboto"/>
            </a:endParaRPr>
          </a:p>
          <a:p>
            <a:pPr indent="-298450" lvl="0" marL="457200" rtl="0" algn="l">
              <a:spcBef>
                <a:spcPts val="0"/>
              </a:spcBef>
              <a:spcAft>
                <a:spcPts val="0"/>
              </a:spcAft>
              <a:buClr>
                <a:schemeClr val="accent1"/>
              </a:buClr>
              <a:buSzPts val="1100"/>
              <a:buFont typeface="Roboto"/>
              <a:buChar char="●"/>
            </a:pPr>
            <a:r>
              <a:rPr lang="en" sz="1100">
                <a:solidFill>
                  <a:schemeClr val="accent1"/>
                </a:solidFill>
                <a:latin typeface="Roboto"/>
                <a:ea typeface="Roboto"/>
                <a:cs typeface="Roboto"/>
                <a:sym typeface="Roboto"/>
              </a:rPr>
              <a:t>Large-scale dairy farms (Milking 5k+ </a:t>
            </a:r>
            <a:r>
              <a:rPr lang="en" sz="1100">
                <a:solidFill>
                  <a:schemeClr val="accent1"/>
                </a:solidFill>
                <a:latin typeface="Roboto"/>
                <a:ea typeface="Roboto"/>
                <a:cs typeface="Roboto"/>
                <a:sym typeface="Roboto"/>
              </a:rPr>
              <a:t>Cows</a:t>
            </a:r>
            <a:r>
              <a:rPr lang="en" sz="1100">
                <a:solidFill>
                  <a:schemeClr val="accent1"/>
                </a:solidFill>
                <a:latin typeface="Roboto"/>
                <a:ea typeface="Roboto"/>
                <a:cs typeface="Roboto"/>
                <a:sym typeface="Roboto"/>
              </a:rPr>
              <a:t>)</a:t>
            </a:r>
            <a:endParaRPr sz="1100">
              <a:solidFill>
                <a:schemeClr val="accent1"/>
              </a:solidFill>
              <a:latin typeface="Roboto"/>
              <a:ea typeface="Roboto"/>
              <a:cs typeface="Roboto"/>
              <a:sym typeface="Roboto"/>
            </a:endParaRPr>
          </a:p>
          <a:p>
            <a:pPr indent="-311150" lvl="1" marL="914400" rtl="0" algn="l">
              <a:spcBef>
                <a:spcPts val="0"/>
              </a:spcBef>
              <a:spcAft>
                <a:spcPts val="0"/>
              </a:spcAft>
              <a:buClr>
                <a:schemeClr val="accent1"/>
              </a:buClr>
              <a:buSzPts val="1300"/>
              <a:buFont typeface="Roboto"/>
              <a:buChar char="○"/>
            </a:pPr>
            <a:r>
              <a:rPr lang="en" sz="1100">
                <a:latin typeface="Roboto"/>
                <a:ea typeface="Roboto"/>
                <a:cs typeface="Roboto"/>
                <a:sym typeface="Roboto"/>
              </a:rPr>
              <a:t>Water: 200,000+ gal/day (≈750,000 L), Feed: 125+ tons/day (≈115,000 kg)</a:t>
            </a:r>
            <a:endParaRPr sz="1100">
              <a:latin typeface="Roboto"/>
              <a:ea typeface="Roboto"/>
              <a:cs typeface="Roboto"/>
              <a:sym typeface="Roboto"/>
            </a:endParaRPr>
          </a:p>
          <a:p>
            <a:pPr indent="-311150" lvl="1" marL="914400" rtl="0" algn="l">
              <a:spcBef>
                <a:spcPts val="0"/>
              </a:spcBef>
              <a:spcAft>
                <a:spcPts val="0"/>
              </a:spcAft>
              <a:buClr>
                <a:schemeClr val="accent1"/>
              </a:buClr>
              <a:buSzPts val="1300"/>
              <a:buFont typeface="Roboto"/>
              <a:buChar char="○"/>
            </a:pPr>
            <a:r>
              <a:rPr lang="en" sz="1100">
                <a:latin typeface="Roboto"/>
                <a:ea typeface="Roboto"/>
                <a:cs typeface="Roboto"/>
                <a:sym typeface="Roboto"/>
              </a:rPr>
              <a:t>Electricity: 30,000+ kWh/day</a:t>
            </a:r>
            <a:endParaRPr sz="1100">
              <a:latin typeface="Roboto"/>
              <a:ea typeface="Roboto"/>
              <a:cs typeface="Roboto"/>
              <a:sym typeface="Roboto"/>
            </a:endParaRPr>
          </a:p>
          <a:p>
            <a:pPr indent="-311150" lvl="1" marL="914400" rtl="0" algn="l">
              <a:spcBef>
                <a:spcPts val="0"/>
              </a:spcBef>
              <a:spcAft>
                <a:spcPts val="0"/>
              </a:spcAft>
              <a:buClr>
                <a:schemeClr val="accent1"/>
              </a:buClr>
              <a:buSzPts val="1300"/>
              <a:buFont typeface="Roboto"/>
              <a:buChar char="○"/>
            </a:pPr>
            <a:r>
              <a:rPr lang="en" sz="1100">
                <a:latin typeface="Roboto"/>
                <a:ea typeface="Roboto"/>
                <a:cs typeface="Roboto"/>
                <a:sym typeface="Roboto"/>
              </a:rPr>
              <a:t>Thermal energy: 10,000+ kWh/day</a:t>
            </a:r>
            <a:endParaRPr sz="1300">
              <a:solidFill>
                <a:schemeClr val="accent1"/>
              </a:solidFill>
              <a:latin typeface="Roboto"/>
              <a:ea typeface="Roboto"/>
              <a:cs typeface="Roboto"/>
              <a:sym typeface="Roboto"/>
            </a:endParaRPr>
          </a:p>
          <a:p>
            <a:pPr indent="-298450" lvl="0" marL="457200" rtl="0" algn="l">
              <a:spcBef>
                <a:spcPts val="0"/>
              </a:spcBef>
              <a:spcAft>
                <a:spcPts val="0"/>
              </a:spcAft>
              <a:buClr>
                <a:schemeClr val="accent1"/>
              </a:buClr>
              <a:buSzPts val="1100"/>
              <a:buFont typeface="Roboto"/>
              <a:buChar char="●"/>
            </a:pPr>
            <a:r>
              <a:rPr lang="en" sz="1100">
                <a:solidFill>
                  <a:schemeClr val="accent1"/>
                </a:solidFill>
                <a:latin typeface="Roboto"/>
                <a:ea typeface="Roboto"/>
                <a:cs typeface="Roboto"/>
                <a:sym typeface="Roboto"/>
              </a:rPr>
              <a:t>Medium-scale dairy farms (Milking 100-500 </a:t>
            </a:r>
            <a:r>
              <a:rPr lang="en" sz="1100">
                <a:solidFill>
                  <a:schemeClr val="accent1"/>
                </a:solidFill>
                <a:latin typeface="Roboto"/>
                <a:ea typeface="Roboto"/>
                <a:cs typeface="Roboto"/>
                <a:sym typeface="Roboto"/>
              </a:rPr>
              <a:t>Cows</a:t>
            </a:r>
            <a:r>
              <a:rPr lang="en" sz="1100">
                <a:solidFill>
                  <a:schemeClr val="accent1"/>
                </a:solidFill>
                <a:latin typeface="Roboto"/>
                <a:ea typeface="Roboto"/>
                <a:cs typeface="Roboto"/>
                <a:sym typeface="Roboto"/>
              </a:rPr>
              <a:t>)</a:t>
            </a:r>
            <a:endParaRPr sz="1100">
              <a:solidFill>
                <a:schemeClr val="accent1"/>
              </a:solidFill>
              <a:latin typeface="Roboto"/>
              <a:ea typeface="Roboto"/>
              <a:cs typeface="Roboto"/>
              <a:sym typeface="Roboto"/>
            </a:endParaRPr>
          </a:p>
          <a:p>
            <a:pPr indent="-311150" lvl="1" marL="914400" rtl="0" algn="l">
              <a:spcBef>
                <a:spcPts val="0"/>
              </a:spcBef>
              <a:spcAft>
                <a:spcPts val="0"/>
              </a:spcAft>
              <a:buClr>
                <a:schemeClr val="accent1"/>
              </a:buClr>
              <a:buSzPts val="1300"/>
              <a:buFont typeface="Roboto"/>
              <a:buChar char="○"/>
            </a:pPr>
            <a:r>
              <a:rPr lang="en" sz="1100">
                <a:latin typeface="Roboto"/>
                <a:ea typeface="Roboto"/>
                <a:cs typeface="Roboto"/>
                <a:sym typeface="Roboto"/>
              </a:rPr>
              <a:t>Water: 4,000–20,000 gal/day (15,000–75,000 L), Feed: 2–11 tons/day (≈2,200–11,000 kg</a:t>
            </a:r>
            <a:r>
              <a:rPr lang="en" sz="1100">
                <a:latin typeface="Roboto"/>
                <a:ea typeface="Roboto"/>
                <a:cs typeface="Roboto"/>
                <a:sym typeface="Roboto"/>
              </a:rPr>
              <a:t>)</a:t>
            </a:r>
            <a:endParaRPr sz="1100">
              <a:latin typeface="Roboto"/>
              <a:ea typeface="Roboto"/>
              <a:cs typeface="Roboto"/>
              <a:sym typeface="Roboto"/>
            </a:endParaRPr>
          </a:p>
          <a:p>
            <a:pPr indent="-311150" lvl="1" marL="914400" rtl="0" algn="l">
              <a:spcBef>
                <a:spcPts val="0"/>
              </a:spcBef>
              <a:spcAft>
                <a:spcPts val="0"/>
              </a:spcAft>
              <a:buClr>
                <a:schemeClr val="accent1"/>
              </a:buClr>
              <a:buSzPts val="1300"/>
              <a:buFont typeface="Roboto"/>
              <a:buChar char="○"/>
            </a:pPr>
            <a:r>
              <a:rPr lang="en" sz="1100">
                <a:latin typeface="Roboto"/>
                <a:ea typeface="Roboto"/>
                <a:cs typeface="Roboto"/>
                <a:sym typeface="Roboto"/>
              </a:rPr>
              <a:t>Electricity: 600–3,000 kWh/day</a:t>
            </a:r>
            <a:endParaRPr sz="1100">
              <a:latin typeface="Roboto"/>
              <a:ea typeface="Roboto"/>
              <a:cs typeface="Roboto"/>
              <a:sym typeface="Roboto"/>
            </a:endParaRPr>
          </a:p>
          <a:p>
            <a:pPr indent="-311150" lvl="1" marL="914400" rtl="0" algn="l">
              <a:spcBef>
                <a:spcPts val="0"/>
              </a:spcBef>
              <a:spcAft>
                <a:spcPts val="0"/>
              </a:spcAft>
              <a:buClr>
                <a:schemeClr val="accent1"/>
              </a:buClr>
              <a:buSzPts val="1300"/>
              <a:buFont typeface="Roboto"/>
              <a:buChar char="○"/>
            </a:pPr>
            <a:r>
              <a:rPr lang="en" sz="1100">
                <a:latin typeface="Roboto"/>
                <a:ea typeface="Roboto"/>
                <a:cs typeface="Roboto"/>
                <a:sym typeface="Roboto"/>
              </a:rPr>
              <a:t>Thermal energy: 200–1,000 kWh/day</a:t>
            </a:r>
            <a:endParaRPr sz="1300">
              <a:solidFill>
                <a:schemeClr val="accent1"/>
              </a:solidFill>
              <a:latin typeface="Roboto"/>
              <a:ea typeface="Roboto"/>
              <a:cs typeface="Roboto"/>
              <a:sym typeface="Roboto"/>
            </a:endParaRPr>
          </a:p>
          <a:p>
            <a:pPr indent="-298450" lvl="0" marL="457200" rtl="0" algn="l">
              <a:spcBef>
                <a:spcPts val="0"/>
              </a:spcBef>
              <a:spcAft>
                <a:spcPts val="0"/>
              </a:spcAft>
              <a:buClr>
                <a:schemeClr val="accent1"/>
              </a:buClr>
              <a:buSzPts val="1100"/>
              <a:buFont typeface="Roboto"/>
              <a:buChar char="●"/>
            </a:pPr>
            <a:r>
              <a:rPr lang="en" sz="1100">
                <a:solidFill>
                  <a:schemeClr val="accent1"/>
                </a:solidFill>
                <a:latin typeface="Roboto"/>
                <a:ea typeface="Roboto"/>
                <a:cs typeface="Roboto"/>
                <a:sym typeface="Roboto"/>
              </a:rPr>
              <a:t>Small-scale dairy farms (Milking &gt;50 Cows)</a:t>
            </a:r>
            <a:endParaRPr sz="1100">
              <a:solidFill>
                <a:schemeClr val="accent1"/>
              </a:solidFill>
              <a:latin typeface="Roboto"/>
              <a:ea typeface="Roboto"/>
              <a:cs typeface="Roboto"/>
              <a:sym typeface="Roboto"/>
            </a:endParaRPr>
          </a:p>
          <a:p>
            <a:pPr indent="-298450" lvl="1" marL="914400" rtl="0" algn="l">
              <a:spcBef>
                <a:spcPts val="0"/>
              </a:spcBef>
              <a:spcAft>
                <a:spcPts val="0"/>
              </a:spcAft>
              <a:buClr>
                <a:schemeClr val="accent1"/>
              </a:buClr>
              <a:buSzPts val="1100"/>
              <a:buFont typeface="Roboto"/>
              <a:buChar char="○"/>
            </a:pPr>
            <a:r>
              <a:rPr lang="en" sz="1100">
                <a:solidFill>
                  <a:schemeClr val="accent1"/>
                </a:solidFill>
                <a:latin typeface="Roboto"/>
                <a:ea typeface="Roboto"/>
                <a:cs typeface="Roboto"/>
                <a:sym typeface="Roboto"/>
              </a:rPr>
              <a:t>Water: 2,000 gal/day (7,500 L), Feed: 1.1 tons/day (≈1,100 kg)</a:t>
            </a:r>
            <a:endParaRPr sz="1100">
              <a:solidFill>
                <a:schemeClr val="accent1"/>
              </a:solidFill>
              <a:latin typeface="Roboto"/>
              <a:ea typeface="Roboto"/>
              <a:cs typeface="Roboto"/>
              <a:sym typeface="Roboto"/>
            </a:endParaRPr>
          </a:p>
          <a:p>
            <a:pPr indent="-298450" lvl="1" marL="914400" rtl="0" algn="l">
              <a:spcBef>
                <a:spcPts val="0"/>
              </a:spcBef>
              <a:spcAft>
                <a:spcPts val="0"/>
              </a:spcAft>
              <a:buClr>
                <a:schemeClr val="accent1"/>
              </a:buClr>
              <a:buSzPts val="1100"/>
              <a:buFont typeface="Roboto"/>
              <a:buChar char="○"/>
            </a:pPr>
            <a:r>
              <a:rPr lang="en" sz="1100">
                <a:solidFill>
                  <a:schemeClr val="accent1"/>
                </a:solidFill>
                <a:latin typeface="Roboto"/>
                <a:ea typeface="Roboto"/>
                <a:cs typeface="Roboto"/>
                <a:sym typeface="Roboto"/>
              </a:rPr>
              <a:t>Electricity: 250–300 kWh/day</a:t>
            </a:r>
            <a:endParaRPr sz="1100">
              <a:solidFill>
                <a:schemeClr val="accent1"/>
              </a:solidFill>
              <a:latin typeface="Roboto"/>
              <a:ea typeface="Roboto"/>
              <a:cs typeface="Roboto"/>
              <a:sym typeface="Roboto"/>
            </a:endParaRPr>
          </a:p>
          <a:p>
            <a:pPr indent="-298450" lvl="1" marL="914400" rtl="0" algn="l">
              <a:spcBef>
                <a:spcPts val="0"/>
              </a:spcBef>
              <a:spcAft>
                <a:spcPts val="0"/>
              </a:spcAft>
              <a:buClr>
                <a:schemeClr val="accent1"/>
              </a:buClr>
              <a:buSzPts val="1100"/>
              <a:buFont typeface="Roboto"/>
              <a:buChar char="○"/>
            </a:pPr>
            <a:r>
              <a:rPr lang="en" sz="1100">
                <a:solidFill>
                  <a:schemeClr val="accent1"/>
                </a:solidFill>
                <a:latin typeface="Roboto"/>
                <a:ea typeface="Roboto"/>
                <a:cs typeface="Roboto"/>
                <a:sym typeface="Roboto"/>
              </a:rPr>
              <a:t>Thermal energy: 100–150 kWh/day</a:t>
            </a:r>
            <a:endParaRPr sz="1100">
              <a:solidFill>
                <a:schemeClr val="accent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9" name="Shape 69"/>
        <p:cNvGrpSpPr/>
        <p:nvPr/>
      </p:nvGrpSpPr>
      <p:grpSpPr>
        <a:xfrm>
          <a:off x="0" y="0"/>
          <a:ext cx="0" cy="0"/>
          <a:chOff x="0" y="0"/>
          <a:chExt cx="0" cy="0"/>
        </a:xfrm>
      </p:grpSpPr>
      <p:sp>
        <p:nvSpPr>
          <p:cNvPr id="70" name="Google Shape;70;p14"/>
          <p:cNvSpPr txBox="1"/>
          <p:nvPr>
            <p:ph type="ctrTitle"/>
          </p:nvPr>
        </p:nvSpPr>
        <p:spPr>
          <a:xfrm>
            <a:off x="311700" y="413750"/>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Dynamic Complexity </a:t>
            </a:r>
            <a:endParaRPr/>
          </a:p>
        </p:txBody>
      </p:sp>
      <p:sp>
        <p:nvSpPr>
          <p:cNvPr id="71" name="Google Shape;71;p14"/>
          <p:cNvSpPr txBox="1"/>
          <p:nvPr/>
        </p:nvSpPr>
        <p:spPr>
          <a:xfrm>
            <a:off x="457200" y="1608850"/>
            <a:ext cx="8229600" cy="31209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accent1"/>
              </a:buClr>
              <a:buSzPts val="1100"/>
              <a:buFont typeface="Roboto"/>
              <a:buChar char="●"/>
            </a:pPr>
            <a:r>
              <a:rPr lang="en" sz="1100">
                <a:latin typeface="Roboto"/>
                <a:ea typeface="Roboto"/>
                <a:cs typeface="Roboto"/>
                <a:sym typeface="Roboto"/>
              </a:rPr>
              <a:t>Systems are:</a:t>
            </a:r>
            <a:endParaRPr sz="1100">
              <a:latin typeface="Roboto"/>
              <a:ea typeface="Roboto"/>
              <a:cs typeface="Roboto"/>
              <a:sym typeface="Roboto"/>
            </a:endParaRPr>
          </a:p>
          <a:p>
            <a:pPr indent="-298450" lvl="1" marL="914400" rtl="0" algn="l">
              <a:spcBef>
                <a:spcPts val="0"/>
              </a:spcBef>
              <a:spcAft>
                <a:spcPts val="0"/>
              </a:spcAft>
              <a:buClr>
                <a:schemeClr val="accent1"/>
              </a:buClr>
              <a:buSzPts val="1100"/>
              <a:buFont typeface="Roboto"/>
              <a:buChar char="○"/>
            </a:pPr>
            <a:r>
              <a:rPr lang="en" sz="1100">
                <a:latin typeface="Roboto"/>
                <a:ea typeface="Roboto"/>
                <a:cs typeface="Roboto"/>
                <a:sym typeface="Roboto"/>
              </a:rPr>
              <a:t>Constantly changing</a:t>
            </a:r>
            <a:endParaRPr sz="1100">
              <a:latin typeface="Roboto"/>
              <a:ea typeface="Roboto"/>
              <a:cs typeface="Roboto"/>
              <a:sym typeface="Roboto"/>
            </a:endParaRPr>
          </a:p>
          <a:p>
            <a:pPr indent="-298450" lvl="1" marL="914400" rtl="0" algn="l">
              <a:spcBef>
                <a:spcPts val="0"/>
              </a:spcBef>
              <a:spcAft>
                <a:spcPts val="0"/>
              </a:spcAft>
              <a:buClr>
                <a:schemeClr val="accent1"/>
              </a:buClr>
              <a:buSzPts val="1100"/>
              <a:buFont typeface="Roboto"/>
              <a:buChar char="○"/>
            </a:pPr>
            <a:r>
              <a:rPr lang="en" sz="1100">
                <a:latin typeface="Roboto"/>
                <a:ea typeface="Roboto"/>
                <a:cs typeface="Roboto"/>
                <a:sym typeface="Roboto"/>
              </a:rPr>
              <a:t>Tightly coupled (“you can’t do just one thing”)</a:t>
            </a:r>
            <a:endParaRPr sz="1100">
              <a:latin typeface="Roboto"/>
              <a:ea typeface="Roboto"/>
              <a:cs typeface="Roboto"/>
              <a:sym typeface="Roboto"/>
            </a:endParaRPr>
          </a:p>
          <a:p>
            <a:pPr indent="-298450" lvl="1" marL="914400" rtl="0" algn="l">
              <a:spcBef>
                <a:spcPts val="0"/>
              </a:spcBef>
              <a:spcAft>
                <a:spcPts val="0"/>
              </a:spcAft>
              <a:buClr>
                <a:schemeClr val="accent1"/>
              </a:buClr>
              <a:buSzPts val="1100"/>
              <a:buFont typeface="Roboto"/>
              <a:buChar char="○"/>
            </a:pPr>
            <a:r>
              <a:rPr lang="en" sz="1100">
                <a:latin typeface="Roboto"/>
                <a:ea typeface="Roboto"/>
                <a:cs typeface="Roboto"/>
                <a:sym typeface="Roboto"/>
              </a:rPr>
              <a:t>Governed by feedback</a:t>
            </a:r>
            <a:endParaRPr sz="1100">
              <a:latin typeface="Roboto"/>
              <a:ea typeface="Roboto"/>
              <a:cs typeface="Roboto"/>
              <a:sym typeface="Roboto"/>
            </a:endParaRPr>
          </a:p>
          <a:p>
            <a:pPr indent="-298450" lvl="1" marL="914400" rtl="0" algn="l">
              <a:spcBef>
                <a:spcPts val="0"/>
              </a:spcBef>
              <a:spcAft>
                <a:spcPts val="0"/>
              </a:spcAft>
              <a:buClr>
                <a:schemeClr val="accent1"/>
              </a:buClr>
              <a:buSzPts val="1100"/>
              <a:buFont typeface="Roboto"/>
              <a:buChar char="○"/>
            </a:pPr>
            <a:r>
              <a:rPr lang="en" sz="1100">
                <a:latin typeface="Roboto"/>
                <a:ea typeface="Roboto"/>
                <a:cs typeface="Roboto"/>
                <a:sym typeface="Roboto"/>
              </a:rPr>
              <a:t>Nonlinear and history-dependent</a:t>
            </a:r>
            <a:endParaRPr sz="1100">
              <a:latin typeface="Roboto"/>
              <a:ea typeface="Roboto"/>
              <a:cs typeface="Roboto"/>
              <a:sym typeface="Roboto"/>
            </a:endParaRPr>
          </a:p>
          <a:p>
            <a:pPr indent="-298450" lvl="1" marL="914400" rtl="0" algn="l">
              <a:spcBef>
                <a:spcPts val="0"/>
              </a:spcBef>
              <a:spcAft>
                <a:spcPts val="0"/>
              </a:spcAft>
              <a:buClr>
                <a:schemeClr val="accent1"/>
              </a:buClr>
              <a:buSzPts val="1100"/>
              <a:buFont typeface="Roboto"/>
              <a:buChar char="○"/>
            </a:pPr>
            <a:r>
              <a:rPr lang="en" sz="1100">
                <a:latin typeface="Roboto"/>
                <a:ea typeface="Roboto"/>
                <a:cs typeface="Roboto"/>
                <a:sym typeface="Roboto"/>
              </a:rPr>
              <a:t>Self-organizing and adaptive</a:t>
            </a:r>
            <a:endParaRPr sz="1100">
              <a:latin typeface="Roboto"/>
              <a:ea typeface="Roboto"/>
              <a:cs typeface="Roboto"/>
              <a:sym typeface="Roboto"/>
            </a:endParaRPr>
          </a:p>
          <a:p>
            <a:pPr indent="-298450" lvl="1" marL="914400" rtl="0" algn="l">
              <a:spcBef>
                <a:spcPts val="0"/>
              </a:spcBef>
              <a:spcAft>
                <a:spcPts val="0"/>
              </a:spcAft>
              <a:buClr>
                <a:schemeClr val="accent1"/>
              </a:buClr>
              <a:buSzPts val="1100"/>
              <a:buFont typeface="Roboto"/>
              <a:buChar char="○"/>
            </a:pPr>
            <a:r>
              <a:rPr lang="en" sz="1100">
                <a:latin typeface="Roboto"/>
                <a:ea typeface="Roboto"/>
                <a:cs typeface="Roboto"/>
                <a:sym typeface="Roboto"/>
              </a:rPr>
              <a:t>Characterized by trade-offs and counterintuitive outcomes</a:t>
            </a:r>
            <a:endParaRPr sz="1100">
              <a:latin typeface="Roboto"/>
              <a:ea typeface="Roboto"/>
              <a:cs typeface="Roboto"/>
              <a:sym typeface="Roboto"/>
            </a:endParaRPr>
          </a:p>
          <a:p>
            <a:pPr indent="-298450" lvl="1" marL="914400" rtl="0" algn="l">
              <a:spcBef>
                <a:spcPts val="0"/>
              </a:spcBef>
              <a:spcAft>
                <a:spcPts val="0"/>
              </a:spcAft>
              <a:buClr>
                <a:schemeClr val="accent1"/>
              </a:buClr>
              <a:buSzPts val="1100"/>
              <a:buFont typeface="Roboto"/>
              <a:buChar char="○"/>
            </a:pPr>
            <a:r>
              <a:rPr lang="en" sz="1100">
                <a:latin typeface="Roboto"/>
                <a:ea typeface="Roboto"/>
                <a:cs typeface="Roboto"/>
                <a:sym typeface="Roboto"/>
              </a:rPr>
              <a:t>Resistant to simple policies</a:t>
            </a:r>
            <a:endParaRPr sz="1100">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 name="Shape 75"/>
        <p:cNvGrpSpPr/>
        <p:nvPr/>
      </p:nvGrpSpPr>
      <p:grpSpPr>
        <a:xfrm>
          <a:off x="0" y="0"/>
          <a:ext cx="0" cy="0"/>
          <a:chOff x="0" y="0"/>
          <a:chExt cx="0" cy="0"/>
        </a:xfrm>
      </p:grpSpPr>
      <p:sp>
        <p:nvSpPr>
          <p:cNvPr id="76" name="Google Shape;76;p15"/>
          <p:cNvSpPr txBox="1"/>
          <p:nvPr>
            <p:ph type="ctrTitle"/>
          </p:nvPr>
        </p:nvSpPr>
        <p:spPr>
          <a:xfrm>
            <a:off x="199050" y="326350"/>
            <a:ext cx="87459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System Dynamics Modeling Principles</a:t>
            </a:r>
            <a:endParaRPr/>
          </a:p>
        </p:txBody>
      </p:sp>
      <p:sp>
        <p:nvSpPr>
          <p:cNvPr id="77" name="Google Shape;77;p15"/>
          <p:cNvSpPr txBox="1"/>
          <p:nvPr/>
        </p:nvSpPr>
        <p:spPr>
          <a:xfrm>
            <a:off x="457200" y="1608850"/>
            <a:ext cx="8229600" cy="31209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Font typeface="Roboto"/>
              <a:buChar char="●"/>
            </a:pPr>
            <a:r>
              <a:rPr lang="en" sz="1100">
                <a:latin typeface="Roboto"/>
                <a:ea typeface="Roboto"/>
                <a:cs typeface="Roboto"/>
                <a:sym typeface="Roboto"/>
              </a:rPr>
              <a:t>Broad model boundaries (few exogenous variables).</a:t>
            </a:r>
            <a:endParaRPr sz="1100">
              <a:latin typeface="Roboto"/>
              <a:ea typeface="Roboto"/>
              <a:cs typeface="Roboto"/>
              <a:sym typeface="Roboto"/>
            </a:endParaRPr>
          </a:p>
          <a:p>
            <a:pPr indent="-298450" lvl="0" marL="457200" rtl="0" algn="l">
              <a:lnSpc>
                <a:spcPct val="115000"/>
              </a:lnSpc>
              <a:spcBef>
                <a:spcPts val="0"/>
              </a:spcBef>
              <a:spcAft>
                <a:spcPts val="0"/>
              </a:spcAft>
              <a:buSzPts val="1100"/>
              <a:buFont typeface="Roboto"/>
              <a:buChar char="●"/>
            </a:pPr>
            <a:r>
              <a:rPr lang="en" sz="1100">
                <a:latin typeface="Roboto"/>
                <a:ea typeface="Roboto"/>
                <a:cs typeface="Roboto"/>
                <a:sym typeface="Roboto"/>
              </a:rPr>
              <a:t>Include qualitative “soft” variables, not just hard data.</a:t>
            </a:r>
            <a:endParaRPr sz="1100">
              <a:latin typeface="Roboto"/>
              <a:ea typeface="Roboto"/>
              <a:cs typeface="Roboto"/>
              <a:sym typeface="Roboto"/>
            </a:endParaRPr>
          </a:p>
          <a:p>
            <a:pPr indent="-298450" lvl="0" marL="457200" rtl="0" algn="l">
              <a:lnSpc>
                <a:spcPct val="115000"/>
              </a:lnSpc>
              <a:spcBef>
                <a:spcPts val="0"/>
              </a:spcBef>
              <a:spcAft>
                <a:spcPts val="0"/>
              </a:spcAft>
              <a:buSzPts val="1100"/>
              <a:buFont typeface="Roboto"/>
              <a:buChar char="●"/>
            </a:pPr>
            <a:r>
              <a:rPr lang="en" sz="1100">
                <a:latin typeface="Roboto"/>
                <a:ea typeface="Roboto"/>
                <a:cs typeface="Roboto"/>
                <a:sym typeface="Roboto"/>
              </a:rPr>
              <a:t>Equations must respect information limits and physical laws.</a:t>
            </a:r>
            <a:endParaRPr sz="1100">
              <a:latin typeface="Roboto"/>
              <a:ea typeface="Roboto"/>
              <a:cs typeface="Roboto"/>
              <a:sym typeface="Roboto"/>
            </a:endParaRPr>
          </a:p>
          <a:p>
            <a:pPr indent="-298450" lvl="0" marL="457200" rtl="0" algn="l">
              <a:lnSpc>
                <a:spcPct val="115000"/>
              </a:lnSpc>
              <a:spcBef>
                <a:spcPts val="0"/>
              </a:spcBef>
              <a:spcAft>
                <a:spcPts val="0"/>
              </a:spcAft>
              <a:buSzPts val="1100"/>
              <a:buFont typeface="Roboto"/>
              <a:buChar char="●"/>
            </a:pPr>
            <a:r>
              <a:rPr lang="en" sz="1100">
                <a:latin typeface="Roboto"/>
                <a:ea typeface="Roboto"/>
                <a:cs typeface="Roboto"/>
                <a:sym typeface="Roboto"/>
              </a:rPr>
              <a:t>Models should be robust, transparent, and open to stakeholder review.</a:t>
            </a:r>
            <a:endParaRPr sz="1100">
              <a:latin typeface="Roboto"/>
              <a:ea typeface="Roboto"/>
              <a:cs typeface="Roboto"/>
              <a:sym typeface="Roboto"/>
            </a:endParaRPr>
          </a:p>
          <a:p>
            <a:pPr indent="-298450" lvl="0" marL="457200" rtl="0" algn="l">
              <a:lnSpc>
                <a:spcPct val="115000"/>
              </a:lnSpc>
              <a:spcBef>
                <a:spcPts val="0"/>
              </a:spcBef>
              <a:spcAft>
                <a:spcPts val="0"/>
              </a:spcAft>
              <a:buSzPts val="1100"/>
              <a:buFont typeface="Roboto"/>
              <a:buChar char="●"/>
            </a:pPr>
            <a:r>
              <a:rPr lang="en" sz="1100">
                <a:latin typeface="Roboto"/>
                <a:ea typeface="Roboto"/>
                <a:cs typeface="Roboto"/>
                <a:sym typeface="Roboto"/>
              </a:rPr>
              <a:t>Simulation is a learning tool, not a black box to justify decisions.</a:t>
            </a:r>
            <a:endParaRPr sz="1100">
              <a:latin typeface="Roboto"/>
              <a:ea typeface="Roboto"/>
              <a:cs typeface="Roboto"/>
              <a:sym typeface="Roboto"/>
            </a:endParaRPr>
          </a:p>
          <a:p>
            <a:pPr indent="0" lvl="0" marL="0" rtl="0" algn="l">
              <a:lnSpc>
                <a:spcPct val="115000"/>
              </a:lnSpc>
              <a:spcBef>
                <a:spcPts val="1200"/>
              </a:spcBef>
              <a:spcAft>
                <a:spcPts val="0"/>
              </a:spcAft>
              <a:buNone/>
            </a:pPr>
            <a:r>
              <a:t/>
            </a:r>
            <a:endParaRPr sz="1100">
              <a:latin typeface="Roboto"/>
              <a:ea typeface="Roboto"/>
              <a:cs typeface="Roboto"/>
              <a:sym typeface="Roboto"/>
            </a:endParaRPr>
          </a:p>
          <a:p>
            <a:pPr indent="0" lvl="0" marL="0" rtl="0" algn="l">
              <a:spcBef>
                <a:spcPts val="1200"/>
              </a:spcBef>
              <a:spcAft>
                <a:spcPts val="0"/>
              </a:spcAft>
              <a:buNone/>
            </a:pPr>
            <a:r>
              <a:t/>
            </a:r>
            <a:endParaRPr sz="1100">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 name="Shape 81"/>
        <p:cNvGrpSpPr/>
        <p:nvPr/>
      </p:nvGrpSpPr>
      <p:grpSpPr>
        <a:xfrm>
          <a:off x="0" y="0"/>
          <a:ext cx="0" cy="0"/>
          <a:chOff x="0" y="0"/>
          <a:chExt cx="0" cy="0"/>
        </a:xfrm>
      </p:grpSpPr>
      <p:pic>
        <p:nvPicPr>
          <p:cNvPr id="82" name="Google Shape;82;p16"/>
          <p:cNvPicPr preferRelativeResize="0"/>
          <p:nvPr/>
        </p:nvPicPr>
        <p:blipFill>
          <a:blip r:embed="rId3">
            <a:alphaModFix/>
          </a:blip>
          <a:stretch>
            <a:fillRect/>
          </a:stretch>
        </p:blipFill>
        <p:spPr>
          <a:xfrm>
            <a:off x="1333500" y="152400"/>
            <a:ext cx="6477000" cy="4838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 name="Shape 86"/>
        <p:cNvGrpSpPr/>
        <p:nvPr/>
      </p:nvGrpSpPr>
      <p:grpSpPr>
        <a:xfrm>
          <a:off x="0" y="0"/>
          <a:ext cx="0" cy="0"/>
          <a:chOff x="0" y="0"/>
          <a:chExt cx="0" cy="0"/>
        </a:xfrm>
      </p:grpSpPr>
      <p:pic>
        <p:nvPicPr>
          <p:cNvPr id="87" name="Google Shape;87;p17" title="Screenshot 2025-09-26 at 12.02.30 AM.png"/>
          <p:cNvPicPr preferRelativeResize="0"/>
          <p:nvPr/>
        </p:nvPicPr>
        <p:blipFill>
          <a:blip r:embed="rId3">
            <a:alphaModFix/>
          </a:blip>
          <a:stretch>
            <a:fillRect/>
          </a:stretch>
        </p:blipFill>
        <p:spPr>
          <a:xfrm>
            <a:off x="2475513" y="1047600"/>
            <a:ext cx="4192974" cy="31777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