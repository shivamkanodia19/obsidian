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4" roundtripDataSignature="AMtx7mh7fGWT8z3PibdkYbR4l9tNadyD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9DD4ED6-4F02-44A8-99E5-4BF7EEF82AA7}">
  <a:tblStyle styleId="{89DD4ED6-4F02-44A8-99E5-4BF7EEF82AA7}"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8"/>
          <p:cNvSpPr/>
          <p:nvPr>
            <p:ph idx="2" type="pic"/>
          </p:nvPr>
        </p:nvSpPr>
        <p:spPr>
          <a:xfrm>
            <a:off x="5183188" y="987425"/>
            <a:ext cx="6172200" cy="4873625"/>
          </a:xfrm>
          <a:prstGeom prst="rect">
            <a:avLst/>
          </a:prstGeom>
          <a:noFill/>
          <a:ln>
            <a:noFill/>
          </a:ln>
        </p:spPr>
      </p:sp>
      <p:sp>
        <p:nvSpPr>
          <p:cNvPr id="64" name="Google Shape;64;p1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doi.org/10.1016/j.scitotenv.2023.162507" TargetMode="External"/><Relationship Id="rId4" Type="http://schemas.openxmlformats.org/officeDocument/2006/relationships/hyperlink" Target="https://doi.org/10.3390/w16111538" TargetMode="External"/><Relationship Id="rId11" Type="http://schemas.openxmlformats.org/officeDocument/2006/relationships/hyperlink" Target="https://pubs.acs.org/doi/abs/10.1021/jf501496r" TargetMode="External"/><Relationship Id="rId10" Type="http://schemas.openxmlformats.org/officeDocument/2006/relationships/hyperlink" Target="https://www.sciencedirect.com/science/article/pii/S0959652619314118" TargetMode="External"/><Relationship Id="rId9" Type="http://schemas.openxmlformats.org/officeDocument/2006/relationships/hyperlink" Target="https://www.sciencedirect.com/science/article/pii/S0959652618325435" TargetMode="External"/><Relationship Id="rId5" Type="http://schemas.openxmlformats.org/officeDocument/2006/relationships/hyperlink" Target="https://rgs-ibg.onlinelibrary.wiley.com/doi/abs/10.1111/geoj.12256" TargetMode="External"/><Relationship Id="rId6" Type="http://schemas.openxmlformats.org/officeDocument/2006/relationships/hyperlink" Target="https://iopscience.iop.org/article/10.1088/1748-9326/aaa9c6/pdf" TargetMode="External"/><Relationship Id="rId7" Type="http://schemas.openxmlformats.org/officeDocument/2006/relationships/hyperlink" Target="https://doi.org/10.26192/z7y07" TargetMode="External"/><Relationship Id="rId8" Type="http://schemas.openxmlformats.org/officeDocument/2006/relationships/hyperlink" Target="https://www.frontiersin.org/articles/10.3389/fenvs.2022.880839/ful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480042" y="927824"/>
            <a:ext cx="10803307" cy="3903954"/>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Step 1 : define your research question</a:t>
            </a:r>
            <a:endParaRPr/>
          </a:p>
          <a:p>
            <a:pPr indent="0" lvl="0" marL="0" marR="0" rtl="0" algn="just">
              <a:lnSpc>
                <a:spcPct val="150000"/>
              </a:lnSpc>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Step 2: identify relevant keywords</a:t>
            </a:r>
            <a:endParaRPr/>
          </a:p>
          <a:p>
            <a:pPr indent="0" lvl="0" marL="0" marR="0" rtl="0" algn="just">
              <a:lnSpc>
                <a:spcPct val="150000"/>
              </a:lnSpc>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Step 3: choose appropriate databases and resources</a:t>
            </a:r>
            <a:endParaRPr/>
          </a:p>
          <a:p>
            <a:pPr indent="0" lvl="0" marL="0" marR="0" rtl="0" algn="just">
              <a:lnSpc>
                <a:spcPct val="150000"/>
              </a:lnSpc>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Step 4: conduct the search</a:t>
            </a:r>
            <a:endParaRPr/>
          </a:p>
          <a:p>
            <a:pPr indent="0" lvl="0" marL="0" marR="0" rtl="0" algn="just">
              <a:lnSpc>
                <a:spcPct val="150000"/>
              </a:lnSpc>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Step 5: screen and select literature</a:t>
            </a:r>
            <a:endParaRPr/>
          </a:p>
          <a:p>
            <a:pPr indent="0" lvl="0" marL="0" marR="0" rtl="0" algn="just">
              <a:lnSpc>
                <a:spcPct val="150000"/>
              </a:lnSpc>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Step 6: review and analyze the literature</a:t>
            </a:r>
            <a:endParaRPr/>
          </a:p>
          <a:p>
            <a:pPr indent="0" lvl="0" marL="0" marR="0" rtl="0" algn="just">
              <a:lnSpc>
                <a:spcPct val="150000"/>
              </a:lnSpc>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Step 7: synthesize information</a:t>
            </a:r>
            <a:endParaRPr/>
          </a:p>
        </p:txBody>
      </p:sp>
      <p:sp>
        <p:nvSpPr>
          <p:cNvPr id="85" name="Google Shape;85;p1"/>
          <p:cNvSpPr/>
          <p:nvPr/>
        </p:nvSpPr>
        <p:spPr>
          <a:xfrm>
            <a:off x="2096219" y="0"/>
            <a:ext cx="7953555" cy="526212"/>
          </a:xfrm>
          <a:prstGeom prst="rect">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2400" u="none" cap="none" strike="noStrike">
                <a:solidFill>
                  <a:schemeClr val="lt1"/>
                </a:solidFill>
                <a:latin typeface="Calibri"/>
                <a:ea typeface="Calibri"/>
                <a:cs typeface="Calibri"/>
                <a:sym typeface="Calibri"/>
              </a:rPr>
              <a:t>Literature review : Water Energy Food nexus in dairy farms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nvSpPr>
        <p:spPr>
          <a:xfrm>
            <a:off x="207034" y="508958"/>
            <a:ext cx="11136600" cy="49860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800" u="none" cap="none" strike="noStrike">
                <a:solidFill>
                  <a:schemeClr val="dk1"/>
                </a:solidFill>
                <a:latin typeface="Calibri"/>
                <a:ea typeface="Calibri"/>
                <a:cs typeface="Calibri"/>
                <a:sym typeface="Calibri"/>
              </a:rPr>
              <a:t> </a:t>
            </a:r>
            <a:endParaRPr/>
          </a:p>
          <a:p>
            <a:pPr indent="-285750" lvl="0" marL="285750" marR="0" rtl="0" algn="just">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How is the Water-Energy-Food (WEF) nexus conceptualized and applied in dairy farming systems across different geographic regions?</a:t>
            </a:r>
            <a:endParaRPr/>
          </a:p>
          <a:p>
            <a:pPr indent="-285750" lvl="0" marL="285750" marR="0" rtl="0" algn="just">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What are the current approaches and models used to assess the interlinkages among water, energy, and food in dairy farms?</a:t>
            </a:r>
            <a:endParaRPr/>
          </a:p>
          <a:p>
            <a:pPr indent="-285750" lvl="0" marL="285750" marR="0" rtl="0" algn="just">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What strategies have been identified in the literature to enhance sustainability in dairy farms through integrated WEF nexus management?</a:t>
            </a:r>
            <a:endParaRPr/>
          </a:p>
          <a:p>
            <a:pPr indent="-285750" lvl="0" marL="285750" marR="0" rtl="0" algn="just">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How do water and energy use efficiencies impact milk production and feed sustainability in dairy systems?</a:t>
            </a:r>
            <a:endParaRPr/>
          </a:p>
          <a:p>
            <a:pPr indent="-285750" lvl="0" marL="285750" marR="0" rtl="0" algn="just">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What technological and management interventions have been implemented to optimize the WEF nexus in dairy farms, and how effective are they?</a:t>
            </a:r>
            <a:endParaRPr/>
          </a:p>
          <a:p>
            <a:pPr indent="-285750" lvl="0" marL="285750" marR="0" rtl="0" algn="just">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How do regional climatic conditions and resource availability influence WEF nexus trade-offs in dairy production systems?</a:t>
            </a:r>
            <a:endParaRPr/>
          </a:p>
          <a:p>
            <a:pPr indent="-285750" lvl="0" marL="285750" marR="0" rtl="0" algn="just">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What are the key methodological gaps in existing WEF nexus studies applied to dairy farms?</a:t>
            </a:r>
            <a:endParaRPr/>
          </a:p>
          <a:p>
            <a:pPr indent="-285750" lvl="0" marL="285750" marR="0" rtl="0" algn="just">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To what extent have system dynamics or other integrated modeling approaches been used to study the WEF nexus in dairy production?</a:t>
            </a:r>
            <a:endParaRPr/>
          </a:p>
        </p:txBody>
      </p:sp>
      <p:sp>
        <p:nvSpPr>
          <p:cNvPr id="91" name="Google Shape;91;p2"/>
          <p:cNvSpPr/>
          <p:nvPr/>
        </p:nvSpPr>
        <p:spPr>
          <a:xfrm>
            <a:off x="2096219" y="0"/>
            <a:ext cx="7953555" cy="526212"/>
          </a:xfrm>
          <a:prstGeom prst="rect">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 </a:t>
            </a:r>
            <a:r>
              <a:rPr b="0" i="0" lang="en-US" sz="2400" u="none" cap="none" strike="noStrike">
                <a:solidFill>
                  <a:schemeClr val="lt1"/>
                </a:solidFill>
                <a:latin typeface="Calibri"/>
                <a:ea typeface="Calibri"/>
                <a:cs typeface="Calibri"/>
                <a:sym typeface="Calibri"/>
              </a:rPr>
              <a:t>Research questions</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p:nvPr/>
        </p:nvSpPr>
        <p:spPr>
          <a:xfrm>
            <a:off x="2119222" y="0"/>
            <a:ext cx="7953555" cy="526212"/>
          </a:xfrm>
          <a:prstGeom prst="rect">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2400" u="none" cap="none" strike="noStrike">
                <a:solidFill>
                  <a:schemeClr val="lt1"/>
                </a:solidFill>
                <a:latin typeface="Calibri"/>
                <a:ea typeface="Calibri"/>
                <a:cs typeface="Calibri"/>
                <a:sym typeface="Calibri"/>
              </a:rPr>
              <a:t> Identification of keywords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txBox="1"/>
          <p:nvPr/>
        </p:nvSpPr>
        <p:spPr>
          <a:xfrm>
            <a:off x="511115" y="448899"/>
            <a:ext cx="11022402" cy="8987076"/>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Calibri"/>
              <a:buAutoNum type="arabicParenR"/>
            </a:pPr>
            <a:r>
              <a:rPr b="0" i="0" lang="en-US" sz="2000" u="none" cap="none" strike="noStrike">
                <a:solidFill>
                  <a:schemeClr val="dk1"/>
                </a:solidFill>
                <a:latin typeface="Calibri"/>
                <a:ea typeface="Calibri"/>
                <a:cs typeface="Calibri"/>
                <a:sym typeface="Calibri"/>
              </a:rPr>
              <a:t>Water-Energy-Food nexus index proposal as a sustainability criterion on dairy farms: </a:t>
            </a:r>
            <a:r>
              <a:rPr b="0" i="0" lang="en-US" sz="2000" u="sng" cap="none" strike="noStrike">
                <a:solidFill>
                  <a:schemeClr val="dk1"/>
                </a:solidFill>
                <a:latin typeface="Calibri"/>
                <a:ea typeface="Calibri"/>
                <a:cs typeface="Calibri"/>
                <a:sym typeface="Calibri"/>
                <a:hlinkClick r:id="rId3">
                  <a:extLst>
                    <a:ext uri="{A12FA001-AC4F-418D-AE19-62706E023703}">
                      <ahyp:hlinkClr val="tx"/>
                    </a:ext>
                  </a:extLst>
                </a:hlinkClick>
              </a:rPr>
              <a:t>https://doi.org/10.1016/j.scitotenv.2023.162507</a:t>
            </a:r>
            <a:endParaRPr b="0" i="0" sz="2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Calibri"/>
              <a:buAutoNum type="arabicParenR"/>
            </a:pPr>
            <a:r>
              <a:rPr b="0" i="0" lang="en-US" sz="2000" u="none" cap="none" strike="noStrike">
                <a:solidFill>
                  <a:schemeClr val="dk1"/>
                </a:solidFill>
                <a:latin typeface="Calibri"/>
                <a:ea typeface="Calibri"/>
                <a:cs typeface="Calibri"/>
                <a:sym typeface="Calibri"/>
              </a:rPr>
              <a:t>Water–Energy–Milk Nexus: Empirical Evidence from Saudi Arabia: </a:t>
            </a:r>
            <a:r>
              <a:rPr b="0" i="0" lang="en-US" sz="2000" u="sng" cap="none" strike="noStrike">
                <a:solidFill>
                  <a:schemeClr val="dk1"/>
                </a:solidFill>
                <a:latin typeface="Calibri"/>
                <a:ea typeface="Calibri"/>
                <a:cs typeface="Calibri"/>
                <a:sym typeface="Calibri"/>
                <a:hlinkClick r:id="rId4">
                  <a:extLst>
                    <a:ext uri="{A12FA001-AC4F-418D-AE19-62706E023703}">
                      <ahyp:hlinkClr val="tx"/>
                    </a:ext>
                  </a:extLst>
                </a:hlinkClick>
              </a:rPr>
              <a:t>https://doi.org/10.3390/w16111538</a:t>
            </a:r>
            <a:endParaRPr b="0" i="0" sz="2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Calibri"/>
              <a:buAutoNum type="arabicParenR"/>
            </a:pPr>
            <a:r>
              <a:rPr b="0" i="0" lang="en-US" sz="2000" u="none" cap="none" strike="noStrike">
                <a:solidFill>
                  <a:schemeClr val="dk1"/>
                </a:solidFill>
                <a:latin typeface="Calibri"/>
                <a:ea typeface="Calibri"/>
                <a:cs typeface="Calibri"/>
                <a:sym typeface="Calibri"/>
              </a:rPr>
              <a:t>Assessing the eco-efficiency of milk production systems using water-energy-labor-food nexus: https://doi.org/10.1016/j.scitotenv.2024.176812</a:t>
            </a:r>
            <a:endParaRPr/>
          </a:p>
          <a:p>
            <a:pPr indent="-342900" lvl="0" marL="342900" marR="0" rtl="0" algn="l">
              <a:spcBef>
                <a:spcPts val="0"/>
              </a:spcBef>
              <a:spcAft>
                <a:spcPts val="0"/>
              </a:spcAft>
              <a:buClr>
                <a:schemeClr val="dk1"/>
              </a:buClr>
              <a:buSzPts val="2000"/>
              <a:buFont typeface="Calibri"/>
              <a:buAutoNum type="arabicParenR"/>
            </a:pPr>
            <a:r>
              <a:rPr b="0" i="0" lang="en-US" sz="2000" u="none" cap="none" strike="noStrike">
                <a:solidFill>
                  <a:schemeClr val="dk1"/>
                </a:solidFill>
                <a:latin typeface="Calibri"/>
                <a:ea typeface="Calibri"/>
                <a:cs typeface="Calibri"/>
                <a:sym typeface="Calibri"/>
              </a:rPr>
              <a:t> Scaling the nexus: Towards integrated frameworks for analysing water, energy and food: </a:t>
            </a:r>
            <a:r>
              <a:rPr b="0" i="0" lang="en-US" sz="2000" u="sng" cap="none" strike="noStrike">
                <a:solidFill>
                  <a:schemeClr val="dk1"/>
                </a:solidFill>
                <a:latin typeface="Calibri"/>
                <a:ea typeface="Calibri"/>
                <a:cs typeface="Calibri"/>
                <a:sym typeface="Calibri"/>
                <a:hlinkClick r:id="rId5">
                  <a:extLst>
                    <a:ext uri="{A12FA001-AC4F-418D-AE19-62706E023703}">
                      <ahyp:hlinkClr val="tx"/>
                    </a:ext>
                  </a:extLst>
                </a:hlinkClick>
              </a:rPr>
              <a:t>https://rgs-ibg.onlinelibrary.wiley.com/doi/abs/10.1111/geoj.12256</a:t>
            </a:r>
            <a:endParaRPr b="0" i="0" sz="2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Calibri"/>
              <a:buAutoNum type="arabicParenR"/>
            </a:pPr>
            <a:r>
              <a:rPr b="0" i="0" lang="en-US" sz="2000" u="none" cap="none" strike="noStrike">
                <a:solidFill>
                  <a:schemeClr val="dk1"/>
                </a:solidFill>
                <a:latin typeface="Calibri"/>
                <a:ea typeface="Calibri"/>
                <a:cs typeface="Calibri"/>
                <a:sym typeface="Calibri"/>
              </a:rPr>
              <a:t>The Water-Energy-Food Nexus: A systematic review of methods for nexus assessment: </a:t>
            </a:r>
            <a:r>
              <a:rPr b="0" i="0" lang="en-US" sz="2000" u="sng" cap="none" strike="noStrike">
                <a:solidFill>
                  <a:schemeClr val="dk1"/>
                </a:solidFill>
                <a:latin typeface="Calibri"/>
                <a:ea typeface="Calibri"/>
                <a:cs typeface="Calibri"/>
                <a:sym typeface="Calibri"/>
                <a:hlinkClick r:id="rId6">
                  <a:extLst>
                    <a:ext uri="{A12FA001-AC4F-418D-AE19-62706E023703}">
                      <ahyp:hlinkClr val="tx"/>
                    </a:ext>
                  </a:extLst>
                </a:hlinkClick>
              </a:rPr>
              <a:t>https://iopscience.iop.org/article/10.1088/1748-9326/aaa9c6/pdf</a:t>
            </a:r>
            <a:r>
              <a:rPr b="0" i="0" lang="en-US" sz="2000" u="none" cap="none" strike="noStrike">
                <a:solidFill>
                  <a:schemeClr val="dk1"/>
                </a:solidFill>
                <a:latin typeface="Calibri"/>
                <a:ea typeface="Calibri"/>
                <a:cs typeface="Calibri"/>
                <a:sym typeface="Calibri"/>
              </a:rPr>
              <a:t> </a:t>
            </a:r>
            <a:endParaRPr/>
          </a:p>
          <a:p>
            <a:pPr indent="-342900" lvl="0" marL="342900" marR="0" rtl="0" algn="l">
              <a:spcBef>
                <a:spcPts val="0"/>
              </a:spcBef>
              <a:spcAft>
                <a:spcPts val="0"/>
              </a:spcAft>
              <a:buClr>
                <a:schemeClr val="dk1"/>
              </a:buClr>
              <a:buSzPts val="2000"/>
              <a:buFont typeface="Calibri"/>
              <a:buAutoNum type="arabicParenR"/>
            </a:pPr>
            <a:r>
              <a:rPr b="0" i="0" lang="en-US" sz="2000" u="none" cap="none" strike="noStrike">
                <a:solidFill>
                  <a:schemeClr val="dk1"/>
                </a:solidFill>
                <a:latin typeface="Calibri"/>
                <a:ea typeface="Calibri"/>
                <a:cs typeface="Calibri"/>
                <a:sym typeface="Calibri"/>
              </a:rPr>
              <a:t> Water-Energy-Food (WEF) nexus in agricultural systems: </a:t>
            </a:r>
            <a:r>
              <a:rPr b="0" i="0" lang="en-US" sz="2000" u="sng" cap="none" strike="noStrike">
                <a:solidFill>
                  <a:schemeClr val="dk1"/>
                </a:solidFill>
                <a:latin typeface="Calibri"/>
                <a:ea typeface="Calibri"/>
                <a:cs typeface="Calibri"/>
                <a:sym typeface="Calibri"/>
                <a:hlinkClick r:id="rId7">
                  <a:extLst>
                    <a:ext uri="{A12FA001-AC4F-418D-AE19-62706E023703}">
                      <ahyp:hlinkClr val="tx"/>
                    </a:ext>
                  </a:extLst>
                </a:hlinkClick>
              </a:rPr>
              <a:t>https://doi.org/10.26192/z7y07</a:t>
            </a:r>
            <a:endParaRPr b="0" i="0" sz="2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Calibri"/>
              <a:buAutoNum type="arabicParenR"/>
            </a:pPr>
            <a:r>
              <a:rPr b="0" i="0" lang="en-US" sz="2000" u="none" cap="none" strike="noStrike">
                <a:solidFill>
                  <a:schemeClr val="dk1"/>
                </a:solidFill>
                <a:latin typeface="Calibri"/>
                <a:ea typeface="Calibri"/>
                <a:cs typeface="Calibri"/>
                <a:sym typeface="Calibri"/>
              </a:rPr>
              <a:t>Farm-scale water-energy-food-waste nexus analysis for a closed-loop dairy system: </a:t>
            </a:r>
            <a:r>
              <a:rPr b="0" i="0" lang="en-US" sz="2000" u="sng" cap="none" strike="noStrike">
                <a:solidFill>
                  <a:schemeClr val="dk1"/>
                </a:solidFill>
                <a:latin typeface="Calibri"/>
                <a:ea typeface="Calibri"/>
                <a:cs typeface="Calibri"/>
                <a:sym typeface="Calibri"/>
                <a:hlinkClick r:id="rId8">
                  <a:extLst>
                    <a:ext uri="{A12FA001-AC4F-418D-AE19-62706E023703}">
                      <ahyp:hlinkClr val="tx"/>
                    </a:ext>
                  </a:extLst>
                </a:hlinkClick>
              </a:rPr>
              <a:t>https://www.frontiersin.org/articles/10.3389/fenvs.2022.880839/full</a:t>
            </a:r>
            <a:endParaRPr b="0" i="0" sz="2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Calibri"/>
              <a:buAutoNum type="arabicParenR"/>
            </a:pPr>
            <a:r>
              <a:rPr b="0" i="0" lang="en-US" sz="2000" u="none" cap="none" strike="noStrike">
                <a:solidFill>
                  <a:schemeClr val="dk1"/>
                </a:solidFill>
                <a:latin typeface="Calibri"/>
                <a:ea typeface="Calibri"/>
                <a:cs typeface="Calibri"/>
                <a:sym typeface="Calibri"/>
              </a:rPr>
              <a:t>An integrative approach for the water-energy-food nexus in beef cattle production: A simulation of the proposed model to Brazil: </a:t>
            </a:r>
            <a:r>
              <a:rPr b="0" i="0" lang="en-US" sz="2000" u="sng" cap="none" strike="noStrike">
                <a:solidFill>
                  <a:schemeClr val="dk1"/>
                </a:solidFill>
                <a:latin typeface="Calibri"/>
                <a:ea typeface="Calibri"/>
                <a:cs typeface="Calibri"/>
                <a:sym typeface="Calibri"/>
                <a:hlinkClick r:id="rId9">
                  <a:extLst>
                    <a:ext uri="{A12FA001-AC4F-418D-AE19-62706E023703}">
                      <ahyp:hlinkClr val="tx"/>
                    </a:ext>
                  </a:extLst>
                </a:hlinkClick>
              </a:rPr>
              <a:t>https://www.sciencedirect.com/science/article/pii/S0959652618325435</a:t>
            </a:r>
            <a:endParaRPr b="0" i="0" sz="2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Calibri"/>
              <a:buAutoNum type="arabicParenR"/>
            </a:pPr>
            <a:r>
              <a:rPr b="0" i="0" lang="en-US" sz="2000" u="none" cap="none" strike="noStrike">
                <a:solidFill>
                  <a:schemeClr val="dk1"/>
                </a:solidFill>
                <a:latin typeface="Calibri"/>
                <a:ea typeface="Calibri"/>
                <a:cs typeface="Calibri"/>
                <a:sym typeface="Calibri"/>
              </a:rPr>
              <a:t>Considering agricultural wastes and ecosystem services in Food-Energy-Water-Waste Nexus system design: </a:t>
            </a:r>
            <a:r>
              <a:rPr b="0" i="0" lang="en-US" sz="2000" u="sng" cap="none" strike="noStrike">
                <a:solidFill>
                  <a:schemeClr val="dk1"/>
                </a:solidFill>
                <a:latin typeface="Calibri"/>
                <a:ea typeface="Calibri"/>
                <a:cs typeface="Calibri"/>
                <a:sym typeface="Calibri"/>
                <a:hlinkClick r:id="rId10">
                  <a:extLst>
                    <a:ext uri="{A12FA001-AC4F-418D-AE19-62706E023703}">
                      <ahyp:hlinkClr val="tx"/>
                    </a:ext>
                  </a:extLst>
                </a:hlinkClick>
              </a:rPr>
              <a:t>https://www.sciencedirect.com/science/article/pii/S0959652619314118</a:t>
            </a:r>
            <a:endParaRPr b="0" i="0" sz="2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Calibri"/>
              <a:buAutoNum type="arabicParenR"/>
            </a:pPr>
            <a:r>
              <a:rPr b="0" i="0" lang="en-US" sz="2000" u="none" cap="none" strike="noStrike">
                <a:solidFill>
                  <a:schemeClr val="dk1"/>
                </a:solidFill>
                <a:latin typeface="Calibri"/>
                <a:ea typeface="Calibri"/>
                <a:cs typeface="Calibri"/>
                <a:sym typeface="Calibri"/>
              </a:rPr>
              <a:t>The Nexus of Food, Energy, and Water: </a:t>
            </a:r>
            <a:r>
              <a:rPr b="0" i="0" lang="en-US" sz="2000" u="sng" cap="none" strike="noStrike">
                <a:solidFill>
                  <a:schemeClr val="dk1"/>
                </a:solidFill>
                <a:latin typeface="Calibri"/>
                <a:ea typeface="Calibri"/>
                <a:cs typeface="Calibri"/>
                <a:sym typeface="Calibri"/>
                <a:hlinkClick r:id="rId11">
                  <a:extLst>
                    <a:ext uri="{A12FA001-AC4F-418D-AE19-62706E023703}">
                      <ahyp:hlinkClr val="tx"/>
                    </a:ext>
                  </a:extLst>
                </a:hlinkClick>
              </a:rPr>
              <a:t>https://pubs.acs.org/doi/abs/10.1021/jf501496r</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215900" lvl="0" marL="342900" marR="0" rtl="0" algn="l">
              <a:spcBef>
                <a:spcPts val="0"/>
              </a:spcBef>
              <a:spcAft>
                <a:spcPts val="0"/>
              </a:spcAft>
              <a:buClr>
                <a:schemeClr val="dk1"/>
              </a:buClr>
              <a:buSzPts val="2000"/>
              <a:buFont typeface="Calibri"/>
              <a:buNone/>
            </a:pPr>
            <a:r>
              <a:t/>
            </a:r>
            <a:endParaRPr sz="2000">
              <a:solidFill>
                <a:schemeClr val="dk1"/>
              </a:solidFill>
              <a:latin typeface="Calibri"/>
              <a:ea typeface="Calibri"/>
              <a:cs typeface="Calibri"/>
              <a:sym typeface="Calibri"/>
            </a:endParaRPr>
          </a:p>
          <a:p>
            <a:pPr indent="-215900" lvl="0" marL="342900" marR="0" rtl="0" algn="l">
              <a:spcBef>
                <a:spcPts val="0"/>
              </a:spcBef>
              <a:spcAft>
                <a:spcPts val="0"/>
              </a:spcAft>
              <a:buClr>
                <a:schemeClr val="dk1"/>
              </a:buClr>
              <a:buSzPts val="2000"/>
              <a:buFont typeface="Calibri"/>
              <a:buNone/>
            </a:pPr>
            <a:r>
              <a:t/>
            </a:r>
            <a:endParaRPr sz="2000">
              <a:solidFill>
                <a:schemeClr val="dk1"/>
              </a:solidFill>
              <a:latin typeface="Calibri"/>
              <a:ea typeface="Calibri"/>
              <a:cs typeface="Calibri"/>
              <a:sym typeface="Calibri"/>
            </a:endParaRPr>
          </a:p>
          <a:p>
            <a:pPr indent="-215900" lvl="0" marL="342900" marR="0" rtl="0" algn="l">
              <a:spcBef>
                <a:spcPts val="0"/>
              </a:spcBef>
              <a:spcAft>
                <a:spcPts val="0"/>
              </a:spcAft>
              <a:buClr>
                <a:schemeClr val="dk1"/>
              </a:buClr>
              <a:buSzPts val="2000"/>
              <a:buFont typeface="Calibri"/>
              <a:buNone/>
            </a:pPr>
            <a:r>
              <a:t/>
            </a:r>
            <a:endParaRPr sz="2000">
              <a:solidFill>
                <a:schemeClr val="dk1"/>
              </a:solidFill>
              <a:latin typeface="Calibri"/>
              <a:ea typeface="Calibri"/>
              <a:cs typeface="Calibri"/>
              <a:sym typeface="Calibri"/>
            </a:endParaRPr>
          </a:p>
          <a:p>
            <a:pPr indent="-215900" lvl="0" marL="342900" marR="0" rtl="0" algn="l">
              <a:spcBef>
                <a:spcPts val="0"/>
              </a:spcBef>
              <a:spcAft>
                <a:spcPts val="0"/>
              </a:spcAft>
              <a:buClr>
                <a:schemeClr val="dk1"/>
              </a:buClr>
              <a:buSzPts val="2000"/>
              <a:buFont typeface="Calibri"/>
              <a:buNone/>
            </a:pPr>
            <a:r>
              <a:t/>
            </a:r>
            <a:endParaRPr sz="2000">
              <a:solidFill>
                <a:schemeClr val="dk1"/>
              </a:solidFill>
              <a:latin typeface="Calibri"/>
              <a:ea typeface="Calibri"/>
              <a:cs typeface="Calibri"/>
              <a:sym typeface="Calibri"/>
            </a:endParaRPr>
          </a:p>
          <a:p>
            <a:pPr indent="-215900" lvl="0" marL="342900" marR="0" rtl="0" algn="l">
              <a:spcBef>
                <a:spcPts val="0"/>
              </a:spcBef>
              <a:spcAft>
                <a:spcPts val="0"/>
              </a:spcAft>
              <a:buClr>
                <a:schemeClr val="dk1"/>
              </a:buClr>
              <a:buSzPts val="2000"/>
              <a:buFont typeface="Calibri"/>
              <a:buNone/>
            </a:pPr>
            <a:r>
              <a:t/>
            </a:r>
            <a:endParaRPr sz="2000">
              <a:solidFill>
                <a:schemeClr val="dk1"/>
              </a:solidFill>
              <a:latin typeface="Calibri"/>
              <a:ea typeface="Calibri"/>
              <a:cs typeface="Calibri"/>
              <a:sym typeface="Calibri"/>
            </a:endParaRPr>
          </a:p>
          <a:p>
            <a:pPr indent="-215900" lvl="0" marL="342900" marR="0" rtl="0" algn="l">
              <a:spcBef>
                <a:spcPts val="0"/>
              </a:spcBef>
              <a:spcAft>
                <a:spcPts val="0"/>
              </a:spcAft>
              <a:buClr>
                <a:schemeClr val="dk1"/>
              </a:buClr>
              <a:buSzPts val="2000"/>
              <a:buFont typeface="Calibri"/>
              <a:buNone/>
            </a:pPr>
            <a:r>
              <a:t/>
            </a:r>
            <a:endParaRPr sz="2000">
              <a:solidFill>
                <a:schemeClr val="dk1"/>
              </a:solidFill>
              <a:latin typeface="Calibri"/>
              <a:ea typeface="Calibri"/>
              <a:cs typeface="Calibri"/>
              <a:sym typeface="Calibri"/>
            </a:endParaRPr>
          </a:p>
          <a:p>
            <a:pPr indent="-215900" lvl="0" marL="342900" marR="0" rtl="0" algn="l">
              <a:spcBef>
                <a:spcPts val="0"/>
              </a:spcBef>
              <a:spcAft>
                <a:spcPts val="0"/>
              </a:spcAft>
              <a:buClr>
                <a:schemeClr val="dk1"/>
              </a:buClr>
              <a:buSzPts val="2000"/>
              <a:buFont typeface="Calibri"/>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5"/>
          <p:cNvPicPr preferRelativeResize="0"/>
          <p:nvPr/>
        </p:nvPicPr>
        <p:blipFill rotWithShape="1">
          <a:blip r:embed="rId3">
            <a:alphaModFix/>
          </a:blip>
          <a:srcRect b="0" l="0" r="0" t="0"/>
          <a:stretch/>
        </p:blipFill>
        <p:spPr>
          <a:xfrm>
            <a:off x="6489702" y="833459"/>
            <a:ext cx="5430663" cy="3738541"/>
          </a:xfrm>
          <a:prstGeom prst="rect">
            <a:avLst/>
          </a:prstGeom>
          <a:noFill/>
          <a:ln>
            <a:noFill/>
          </a:ln>
        </p:spPr>
      </p:pic>
      <p:sp>
        <p:nvSpPr>
          <p:cNvPr id="107" name="Google Shape;107;p5"/>
          <p:cNvSpPr/>
          <p:nvPr/>
        </p:nvSpPr>
        <p:spPr>
          <a:xfrm>
            <a:off x="370936" y="4994782"/>
            <a:ext cx="11480283"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a:solidFill>
                  <a:srgbClr val="1F1F1F"/>
                </a:solidFill>
                <a:latin typeface="Calibri"/>
                <a:ea typeface="Calibri"/>
                <a:cs typeface="Calibri"/>
                <a:sym typeface="Calibri"/>
              </a:rPr>
              <a:t>WEF nexus framework (left side) and steps of the methodology followed (right side) for the implementation of a WEF nexus index (varying from 0 to 100) on dairy farms, calculating a series of indicators: carbon footprint (CF, kg CO</a:t>
            </a:r>
            <a:r>
              <a:rPr b="0" baseline="-25000" i="0" lang="en-US" sz="1800">
                <a:solidFill>
                  <a:srgbClr val="1F1F1F"/>
                </a:solidFill>
                <a:latin typeface="Calibri"/>
                <a:ea typeface="Calibri"/>
                <a:cs typeface="Calibri"/>
                <a:sym typeface="Calibri"/>
              </a:rPr>
              <a:t>2</a:t>
            </a:r>
            <a:r>
              <a:rPr b="0" i="0" lang="en-US" sz="1800">
                <a:solidFill>
                  <a:srgbClr val="1F1F1F"/>
                </a:solidFill>
                <a:latin typeface="Calibri"/>
                <a:ea typeface="Calibri"/>
                <a:cs typeface="Calibri"/>
                <a:sym typeface="Calibri"/>
              </a:rPr>
              <a:t> eq.), water footprint (WF, m</a:t>
            </a:r>
            <a:r>
              <a:rPr b="0" baseline="30000" i="0" lang="en-US" sz="1800">
                <a:solidFill>
                  <a:srgbClr val="1F1F1F"/>
                </a:solidFill>
                <a:latin typeface="Calibri"/>
                <a:ea typeface="Calibri"/>
                <a:cs typeface="Calibri"/>
                <a:sym typeface="Calibri"/>
              </a:rPr>
              <a:t>3</a:t>
            </a:r>
            <a:r>
              <a:rPr b="0" i="0" lang="en-US" sz="1800">
                <a:solidFill>
                  <a:srgbClr val="1F1F1F"/>
                </a:solidFill>
                <a:latin typeface="Calibri"/>
                <a:ea typeface="Calibri"/>
                <a:cs typeface="Calibri"/>
                <a:sym typeface="Calibri"/>
              </a:rPr>
              <a:t> of water), energy footprint (EF, MJ), and milk yield (MY, m</a:t>
            </a:r>
            <a:r>
              <a:rPr b="0" baseline="30000" i="0" lang="en-US" sz="1800">
                <a:solidFill>
                  <a:srgbClr val="1F1F1F"/>
                </a:solidFill>
                <a:latin typeface="Calibri"/>
                <a:ea typeface="Calibri"/>
                <a:cs typeface="Calibri"/>
                <a:sym typeface="Calibri"/>
              </a:rPr>
              <a:t>3</a:t>
            </a:r>
            <a:r>
              <a:rPr b="0" i="0" lang="en-US" sz="1800">
                <a:solidFill>
                  <a:srgbClr val="1F1F1F"/>
                </a:solidFill>
                <a:latin typeface="Calibri"/>
                <a:ea typeface="Calibri"/>
                <a:cs typeface="Calibri"/>
                <a:sym typeface="Calibri"/>
              </a:rPr>
              <a:t> of milk per cow), as well as the improvement actions for the group with the worst scores</a:t>
            </a:r>
            <a:endParaRPr sz="1800">
              <a:solidFill>
                <a:schemeClr val="dk1"/>
              </a:solidFill>
              <a:latin typeface="Calibri"/>
              <a:ea typeface="Calibri"/>
              <a:cs typeface="Calibri"/>
              <a:sym typeface="Calibri"/>
            </a:endParaRPr>
          </a:p>
        </p:txBody>
      </p:sp>
      <p:pic>
        <p:nvPicPr>
          <p:cNvPr id="108" name="Google Shape;108;p5"/>
          <p:cNvPicPr preferRelativeResize="0"/>
          <p:nvPr/>
        </p:nvPicPr>
        <p:blipFill rotWithShape="1">
          <a:blip r:embed="rId4">
            <a:alphaModFix/>
          </a:blip>
          <a:srcRect b="0" l="0" r="0" t="0"/>
          <a:stretch/>
        </p:blipFill>
        <p:spPr>
          <a:xfrm>
            <a:off x="0" y="833459"/>
            <a:ext cx="6531453" cy="388376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6"/>
          <p:cNvPicPr preferRelativeResize="0"/>
          <p:nvPr/>
        </p:nvPicPr>
        <p:blipFill rotWithShape="1">
          <a:blip r:embed="rId3">
            <a:alphaModFix/>
          </a:blip>
          <a:srcRect b="0" l="0" r="0" t="0"/>
          <a:stretch/>
        </p:blipFill>
        <p:spPr>
          <a:xfrm>
            <a:off x="1776412" y="327025"/>
            <a:ext cx="8734569" cy="599444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p:nvPr/>
        </p:nvSpPr>
        <p:spPr>
          <a:xfrm>
            <a:off x="378342" y="541561"/>
            <a:ext cx="10252363"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The water-energy-food (WEF) nexus has emerged, and resulted in, significant changes to the way we perceive the interdependencies and feedbacks across the three sectors. Here, we address the data issues that are central to mapping these interdependencies, and provide an assessment of the existing frameworks that are utilised within WEF nexus research</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graphicFrame>
        <p:nvGraphicFramePr>
          <p:cNvPr id="123" name="Google Shape;123;p8"/>
          <p:cNvGraphicFramePr/>
          <p:nvPr/>
        </p:nvGraphicFramePr>
        <p:xfrm>
          <a:off x="2031999" y="719666"/>
          <a:ext cx="3000000" cy="3000000"/>
        </p:xfrm>
        <a:graphic>
          <a:graphicData uri="http://schemas.openxmlformats.org/drawingml/2006/table">
            <a:tbl>
              <a:tblPr bandRow="1" firstRow="1">
                <a:noFill/>
                <a:tableStyleId>{89DD4ED6-4F02-44A8-99E5-4BF7EEF82AA7}</a:tableStyleId>
              </a:tblPr>
              <a:tblGrid>
                <a:gridCol w="2148925"/>
                <a:gridCol w="2148925"/>
                <a:gridCol w="2148925"/>
                <a:gridCol w="2148925"/>
              </a:tblGrid>
              <a:tr h="370850">
                <a:tc>
                  <a:txBody>
                    <a:bodyPr/>
                    <a:lstStyle/>
                    <a:p>
                      <a:pPr indent="0" lvl="0" marL="0" marR="0" rtl="0" algn="l">
                        <a:spcBef>
                          <a:spcPts val="0"/>
                        </a:spcBef>
                        <a:spcAft>
                          <a:spcPts val="0"/>
                        </a:spcAft>
                        <a:buNone/>
                      </a:pPr>
                      <a:r>
                        <a:rPr lang="en-US" sz="1800" u="none" cap="none" strike="noStrike"/>
                        <a:t>Device  </a:t>
                      </a:r>
                      <a:endParaRPr/>
                    </a:p>
                  </a:txBody>
                  <a:tcPr marT="45725" marB="45725" marR="91450" marL="91450"/>
                </a:tc>
                <a:tc>
                  <a:txBody>
                    <a:bodyPr/>
                    <a:lstStyle/>
                    <a:p>
                      <a:pPr indent="0" lvl="0" marL="0" marR="0" rtl="0" algn="l">
                        <a:spcBef>
                          <a:spcPts val="0"/>
                        </a:spcBef>
                        <a:spcAft>
                          <a:spcPts val="0"/>
                        </a:spcAft>
                        <a:buNone/>
                      </a:pPr>
                      <a:r>
                        <a:rPr lang="en-US" sz="1800"/>
                        <a:t>Price </a:t>
                      </a:r>
                      <a:endParaRPr/>
                    </a:p>
                  </a:txBody>
                  <a:tcPr marT="45725" marB="45725" marR="91450" marL="91450"/>
                </a:tc>
                <a:tc>
                  <a:txBody>
                    <a:bodyPr/>
                    <a:lstStyle/>
                    <a:p>
                      <a:pPr indent="0" lvl="0" marL="0" marR="0" rtl="0" algn="l">
                        <a:spcBef>
                          <a:spcPts val="0"/>
                        </a:spcBef>
                        <a:spcAft>
                          <a:spcPts val="0"/>
                        </a:spcAft>
                        <a:buNone/>
                      </a:pPr>
                      <a:r>
                        <a:rPr lang="en-US" sz="1800"/>
                        <a:t>Type </a:t>
                      </a:r>
                      <a:endParaRPr/>
                    </a:p>
                  </a:txBody>
                  <a:tcPr marT="45725" marB="45725" marR="91450" marL="91450"/>
                </a:tc>
                <a:tc>
                  <a:txBody>
                    <a:bodyPr/>
                    <a:lstStyle/>
                    <a:p>
                      <a:pPr indent="0" lvl="0" marL="0" marR="0" rtl="0" algn="l">
                        <a:spcBef>
                          <a:spcPts val="0"/>
                        </a:spcBef>
                        <a:spcAft>
                          <a:spcPts val="0"/>
                        </a:spcAft>
                        <a:buNone/>
                      </a:pPr>
                      <a:r>
                        <a:rPr lang="en-US" sz="1800"/>
                        <a:t>Accuracy </a:t>
                      </a:r>
                      <a:endParaRPr/>
                    </a:p>
                  </a:txBody>
                  <a:tcPr marT="45725" marB="45725" marR="91450" marL="91450"/>
                </a:tc>
              </a:tr>
              <a:tr h="370850">
                <a:tc>
                  <a:txBody>
                    <a:bodyPr/>
                    <a:lstStyle/>
                    <a:p>
                      <a:pPr indent="0" lvl="0" marL="0" marR="0" rtl="0" algn="l">
                        <a:spcBef>
                          <a:spcPts val="0"/>
                        </a:spcBef>
                        <a:spcAft>
                          <a:spcPts val="0"/>
                        </a:spcAft>
                        <a:buNone/>
                      </a:pPr>
                      <a:r>
                        <a:rPr lang="en-US" sz="1800"/>
                        <a:t>Droplet </a:t>
                      </a:r>
                      <a:endParaRPr/>
                    </a:p>
                  </a:txBody>
                  <a:tcPr marT="45725" marB="45725" marR="91450" marL="91450"/>
                </a:tc>
                <a:tc>
                  <a:txBody>
                    <a:bodyPr/>
                    <a:lstStyle/>
                    <a:p>
                      <a:pPr indent="0" lvl="0" marL="0" marR="0" rtl="0" algn="l">
                        <a:spcBef>
                          <a:spcPts val="0"/>
                        </a:spcBef>
                        <a:spcAft>
                          <a:spcPts val="0"/>
                        </a:spcAft>
                        <a:buNone/>
                      </a:pPr>
                      <a:r>
                        <a:rPr lang="en-US" sz="1800"/>
                        <a:t>$ 199</a:t>
                      </a:r>
                      <a:endParaRPr/>
                    </a:p>
                  </a:txBody>
                  <a:tcPr marT="45725" marB="45725" marR="91450" marL="91450"/>
                </a:tc>
                <a:tc>
                  <a:txBody>
                    <a:bodyPr/>
                    <a:lstStyle/>
                    <a:p>
                      <a:pPr indent="0" lvl="0" marL="0" marR="0" rtl="0" algn="l">
                        <a:spcBef>
                          <a:spcPts val="0"/>
                        </a:spcBef>
                        <a:spcAft>
                          <a:spcPts val="0"/>
                        </a:spcAft>
                        <a:buNone/>
                      </a:pPr>
                      <a:r>
                        <a:rPr lang="en-US" sz="1800"/>
                        <a:t>Clamp on ultrasonic</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rPr lang="en-US" sz="1800"/>
                        <a:t>Frizzlife LP 365 </a:t>
                      </a:r>
                      <a:endParaRPr/>
                    </a:p>
                  </a:txBody>
                  <a:tcPr marT="45725" marB="45725" marR="91450" marL="91450"/>
                </a:tc>
                <a:tc>
                  <a:txBody>
                    <a:bodyPr/>
                    <a:lstStyle/>
                    <a:p>
                      <a:pPr indent="0" lvl="0" marL="0" marR="0" rtl="0" algn="l">
                        <a:spcBef>
                          <a:spcPts val="0"/>
                        </a:spcBef>
                        <a:spcAft>
                          <a:spcPts val="0"/>
                        </a:spcAft>
                        <a:buNone/>
                      </a:pPr>
                      <a:r>
                        <a:rPr lang="en-US" sz="1800"/>
                        <a:t>$ 300</a:t>
                      </a:r>
                      <a:endParaRPr/>
                    </a:p>
                  </a:txBody>
                  <a:tcPr marT="45725" marB="45725" marR="91450" marL="91450"/>
                </a:tc>
                <a:tc>
                  <a:txBody>
                    <a:bodyPr/>
                    <a:lstStyle/>
                    <a:p>
                      <a:pPr indent="0" lvl="0" marL="0" marR="0" rtl="0" algn="l">
                        <a:spcBef>
                          <a:spcPts val="0"/>
                        </a:spcBef>
                        <a:spcAft>
                          <a:spcPts val="0"/>
                        </a:spcAft>
                        <a:buNone/>
                      </a:pPr>
                      <a:r>
                        <a:rPr lang="en-US" sz="1800"/>
                        <a:t>Inline smart meter</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rPr lang="en-US" sz="1800"/>
                        <a:t>Flowsmart </a:t>
                      </a:r>
                      <a:endParaRPr/>
                    </a:p>
                  </a:txBody>
                  <a:tcPr marT="45725" marB="45725" marR="91450" marL="91450"/>
                </a:tc>
                <a:tc>
                  <a:txBody>
                    <a:bodyPr/>
                    <a:lstStyle/>
                    <a:p>
                      <a:pPr indent="0" lvl="0" marL="0" marR="0" rtl="0" algn="l">
                        <a:spcBef>
                          <a:spcPts val="0"/>
                        </a:spcBef>
                        <a:spcAft>
                          <a:spcPts val="0"/>
                        </a:spcAft>
                        <a:buNone/>
                      </a:pPr>
                      <a:r>
                        <a:rPr lang="en-US" sz="1800"/>
                        <a:t>$ 199</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rPr lang="en-US" sz="1800"/>
                        <a:t>Ecowitt WFCO1</a:t>
                      </a:r>
                      <a:endParaRPr/>
                    </a:p>
                  </a:txBody>
                  <a:tcPr marT="45725" marB="45725" marR="91450" marL="91450"/>
                </a:tc>
                <a:tc>
                  <a:txBody>
                    <a:bodyPr/>
                    <a:lstStyle/>
                    <a:p>
                      <a:pPr indent="0" lvl="0" marL="0" marR="0" rtl="0" algn="l">
                        <a:spcBef>
                          <a:spcPts val="0"/>
                        </a:spcBef>
                        <a:spcAft>
                          <a:spcPts val="0"/>
                        </a:spcAft>
                        <a:buNone/>
                      </a:pPr>
                      <a:r>
                        <a:rPr lang="en-US" sz="1800"/>
                        <a:t>$ 99</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rPr lang="en-US" sz="1800"/>
                        <a:t>GoBluTech Flow meter</a:t>
                      </a:r>
                      <a:endParaRPr/>
                    </a:p>
                  </a:txBody>
                  <a:tcPr marT="45725" marB="45725" marR="91450" marL="91450"/>
                </a:tc>
                <a:tc>
                  <a:txBody>
                    <a:bodyPr/>
                    <a:lstStyle/>
                    <a:p>
                      <a:pPr indent="0" lvl="0" marL="0" marR="0" rtl="0" algn="l">
                        <a:spcBef>
                          <a:spcPts val="0"/>
                        </a:spcBef>
                        <a:spcAft>
                          <a:spcPts val="0"/>
                        </a:spcAft>
                        <a:buNone/>
                      </a:pPr>
                      <a:r>
                        <a:rPr lang="en-US" sz="1800"/>
                        <a:t>$ 80</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US" sz="1800"/>
                        <a:t>Basic reading, cost effective</a:t>
                      </a:r>
                      <a:endParaRPr/>
                    </a:p>
                  </a:txBody>
                  <a:tcPr marT="45725" marB="45725" marR="91450" marL="91450"/>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2025-03-11T05:40:53Z</dcterms:created>
  <dc:creator>HP</dc:creator>
</cp:coreProperties>
</file>